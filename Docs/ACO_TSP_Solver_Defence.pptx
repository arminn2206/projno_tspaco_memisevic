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E9EDF5"/>
                </a:solidFill>
                <a:latin typeface="Calibri"/>
              </a:defRPr>
            </a:pPr>
            <a:r>
              <a:rPr sz="1300" b="0" i="0" u="none" strike="noStrike">
                <a:solidFill>
                  <a:srgbClr val="E9EDF5"/>
                </a:solidFill>
                <a:latin typeface="Calibri"/>
              </a:rPr>
              <a:t>Gap to optimum (%)</a:t>
            </a:r>
          </a:p>
        </c:rich>
      </c:tx>
      <c:layout/>
      <c:overlay val="0"/>
    </c:title>
    <c:autoTitleDeleted val="0"/>
    <c:plotArea>
      <c:layout/>
      <c:barChart>
        <c:barDir val="col"/>
        <c:grouping val="clustered"/>
        <c:varyColors val="0"/>
        <c:ser>
          <c:idx val="0"/>
          <c:order val="0"/>
          <c:tx>
            <c:strRef>
              <c:f>Sheet1!$B$1</c:f>
              <c:strCache>
                <c:ptCount val="1"/>
                <c:pt idx="0">
                  <c:v>ACO</c:v>
                </c:pt>
              </c:strCache>
            </c:strRef>
          </c:tx>
          <c:spPr>
            <a:solidFill>
              <a:srgbClr val="F39C34"/>
            </a:solidFill>
            <a:effectLst/>
          </c:spPr>
          <c:invertIfNegative val="0"/>
          <c:dLbls>
            <c:numFmt formatCode="0.00" sourceLinked="0"/>
            <c:txPr>
              <a:bodyPr/>
              <a:lstStyle/>
              <a:p>
                <a:pPr>
                  <a:defRPr b="0" i="0" strike="noStrike" sz="1100" u="none">
                    <a:solidFill>
                      <a:srgbClr val="E9EDF5"/>
                    </a:solidFill>
                    <a:latin typeface="Arial"/>
                  </a:defRPr>
                </a:pPr>
              </a:p>
            </c:txPr>
            <c:showLegendKey val="0"/>
            <c:showVal val="1"/>
            <c:showCatName val="0"/>
            <c:showSerName val="0"/>
            <c:showPercent val="0"/>
            <c:showBubbleSize val="0"/>
            <c:showLeaderLines val="0"/>
          </c:dLbls>
          <c:cat>
            <c:multiLvlStrRef>
              <c:f>Sheet1!$A$2:$A$3</c:f>
              <c:multiLvlStrCache>
                <c:ptCount val="2"/>
                <c:lvl>
                  <c:pt idx="0">
                    <c:v>Mean</c:v>
                  </c:pt>
                  <c:pt idx="1">
                    <c:v>Largest</c:v>
                  </c:pt>
                </c:lvl>
              </c:multiLvlStrCache>
            </c:multiLvlStrRef>
          </c:cat>
          <c:val>
            <c:numRef>
              <c:f>Sheet1!$B$2:$B$3</c:f>
              <c:numCache>
                <c:formatCode>General</c:formatCode>
                <c:ptCount val="2"/>
                <c:pt idx="0">
                  <c:v>0.68</c:v>
                </c:pt>
                <c:pt idx="1">
                  <c:v>4.12</c:v>
                </c:pt>
              </c:numCache>
            </c:numRef>
          </c:val>
        </c:ser>
        <c:ser>
          <c:idx val="1"/>
          <c:order val="1"/>
          <c:tx>
            <c:strRef>
              <c:f>Sheet1!$C$1</c:f>
              <c:strCache>
                <c:ptCount val="1"/>
                <c:pt idx="0">
                  <c:v>Repetitive NN</c:v>
                </c:pt>
              </c:strCache>
            </c:strRef>
          </c:tx>
          <c:spPr>
            <a:solidFill>
              <a:srgbClr val="7C879C"/>
            </a:solidFill>
            <a:effectLst/>
          </c:spPr>
          <c:invertIfNegative val="0"/>
          <c:dLbls>
            <c:numFmt formatCode="0.00" sourceLinked="0"/>
            <c:txPr>
              <a:bodyPr/>
              <a:lstStyle/>
              <a:p>
                <a:pPr>
                  <a:defRPr b="0" i="0" strike="noStrike" sz="1100" u="none">
                    <a:solidFill>
                      <a:srgbClr val="E9EDF5"/>
                    </a:solidFill>
                    <a:latin typeface="Arial"/>
                  </a:defRPr>
                </a:pPr>
              </a:p>
            </c:txPr>
            <c:showLegendKey val="0"/>
            <c:showVal val="1"/>
            <c:showCatName val="0"/>
            <c:showSerName val="0"/>
            <c:showPercent val="0"/>
            <c:showBubbleSize val="0"/>
            <c:showLeaderLines val="0"/>
          </c:dLbls>
          <c:cat>
            <c:multiLvlStrRef>
              <c:f>Sheet1!$A$2:$A$3</c:f>
              <c:multiLvlStrCache>
                <c:ptCount val="2"/>
                <c:lvl>
                  <c:pt idx="0">
                    <c:v>Mean</c:v>
                  </c:pt>
                  <c:pt idx="1">
                    <c:v>Largest</c:v>
                  </c:pt>
                </c:lvl>
              </c:multiLvlStrCache>
            </c:multiLvlStrRef>
          </c:cat>
          <c:val>
            <c:numRef>
              <c:f>Sheet1!$C$2:$C$3</c:f>
              <c:numCache>
                <c:formatCode>General</c:formatCode>
                <c:ptCount val="2"/>
                <c:pt idx="0">
                  <c:v>7.02</c:v>
                </c:pt>
                <c:pt idx="1">
                  <c:v>18.43</c:v>
                </c:pt>
              </c:numCache>
            </c:numRef>
          </c:val>
        </c:ser>
        <c:dLbls>
          <c:numFmt formatCode="0.00" sourceLinked="0"/>
          <c:txPr>
            <a:bodyPr/>
            <a:lstStyle/>
            <a:p>
              <a:pPr>
                <a:defRPr b="0" i="0" strike="noStrike" sz="1100" u="none">
                  <a:solidFill>
                    <a:srgbClr val="E9EDF5"/>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A3550"/>
            </a:solidFill>
            <a:prstDash val="solid"/>
            <a:round/>
          </a:ln>
        </c:spPr>
        <c:txPr>
          <a:bodyPr/>
          <a:lstStyle/>
          <a:p>
            <a:pPr>
              <a:defRPr sz="1100" b="0" i="0" u="none" strike="noStrike">
                <a:solidFill>
                  <a:srgbClr val="C3CCDC"/>
                </a:solidFill>
                <a:latin typeface="Arial"/>
              </a:defRPr>
            </a:pPr>
            <a:endParaRPr lang="en-US"/>
          </a:p>
        </c:txPr>
        <c:crossAx val="2094734552"/>
        <c:crosses val="autoZero"/>
        <c:auto val="1"/>
        <c:lblAlgn val="ctr"/>
        <c:noMultiLvlLbl val="1"/>
      </c:catAx>
      <c:valAx>
        <c:axId val="2094734552"/>
        <c:scaling>
          <c:orientation val="minMax"/>
          <c:max val="20"/>
          <c:min val="0"/>
        </c:scaling>
        <c:delete val="0"/>
        <c:axPos val="l"/>
        <c:majorGridlines>
          <c:spPr>
            <a:ln w="6350"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A96AD"/>
                </a:solidFill>
                <a:latin typeface="Arial"/>
              </a:defRPr>
            </a:pPr>
            <a:endParaRPr lang="en-US"/>
          </a:p>
        </c:txPr>
        <c:crossAx val="2094734554"/>
        <c:crosses val="autoZero"/>
        <c:crossBetween val="between"/>
        <c:majorUnit val="5"/>
      </c:valAx>
      <c:spPr>
        <a:noFill/>
        <a:ln>
          <a:noFill/>
        </a:ln>
        <a:effectLst/>
      </c:spPr>
    </c:plotArea>
    <c:legend>
      <c:legendPos val="b"/>
      <c:overlay val="0"/>
      <c:txPr>
        <a:bodyPr/>
        <a:lstStyle/>
        <a:p>
          <a:pPr>
            <a:defRPr sz="1000">
              <a:solidFill>
                <a:srgbClr val="C3CCD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9EDF5"/>
                </a:solidFill>
                <a:latin typeface="Calibri"/>
              </a:defRPr>
            </a:pPr>
            <a:r>
              <a:rPr sz="1200" b="0" i="0" u="none" strike="noStrike">
                <a:solidFill>
                  <a:srgbClr val="E9EDF5"/>
                </a:solidFill>
                <a:latin typeface="Calibri"/>
              </a:rPr>
              <a:t>Seed 4 · 19 cities · tour length [km]</a:t>
            </a:r>
          </a:p>
        </c:rich>
      </c:tx>
      <c:layout/>
      <c:overlay val="0"/>
    </c:title>
    <c:autoTitleDeleted val="0"/>
    <c:plotArea>
      <c:layout/>
      <c:lineChart>
        <c:varyColors val="0"/>
        <c:ser>
          <c:idx val="0"/>
          <c:order val="0"/>
          <c:tx>
            <c:strRef>
              <c:f>Sheet1!$B$1</c:f>
              <c:strCache>
                <c:ptCount val="1"/>
                <c:pt idx="0">
                  <c:v>Iteration best</c:v>
                </c:pt>
              </c:strCache>
            </c:strRef>
          </c:tx>
          <c:spPr>
            <a:solidFill>
              <a:srgbClr val="7C879C"/>
            </a:solidFill>
            <a:ln w="12700" cap="flat">
              <a:solidFill>
                <a:srgbClr val="7C879C"/>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C879C"/>
              </a:solidFill>
              <a:ln w="9525" cap="flat">
                <a:solidFill>
                  <a:srgbClr val="7C879C"/>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Sheet1!$B$2:$B$101</c:f>
              <c:numCache>
                <c:formatCode>General</c:formatCode>
                <c:ptCount val="100"/>
                <c:pt idx="0">
                  <c:v>1092.2</c:v>
                </c:pt>
                <c:pt idx="1">
                  <c:v>1069.11</c:v>
                </c:pt>
                <c:pt idx="2">
                  <c:v>1066.3</c:v>
                </c:pt>
                <c:pt idx="3">
                  <c:v>1022.47</c:v>
                </c:pt>
                <c:pt idx="4">
                  <c:v>1078.33</c:v>
                </c:pt>
                <c:pt idx="5">
                  <c:v>1016.94</c:v>
                </c:pt>
                <c:pt idx="6">
                  <c:v>1053.94</c:v>
                </c:pt>
                <c:pt idx="7">
                  <c:v>1008.27</c:v>
                </c:pt>
                <c:pt idx="8">
                  <c:v>1051.85</c:v>
                </c:pt>
                <c:pt idx="9">
                  <c:v>1022.39</c:v>
                </c:pt>
                <c:pt idx="10">
                  <c:v>1004.64</c:v>
                </c:pt>
                <c:pt idx="11">
                  <c:v>945.45</c:v>
                </c:pt>
                <c:pt idx="12">
                  <c:v>926.78</c:v>
                </c:pt>
                <c:pt idx="13">
                  <c:v>1018.16</c:v>
                </c:pt>
                <c:pt idx="14">
                  <c:v>1010.85</c:v>
                </c:pt>
                <c:pt idx="15">
                  <c:v>1031.97</c:v>
                </c:pt>
                <c:pt idx="16">
                  <c:v>1020.65</c:v>
                </c:pt>
                <c:pt idx="17">
                  <c:v>1046.27</c:v>
                </c:pt>
                <c:pt idx="18">
                  <c:v>1018.56</c:v>
                </c:pt>
                <c:pt idx="19">
                  <c:v>1011.69</c:v>
                </c:pt>
                <c:pt idx="20">
                  <c:v>1020.58</c:v>
                </c:pt>
                <c:pt idx="21">
                  <c:v>969.07</c:v>
                </c:pt>
                <c:pt idx="22">
                  <c:v>947.41</c:v>
                </c:pt>
                <c:pt idx="23">
                  <c:v>968.61</c:v>
                </c:pt>
                <c:pt idx="24">
                  <c:v>974.05</c:v>
                </c:pt>
                <c:pt idx="25">
                  <c:v>1022.21</c:v>
                </c:pt>
                <c:pt idx="26">
                  <c:v>947.83</c:v>
                </c:pt>
                <c:pt idx="27">
                  <c:v>960.64</c:v>
                </c:pt>
                <c:pt idx="28">
                  <c:v>969.07</c:v>
                </c:pt>
                <c:pt idx="29">
                  <c:v>960.64</c:v>
                </c:pt>
                <c:pt idx="30">
                  <c:v>971.98</c:v>
                </c:pt>
                <c:pt idx="31">
                  <c:v>968.76</c:v>
                </c:pt>
                <c:pt idx="32">
                  <c:v>966.59</c:v>
                </c:pt>
                <c:pt idx="33">
                  <c:v>1035.97</c:v>
                </c:pt>
                <c:pt idx="34">
                  <c:v>968.76</c:v>
                </c:pt>
                <c:pt idx="35">
                  <c:v>1059.68</c:v>
                </c:pt>
                <c:pt idx="36">
                  <c:v>1005.16</c:v>
                </c:pt>
                <c:pt idx="37">
                  <c:v>920.47</c:v>
                </c:pt>
                <c:pt idx="38">
                  <c:v>972.46</c:v>
                </c:pt>
                <c:pt idx="39">
                  <c:v>979.79</c:v>
                </c:pt>
                <c:pt idx="40">
                  <c:v>1004.6</c:v>
                </c:pt>
                <c:pt idx="41">
                  <c:v>1008.65</c:v>
                </c:pt>
                <c:pt idx="42">
                  <c:v>1032.71</c:v>
                </c:pt>
                <c:pt idx="43">
                  <c:v>1010.33</c:v>
                </c:pt>
                <c:pt idx="44">
                  <c:v>968.76</c:v>
                </c:pt>
                <c:pt idx="45">
                  <c:v>1045.15</c:v>
                </c:pt>
                <c:pt idx="46">
                  <c:v>1020.65</c:v>
                </c:pt>
                <c:pt idx="47">
                  <c:v>1003.03</c:v>
                </c:pt>
                <c:pt idx="48">
                  <c:v>945.45</c:v>
                </c:pt>
                <c:pt idx="49">
                  <c:v>1035.56</c:v>
                </c:pt>
                <c:pt idx="50">
                  <c:v>1012.33</c:v>
                </c:pt>
                <c:pt idx="51">
                  <c:v>926.95</c:v>
                </c:pt>
                <c:pt idx="52">
                  <c:v>1028.88</c:v>
                </c:pt>
                <c:pt idx="53">
                  <c:v>969.07</c:v>
                </c:pt>
                <c:pt idx="54">
                  <c:v>969.07</c:v>
                </c:pt>
                <c:pt idx="55">
                  <c:v>974.94</c:v>
                </c:pt>
                <c:pt idx="56">
                  <c:v>969.07</c:v>
                </c:pt>
                <c:pt idx="57">
                  <c:v>974.94</c:v>
                </c:pt>
                <c:pt idx="58">
                  <c:v>1020.65</c:v>
                </c:pt>
                <c:pt idx="59">
                  <c:v>970.64</c:v>
                </c:pt>
                <c:pt idx="60">
                  <c:v>969.07</c:v>
                </c:pt>
                <c:pt idx="61">
                  <c:v>960.76</c:v>
                </c:pt>
                <c:pt idx="62">
                  <c:v>1035.97</c:v>
                </c:pt>
                <c:pt idx="63">
                  <c:v>1011.69</c:v>
                </c:pt>
                <c:pt idx="64">
                  <c:v>1059.77</c:v>
                </c:pt>
                <c:pt idx="65">
                  <c:v>989.6</c:v>
                </c:pt>
                <c:pt idx="66">
                  <c:v>1041.25</c:v>
                </c:pt>
                <c:pt idx="67">
                  <c:v>1048.46</c:v>
                </c:pt>
                <c:pt idx="68">
                  <c:v>992.43</c:v>
                </c:pt>
                <c:pt idx="69">
                  <c:v>1024.65</c:v>
                </c:pt>
                <c:pt idx="70">
                  <c:v>974.94</c:v>
                </c:pt>
                <c:pt idx="71">
                  <c:v>1020.65</c:v>
                </c:pt>
                <c:pt idx="72">
                  <c:v>978.53</c:v>
                </c:pt>
                <c:pt idx="73">
                  <c:v>1013.62</c:v>
                </c:pt>
                <c:pt idx="74">
                  <c:v>1046.27</c:v>
                </c:pt>
                <c:pt idx="75">
                  <c:v>969.07</c:v>
                </c:pt>
                <c:pt idx="76">
                  <c:v>1003.16</c:v>
                </c:pt>
                <c:pt idx="77">
                  <c:v>976.51</c:v>
                </c:pt>
                <c:pt idx="78">
                  <c:v>974.94</c:v>
                </c:pt>
                <c:pt idx="79">
                  <c:v>972.46</c:v>
                </c:pt>
                <c:pt idx="80">
                  <c:v>974.94</c:v>
                </c:pt>
                <c:pt idx="81">
                  <c:v>1035.97</c:v>
                </c:pt>
                <c:pt idx="82">
                  <c:v>983.06</c:v>
                </c:pt>
                <c:pt idx="83">
                  <c:v>1008.65</c:v>
                </c:pt>
                <c:pt idx="84">
                  <c:v>1052.2</c:v>
                </c:pt>
                <c:pt idx="85">
                  <c:v>998.37</c:v>
                </c:pt>
                <c:pt idx="86">
                  <c:v>974.94</c:v>
                </c:pt>
                <c:pt idx="87">
                  <c:v>966.59</c:v>
                </c:pt>
                <c:pt idx="88">
                  <c:v>966.63</c:v>
                </c:pt>
                <c:pt idx="89">
                  <c:v>1010.33</c:v>
                </c:pt>
                <c:pt idx="90">
                  <c:v>974.94</c:v>
                </c:pt>
                <c:pt idx="91">
                  <c:v>993.04</c:v>
                </c:pt>
                <c:pt idx="92">
                  <c:v>1000.51</c:v>
                </c:pt>
                <c:pt idx="93">
                  <c:v>988.28</c:v>
                </c:pt>
                <c:pt idx="94">
                  <c:v>974.94</c:v>
                </c:pt>
                <c:pt idx="95">
                  <c:v>994.7</c:v>
                </c:pt>
                <c:pt idx="96">
                  <c:v>945.45</c:v>
                </c:pt>
                <c:pt idx="97">
                  <c:v>1010.33</c:v>
                </c:pt>
                <c:pt idx="98">
                  <c:v>1009.9</c:v>
                </c:pt>
                <c:pt idx="99">
                  <c:v>1013.69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NN (1028.8)</c:v>
                </c:pt>
              </c:strCache>
            </c:strRef>
          </c:tx>
          <c:spPr>
            <a:solidFill>
              <a:srgbClr val="7FA7E8"/>
            </a:solidFill>
            <a:ln w="15875" cap="flat">
              <a:solidFill>
                <a:srgbClr val="7FA7E8"/>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A7E8"/>
              </a:solidFill>
              <a:ln w="9525" cap="flat">
                <a:solidFill>
                  <a:srgbClr val="7FA7E8"/>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Sheet1!$C$2:$C$101</c:f>
              <c:numCache>
                <c:formatCode>General</c:formatCode>
                <c:ptCount val="100"/>
                <c:pt idx="0">
                  <c:v>1028.8</c:v>
                </c:pt>
                <c:pt idx="1">
                  <c:v>1028.8</c:v>
                </c:pt>
                <c:pt idx="2">
                  <c:v>1028.8</c:v>
                </c:pt>
                <c:pt idx="3">
                  <c:v>1028.8</c:v>
                </c:pt>
                <c:pt idx="4">
                  <c:v>1028.8</c:v>
                </c:pt>
                <c:pt idx="5">
                  <c:v>1028.8</c:v>
                </c:pt>
                <c:pt idx="6">
                  <c:v>1028.8</c:v>
                </c:pt>
                <c:pt idx="7">
                  <c:v>1028.8</c:v>
                </c:pt>
                <c:pt idx="8">
                  <c:v>1028.8</c:v>
                </c:pt>
                <c:pt idx="9">
                  <c:v>1028.8</c:v>
                </c:pt>
                <c:pt idx="10">
                  <c:v>1028.8</c:v>
                </c:pt>
                <c:pt idx="11">
                  <c:v>1028.8</c:v>
                </c:pt>
                <c:pt idx="12">
                  <c:v>1028.8</c:v>
                </c:pt>
                <c:pt idx="13">
                  <c:v>1028.8</c:v>
                </c:pt>
                <c:pt idx="14">
                  <c:v>1028.8</c:v>
                </c:pt>
                <c:pt idx="15">
                  <c:v>1028.8</c:v>
                </c:pt>
                <c:pt idx="16">
                  <c:v>1028.8</c:v>
                </c:pt>
                <c:pt idx="17">
                  <c:v>1028.8</c:v>
                </c:pt>
                <c:pt idx="18">
                  <c:v>1028.8</c:v>
                </c:pt>
                <c:pt idx="19">
                  <c:v>1028.8</c:v>
                </c:pt>
                <c:pt idx="20">
                  <c:v>1028.8</c:v>
                </c:pt>
                <c:pt idx="21">
                  <c:v>1028.8</c:v>
                </c:pt>
                <c:pt idx="22">
                  <c:v>1028.8</c:v>
                </c:pt>
                <c:pt idx="23">
                  <c:v>1028.8</c:v>
                </c:pt>
                <c:pt idx="24">
                  <c:v>1028.8</c:v>
                </c:pt>
                <c:pt idx="25">
                  <c:v>1028.8</c:v>
                </c:pt>
                <c:pt idx="26">
                  <c:v>1028.8</c:v>
                </c:pt>
                <c:pt idx="27">
                  <c:v>1028.8</c:v>
                </c:pt>
                <c:pt idx="28">
                  <c:v>1028.8</c:v>
                </c:pt>
                <c:pt idx="29">
                  <c:v>1028.8</c:v>
                </c:pt>
                <c:pt idx="30">
                  <c:v>1028.8</c:v>
                </c:pt>
                <c:pt idx="31">
                  <c:v>1028.8</c:v>
                </c:pt>
                <c:pt idx="32">
                  <c:v>1028.8</c:v>
                </c:pt>
                <c:pt idx="33">
                  <c:v>1028.8</c:v>
                </c:pt>
                <c:pt idx="34">
                  <c:v>1028.8</c:v>
                </c:pt>
                <c:pt idx="35">
                  <c:v>1028.8</c:v>
                </c:pt>
                <c:pt idx="36">
                  <c:v>1028.8</c:v>
                </c:pt>
                <c:pt idx="37">
                  <c:v>1028.8</c:v>
                </c:pt>
                <c:pt idx="38">
                  <c:v>1028.8</c:v>
                </c:pt>
                <c:pt idx="39">
                  <c:v>1028.8</c:v>
                </c:pt>
                <c:pt idx="40">
                  <c:v>1028.8</c:v>
                </c:pt>
                <c:pt idx="41">
                  <c:v>1028.8</c:v>
                </c:pt>
                <c:pt idx="42">
                  <c:v>1028.8</c:v>
                </c:pt>
                <c:pt idx="43">
                  <c:v>1028.8</c:v>
                </c:pt>
                <c:pt idx="44">
                  <c:v>1028.8</c:v>
                </c:pt>
                <c:pt idx="45">
                  <c:v>1028.8</c:v>
                </c:pt>
                <c:pt idx="46">
                  <c:v>1028.8</c:v>
                </c:pt>
                <c:pt idx="47">
                  <c:v>1028.8</c:v>
                </c:pt>
                <c:pt idx="48">
                  <c:v>1028.8</c:v>
                </c:pt>
                <c:pt idx="49">
                  <c:v>1028.8</c:v>
                </c:pt>
                <c:pt idx="50">
                  <c:v>1028.8</c:v>
                </c:pt>
                <c:pt idx="51">
                  <c:v>1028.8</c:v>
                </c:pt>
                <c:pt idx="52">
                  <c:v>1028.8</c:v>
                </c:pt>
                <c:pt idx="53">
                  <c:v>1028.8</c:v>
                </c:pt>
                <c:pt idx="54">
                  <c:v>1028.8</c:v>
                </c:pt>
                <c:pt idx="55">
                  <c:v>1028.8</c:v>
                </c:pt>
                <c:pt idx="56">
                  <c:v>1028.8</c:v>
                </c:pt>
                <c:pt idx="57">
                  <c:v>1028.8</c:v>
                </c:pt>
                <c:pt idx="58">
                  <c:v>1028.8</c:v>
                </c:pt>
                <c:pt idx="59">
                  <c:v>1028.8</c:v>
                </c:pt>
                <c:pt idx="60">
                  <c:v>1028.8</c:v>
                </c:pt>
                <c:pt idx="61">
                  <c:v>1028.8</c:v>
                </c:pt>
                <c:pt idx="62">
                  <c:v>1028.8</c:v>
                </c:pt>
                <c:pt idx="63">
                  <c:v>1028.8</c:v>
                </c:pt>
                <c:pt idx="64">
                  <c:v>1028.8</c:v>
                </c:pt>
                <c:pt idx="65">
                  <c:v>1028.8</c:v>
                </c:pt>
                <c:pt idx="66">
                  <c:v>1028.8</c:v>
                </c:pt>
                <c:pt idx="67">
                  <c:v>1028.8</c:v>
                </c:pt>
                <c:pt idx="68">
                  <c:v>1028.8</c:v>
                </c:pt>
                <c:pt idx="69">
                  <c:v>1028.8</c:v>
                </c:pt>
                <c:pt idx="70">
                  <c:v>1028.8</c:v>
                </c:pt>
                <c:pt idx="71">
                  <c:v>1028.8</c:v>
                </c:pt>
                <c:pt idx="72">
                  <c:v>1028.8</c:v>
                </c:pt>
                <c:pt idx="73">
                  <c:v>1028.8</c:v>
                </c:pt>
                <c:pt idx="74">
                  <c:v>1028.8</c:v>
                </c:pt>
                <c:pt idx="75">
                  <c:v>1028.8</c:v>
                </c:pt>
                <c:pt idx="76">
                  <c:v>1028.8</c:v>
                </c:pt>
                <c:pt idx="77">
                  <c:v>1028.8</c:v>
                </c:pt>
                <c:pt idx="78">
                  <c:v>1028.8</c:v>
                </c:pt>
                <c:pt idx="79">
                  <c:v>1028.8</c:v>
                </c:pt>
                <c:pt idx="80">
                  <c:v>1028.8</c:v>
                </c:pt>
                <c:pt idx="81">
                  <c:v>1028.8</c:v>
                </c:pt>
                <c:pt idx="82">
                  <c:v>1028.8</c:v>
                </c:pt>
                <c:pt idx="83">
                  <c:v>1028.8</c:v>
                </c:pt>
                <c:pt idx="84">
                  <c:v>1028.8</c:v>
                </c:pt>
                <c:pt idx="85">
                  <c:v>1028.8</c:v>
                </c:pt>
                <c:pt idx="86">
                  <c:v>1028.8</c:v>
                </c:pt>
                <c:pt idx="87">
                  <c:v>1028.8</c:v>
                </c:pt>
                <c:pt idx="88">
                  <c:v>1028.8</c:v>
                </c:pt>
                <c:pt idx="89">
                  <c:v>1028.8</c:v>
                </c:pt>
                <c:pt idx="90">
                  <c:v>1028.8</c:v>
                </c:pt>
                <c:pt idx="91">
                  <c:v>1028.8</c:v>
                </c:pt>
                <c:pt idx="92">
                  <c:v>1028.8</c:v>
                </c:pt>
                <c:pt idx="93">
                  <c:v>1028.8</c:v>
                </c:pt>
                <c:pt idx="94">
                  <c:v>1028.8</c:v>
                </c:pt>
                <c:pt idx="95">
                  <c:v>1028.8</c:v>
                </c:pt>
                <c:pt idx="96">
                  <c:v>1028.8</c:v>
                </c:pt>
                <c:pt idx="97">
                  <c:v>1028.8</c:v>
                </c:pt>
                <c:pt idx="98">
                  <c:v>1028.8</c:v>
                </c:pt>
                <c:pt idx="99">
                  <c:v>1028.8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2"/>
          <c:order val="2"/>
          <c:tx>
            <c:strRef>
              <c:f>Sheet1!$D$1</c:f>
              <c:strCache>
                <c:ptCount val="1"/>
                <c:pt idx="0">
                  <c:v>Optimum, Held–Karp (920.0)</c:v>
                </c:pt>
              </c:strCache>
            </c:strRef>
          </c:tx>
          <c:spPr>
            <a:solidFill>
              <a:srgbClr val="E9EDF5"/>
            </a:solidFill>
            <a:ln w="15875" cap="flat">
              <a:solidFill>
                <a:srgbClr val="E9EDF5"/>
              </a:solidFill>
              <a:prstDash val="sysDot"/>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9EDF5"/>
              </a:solidFill>
              <a:ln w="9525" cap="flat">
                <a:solidFill>
                  <a:srgbClr val="E9EDF5"/>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Sheet1!$D$2:$D$101</c:f>
              <c:numCache>
                <c:formatCode>General</c:formatCode>
                <c:ptCount val="100"/>
                <c:pt idx="0">
                  <c:v>920</c:v>
                </c:pt>
                <c:pt idx="1">
                  <c:v>920</c:v>
                </c:pt>
                <c:pt idx="2">
                  <c:v>920</c:v>
                </c:pt>
                <c:pt idx="3">
                  <c:v>920</c:v>
                </c:pt>
                <c:pt idx="4">
                  <c:v>920</c:v>
                </c:pt>
                <c:pt idx="5">
                  <c:v>920</c:v>
                </c:pt>
                <c:pt idx="6">
                  <c:v>920</c:v>
                </c:pt>
                <c:pt idx="7">
                  <c:v>920</c:v>
                </c:pt>
                <c:pt idx="8">
                  <c:v>920</c:v>
                </c:pt>
                <c:pt idx="9">
                  <c:v>920</c:v>
                </c:pt>
                <c:pt idx="10">
                  <c:v>920</c:v>
                </c:pt>
                <c:pt idx="11">
                  <c:v>920</c:v>
                </c:pt>
                <c:pt idx="12">
                  <c:v>920</c:v>
                </c:pt>
                <c:pt idx="13">
                  <c:v>920</c:v>
                </c:pt>
                <c:pt idx="14">
                  <c:v>920</c:v>
                </c:pt>
                <c:pt idx="15">
                  <c:v>920</c:v>
                </c:pt>
                <c:pt idx="16">
                  <c:v>920</c:v>
                </c:pt>
                <c:pt idx="17">
                  <c:v>920</c:v>
                </c:pt>
                <c:pt idx="18">
                  <c:v>920</c:v>
                </c:pt>
                <c:pt idx="19">
                  <c:v>920</c:v>
                </c:pt>
                <c:pt idx="20">
                  <c:v>920</c:v>
                </c:pt>
                <c:pt idx="21">
                  <c:v>920</c:v>
                </c:pt>
                <c:pt idx="22">
                  <c:v>920</c:v>
                </c:pt>
                <c:pt idx="23">
                  <c:v>920</c:v>
                </c:pt>
                <c:pt idx="24">
                  <c:v>920</c:v>
                </c:pt>
                <c:pt idx="25">
                  <c:v>920</c:v>
                </c:pt>
                <c:pt idx="26">
                  <c:v>920</c:v>
                </c:pt>
                <c:pt idx="27">
                  <c:v>920</c:v>
                </c:pt>
                <c:pt idx="28">
                  <c:v>920</c:v>
                </c:pt>
                <c:pt idx="29">
                  <c:v>920</c:v>
                </c:pt>
                <c:pt idx="30">
                  <c:v>920</c:v>
                </c:pt>
                <c:pt idx="31">
                  <c:v>920</c:v>
                </c:pt>
                <c:pt idx="32">
                  <c:v>920</c:v>
                </c:pt>
                <c:pt idx="33">
                  <c:v>920</c:v>
                </c:pt>
                <c:pt idx="34">
                  <c:v>920</c:v>
                </c:pt>
                <c:pt idx="35">
                  <c:v>920</c:v>
                </c:pt>
                <c:pt idx="36">
                  <c:v>920</c:v>
                </c:pt>
                <c:pt idx="37">
                  <c:v>920</c:v>
                </c:pt>
                <c:pt idx="38">
                  <c:v>920</c:v>
                </c:pt>
                <c:pt idx="39">
                  <c:v>920</c:v>
                </c:pt>
                <c:pt idx="40">
                  <c:v>920</c:v>
                </c:pt>
                <c:pt idx="41">
                  <c:v>920</c:v>
                </c:pt>
                <c:pt idx="42">
                  <c:v>920</c:v>
                </c:pt>
                <c:pt idx="43">
                  <c:v>920</c:v>
                </c:pt>
                <c:pt idx="44">
                  <c:v>920</c:v>
                </c:pt>
                <c:pt idx="45">
                  <c:v>920</c:v>
                </c:pt>
                <c:pt idx="46">
                  <c:v>920</c:v>
                </c:pt>
                <c:pt idx="47">
                  <c:v>920</c:v>
                </c:pt>
                <c:pt idx="48">
                  <c:v>920</c:v>
                </c:pt>
                <c:pt idx="49">
                  <c:v>920</c:v>
                </c:pt>
                <c:pt idx="50">
                  <c:v>920</c:v>
                </c:pt>
                <c:pt idx="51">
                  <c:v>920</c:v>
                </c:pt>
                <c:pt idx="52">
                  <c:v>920</c:v>
                </c:pt>
                <c:pt idx="53">
                  <c:v>920</c:v>
                </c:pt>
                <c:pt idx="54">
                  <c:v>920</c:v>
                </c:pt>
                <c:pt idx="55">
                  <c:v>920</c:v>
                </c:pt>
                <c:pt idx="56">
                  <c:v>920</c:v>
                </c:pt>
                <c:pt idx="57">
                  <c:v>920</c:v>
                </c:pt>
                <c:pt idx="58">
                  <c:v>920</c:v>
                </c:pt>
                <c:pt idx="59">
                  <c:v>920</c:v>
                </c:pt>
                <c:pt idx="60">
                  <c:v>920</c:v>
                </c:pt>
                <c:pt idx="61">
                  <c:v>920</c:v>
                </c:pt>
                <c:pt idx="62">
                  <c:v>920</c:v>
                </c:pt>
                <c:pt idx="63">
                  <c:v>920</c:v>
                </c:pt>
                <c:pt idx="64">
                  <c:v>920</c:v>
                </c:pt>
                <c:pt idx="65">
                  <c:v>920</c:v>
                </c:pt>
                <c:pt idx="66">
                  <c:v>920</c:v>
                </c:pt>
                <c:pt idx="67">
                  <c:v>920</c:v>
                </c:pt>
                <c:pt idx="68">
                  <c:v>920</c:v>
                </c:pt>
                <c:pt idx="69">
                  <c:v>920</c:v>
                </c:pt>
                <c:pt idx="70">
                  <c:v>920</c:v>
                </c:pt>
                <c:pt idx="71">
                  <c:v>920</c:v>
                </c:pt>
                <c:pt idx="72">
                  <c:v>920</c:v>
                </c:pt>
                <c:pt idx="73">
                  <c:v>920</c:v>
                </c:pt>
                <c:pt idx="74">
                  <c:v>920</c:v>
                </c:pt>
                <c:pt idx="75">
                  <c:v>920</c:v>
                </c:pt>
                <c:pt idx="76">
                  <c:v>920</c:v>
                </c:pt>
                <c:pt idx="77">
                  <c:v>920</c:v>
                </c:pt>
                <c:pt idx="78">
                  <c:v>920</c:v>
                </c:pt>
                <c:pt idx="79">
                  <c:v>920</c:v>
                </c:pt>
                <c:pt idx="80">
                  <c:v>920</c:v>
                </c:pt>
                <c:pt idx="81">
                  <c:v>920</c:v>
                </c:pt>
                <c:pt idx="82">
                  <c:v>920</c:v>
                </c:pt>
                <c:pt idx="83">
                  <c:v>920</c:v>
                </c:pt>
                <c:pt idx="84">
                  <c:v>920</c:v>
                </c:pt>
                <c:pt idx="85">
                  <c:v>920</c:v>
                </c:pt>
                <c:pt idx="86">
                  <c:v>920</c:v>
                </c:pt>
                <c:pt idx="87">
                  <c:v>920</c:v>
                </c:pt>
                <c:pt idx="88">
                  <c:v>920</c:v>
                </c:pt>
                <c:pt idx="89">
                  <c:v>920</c:v>
                </c:pt>
                <c:pt idx="90">
                  <c:v>920</c:v>
                </c:pt>
                <c:pt idx="91">
                  <c:v>920</c:v>
                </c:pt>
                <c:pt idx="92">
                  <c:v>920</c:v>
                </c:pt>
                <c:pt idx="93">
                  <c:v>920</c:v>
                </c:pt>
                <c:pt idx="94">
                  <c:v>920</c:v>
                </c:pt>
                <c:pt idx="95">
                  <c:v>920</c:v>
                </c:pt>
                <c:pt idx="96">
                  <c:v>920</c:v>
                </c:pt>
                <c:pt idx="97">
                  <c:v>920</c:v>
                </c:pt>
                <c:pt idx="98">
                  <c:v>920</c:v>
                </c:pt>
                <c:pt idx="99">
                  <c:v>920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3"/>
          <c:order val="3"/>
          <c:tx>
            <c:strRef>
              <c:f>Sheet1!$E$1</c:f>
              <c:strCache>
                <c:ptCount val="1"/>
                <c:pt idx="0">
                  <c:v>Best so far</c:v>
                </c:pt>
              </c:strCache>
            </c:strRef>
          </c:tx>
          <c:spPr>
            <a:solidFill>
              <a:srgbClr val="F39C34"/>
            </a:solidFill>
            <a:ln w="38100" cap="flat">
              <a:solidFill>
                <a:srgbClr val="F39C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39C34"/>
              </a:solidFill>
              <a:ln w="9525" cap="flat">
                <a:solidFill>
                  <a:srgbClr val="F39C34"/>
                </a:solidFill>
                <a:prstDash val="solid"/>
                <a:round/>
              </a:ln>
              <a:effectLst/>
            </c:spPr>
          </c:marker>
          <c:cat>
            <c:multiLvlStrRef>
              <c:f>Sheet1!$A$2:$A$101</c:f>
              <c:multiLvlStrCache>
                <c:ptCount val="100"/>
                <c:lvl>
                  <c:pt idx="0">
                    <c:v/>
                  </c:pt>
                  <c:pt idx="1">
                    <c:v/>
                  </c:pt>
                  <c:pt idx="2">
                    <c:v/>
                  </c:pt>
                  <c:pt idx="3">
                    <c:v/>
                  </c:pt>
                  <c:pt idx="4">
                    <c:v/>
                  </c:pt>
                  <c:pt idx="5">
                    <c:v/>
                  </c:pt>
                  <c:pt idx="6">
                    <c:v/>
                  </c:pt>
                  <c:pt idx="7">
                    <c:v/>
                  </c:pt>
                  <c:pt idx="8">
                    <c:v/>
                  </c:pt>
                  <c:pt idx="9">
                    <c:v>10</c:v>
                  </c:pt>
                  <c:pt idx="10">
                    <c:v/>
                  </c:pt>
                  <c:pt idx="11">
                    <c:v/>
                  </c:pt>
                  <c:pt idx="12">
                    <c:v/>
                  </c:pt>
                  <c:pt idx="13">
                    <c:v/>
                  </c:pt>
                  <c:pt idx="14">
                    <c:v/>
                  </c:pt>
                  <c:pt idx="15">
                    <c:v/>
                  </c:pt>
                  <c:pt idx="16">
                    <c:v/>
                  </c:pt>
                  <c:pt idx="17">
                    <c:v/>
                  </c:pt>
                  <c:pt idx="18">
                    <c:v/>
                  </c:pt>
                  <c:pt idx="19">
                    <c:v>20</c:v>
                  </c:pt>
                  <c:pt idx="20">
                    <c:v/>
                  </c:pt>
                  <c:pt idx="21">
                    <c:v/>
                  </c:pt>
                  <c:pt idx="22">
                    <c:v/>
                  </c:pt>
                  <c:pt idx="23">
                    <c:v/>
                  </c:pt>
                  <c:pt idx="24">
                    <c:v/>
                  </c:pt>
                  <c:pt idx="25">
                    <c:v/>
                  </c:pt>
                  <c:pt idx="26">
                    <c:v/>
                  </c:pt>
                  <c:pt idx="27">
                    <c:v/>
                  </c:pt>
                  <c:pt idx="28">
                    <c:v/>
                  </c:pt>
                  <c:pt idx="29">
                    <c:v>30</c:v>
                  </c:pt>
                  <c:pt idx="30">
                    <c:v/>
                  </c:pt>
                  <c:pt idx="31">
                    <c:v/>
                  </c:pt>
                  <c:pt idx="32">
                    <c:v/>
                  </c:pt>
                  <c:pt idx="33">
                    <c:v/>
                  </c:pt>
                  <c:pt idx="34">
                    <c:v/>
                  </c:pt>
                  <c:pt idx="35">
                    <c:v/>
                  </c:pt>
                  <c:pt idx="36">
                    <c:v/>
                  </c:pt>
                  <c:pt idx="37">
                    <c:v/>
                  </c:pt>
                  <c:pt idx="38">
                    <c:v/>
                  </c:pt>
                  <c:pt idx="39">
                    <c:v>40</c:v>
                  </c:pt>
                  <c:pt idx="40">
                    <c:v/>
                  </c:pt>
                  <c:pt idx="41">
                    <c:v/>
                  </c:pt>
                  <c:pt idx="42">
                    <c:v/>
                  </c:pt>
                  <c:pt idx="43">
                    <c:v/>
                  </c:pt>
                  <c:pt idx="44">
                    <c:v/>
                  </c:pt>
                  <c:pt idx="45">
                    <c:v/>
                  </c:pt>
                  <c:pt idx="46">
                    <c:v/>
                  </c:pt>
                  <c:pt idx="47">
                    <c:v/>
                  </c:pt>
                  <c:pt idx="48">
                    <c:v/>
                  </c:pt>
                  <c:pt idx="49">
                    <c:v>50</c:v>
                  </c:pt>
                  <c:pt idx="50">
                    <c:v/>
                  </c:pt>
                  <c:pt idx="51">
                    <c:v/>
                  </c:pt>
                  <c:pt idx="52">
                    <c:v/>
                  </c:pt>
                  <c:pt idx="53">
                    <c:v/>
                  </c:pt>
                  <c:pt idx="54">
                    <c:v/>
                  </c:pt>
                  <c:pt idx="55">
                    <c:v/>
                  </c:pt>
                  <c:pt idx="56">
                    <c:v/>
                  </c:pt>
                  <c:pt idx="57">
                    <c:v/>
                  </c:pt>
                  <c:pt idx="58">
                    <c:v/>
                  </c:pt>
                  <c:pt idx="59">
                    <c:v>60</c:v>
                  </c:pt>
                  <c:pt idx="60">
                    <c:v/>
                  </c:pt>
                  <c:pt idx="61">
                    <c:v/>
                  </c:pt>
                  <c:pt idx="62">
                    <c:v/>
                  </c:pt>
                  <c:pt idx="63">
                    <c:v/>
                  </c:pt>
                  <c:pt idx="64">
                    <c:v/>
                  </c:pt>
                  <c:pt idx="65">
                    <c:v/>
                  </c:pt>
                  <c:pt idx="66">
                    <c:v/>
                  </c:pt>
                  <c:pt idx="67">
                    <c:v/>
                  </c:pt>
                  <c:pt idx="68">
                    <c:v/>
                  </c:pt>
                  <c:pt idx="69">
                    <c:v>70</c:v>
                  </c:pt>
                  <c:pt idx="70">
                    <c:v/>
                  </c:pt>
                  <c:pt idx="71">
                    <c:v/>
                  </c:pt>
                  <c:pt idx="72">
                    <c:v/>
                  </c:pt>
                  <c:pt idx="73">
                    <c:v/>
                  </c:pt>
                  <c:pt idx="74">
                    <c:v/>
                  </c:pt>
                  <c:pt idx="75">
                    <c:v/>
                  </c:pt>
                  <c:pt idx="76">
                    <c:v/>
                  </c:pt>
                  <c:pt idx="77">
                    <c:v/>
                  </c:pt>
                  <c:pt idx="78">
                    <c:v/>
                  </c:pt>
                  <c:pt idx="79">
                    <c:v>80</c:v>
                  </c:pt>
                  <c:pt idx="80">
                    <c:v/>
                  </c:pt>
                  <c:pt idx="81">
                    <c:v/>
                  </c:pt>
                  <c:pt idx="82">
                    <c:v/>
                  </c:pt>
                  <c:pt idx="83">
                    <c:v/>
                  </c:pt>
                  <c:pt idx="84">
                    <c:v/>
                  </c:pt>
                  <c:pt idx="85">
                    <c:v/>
                  </c:pt>
                  <c:pt idx="86">
                    <c:v/>
                  </c:pt>
                  <c:pt idx="87">
                    <c:v/>
                  </c:pt>
                  <c:pt idx="88">
                    <c:v/>
                  </c:pt>
                  <c:pt idx="89">
                    <c:v>90</c:v>
                  </c:pt>
                  <c:pt idx="90">
                    <c:v/>
                  </c:pt>
                  <c:pt idx="91">
                    <c:v/>
                  </c:pt>
                  <c:pt idx="92">
                    <c:v/>
                  </c:pt>
                  <c:pt idx="93">
                    <c:v/>
                  </c:pt>
                  <c:pt idx="94">
                    <c:v/>
                  </c:pt>
                  <c:pt idx="95">
                    <c:v/>
                  </c:pt>
                  <c:pt idx="96">
                    <c:v/>
                  </c:pt>
                  <c:pt idx="97">
                    <c:v/>
                  </c:pt>
                  <c:pt idx="98">
                    <c:v/>
                  </c:pt>
                  <c:pt idx="99">
                    <c:v>100</c:v>
                  </c:pt>
                </c:lvl>
              </c:multiLvlStrCache>
            </c:multiLvlStrRef>
          </c:cat>
          <c:val>
            <c:numRef>
              <c:f>Sheet1!$E$2:$E$101</c:f>
              <c:numCache>
                <c:formatCode>General</c:formatCode>
                <c:ptCount val="100"/>
                <c:pt idx="0">
                  <c:v>1092.2</c:v>
                </c:pt>
                <c:pt idx="1">
                  <c:v>1069.11</c:v>
                </c:pt>
                <c:pt idx="2">
                  <c:v>1066.3</c:v>
                </c:pt>
                <c:pt idx="3">
                  <c:v>1022.47</c:v>
                </c:pt>
                <c:pt idx="4">
                  <c:v>1022.47</c:v>
                </c:pt>
                <c:pt idx="5">
                  <c:v>1016.94</c:v>
                </c:pt>
                <c:pt idx="6">
                  <c:v>1016.94</c:v>
                </c:pt>
                <c:pt idx="7">
                  <c:v>1008.27</c:v>
                </c:pt>
                <c:pt idx="8">
                  <c:v>1008.27</c:v>
                </c:pt>
                <c:pt idx="9">
                  <c:v>1008.27</c:v>
                </c:pt>
                <c:pt idx="10">
                  <c:v>1004.64</c:v>
                </c:pt>
                <c:pt idx="11">
                  <c:v>945.45</c:v>
                </c:pt>
                <c:pt idx="12">
                  <c:v>926.78</c:v>
                </c:pt>
                <c:pt idx="13">
                  <c:v>926.78</c:v>
                </c:pt>
                <c:pt idx="14">
                  <c:v>926.78</c:v>
                </c:pt>
                <c:pt idx="15">
                  <c:v>926.78</c:v>
                </c:pt>
                <c:pt idx="16">
                  <c:v>926.78</c:v>
                </c:pt>
                <c:pt idx="17">
                  <c:v>926.78</c:v>
                </c:pt>
                <c:pt idx="18">
                  <c:v>926.78</c:v>
                </c:pt>
                <c:pt idx="19">
                  <c:v>926.78</c:v>
                </c:pt>
                <c:pt idx="20">
                  <c:v>926.78</c:v>
                </c:pt>
                <c:pt idx="21">
                  <c:v>926.78</c:v>
                </c:pt>
                <c:pt idx="22">
                  <c:v>926.78</c:v>
                </c:pt>
                <c:pt idx="23">
                  <c:v>926.78</c:v>
                </c:pt>
                <c:pt idx="24">
                  <c:v>926.78</c:v>
                </c:pt>
                <c:pt idx="25">
                  <c:v>926.78</c:v>
                </c:pt>
                <c:pt idx="26">
                  <c:v>926.78</c:v>
                </c:pt>
                <c:pt idx="27">
                  <c:v>926.78</c:v>
                </c:pt>
                <c:pt idx="28">
                  <c:v>926.78</c:v>
                </c:pt>
                <c:pt idx="29">
                  <c:v>926.78</c:v>
                </c:pt>
                <c:pt idx="30">
                  <c:v>926.78</c:v>
                </c:pt>
                <c:pt idx="31">
                  <c:v>926.78</c:v>
                </c:pt>
                <c:pt idx="32">
                  <c:v>926.78</c:v>
                </c:pt>
                <c:pt idx="33">
                  <c:v>926.78</c:v>
                </c:pt>
                <c:pt idx="34">
                  <c:v>926.78</c:v>
                </c:pt>
                <c:pt idx="35">
                  <c:v>926.78</c:v>
                </c:pt>
                <c:pt idx="36">
                  <c:v>926.78</c:v>
                </c:pt>
                <c:pt idx="37">
                  <c:v>920.47</c:v>
                </c:pt>
                <c:pt idx="38">
                  <c:v>920.47</c:v>
                </c:pt>
                <c:pt idx="39">
                  <c:v>920.47</c:v>
                </c:pt>
                <c:pt idx="40">
                  <c:v>920.47</c:v>
                </c:pt>
                <c:pt idx="41">
                  <c:v>920.47</c:v>
                </c:pt>
                <c:pt idx="42">
                  <c:v>920.47</c:v>
                </c:pt>
                <c:pt idx="43">
                  <c:v>920.47</c:v>
                </c:pt>
                <c:pt idx="44">
                  <c:v>920.47</c:v>
                </c:pt>
                <c:pt idx="45">
                  <c:v>920.47</c:v>
                </c:pt>
                <c:pt idx="46">
                  <c:v>920.47</c:v>
                </c:pt>
                <c:pt idx="47">
                  <c:v>920.47</c:v>
                </c:pt>
                <c:pt idx="48">
                  <c:v>920.47</c:v>
                </c:pt>
                <c:pt idx="49">
                  <c:v>920.47</c:v>
                </c:pt>
                <c:pt idx="50">
                  <c:v>920.47</c:v>
                </c:pt>
                <c:pt idx="51">
                  <c:v>920.47</c:v>
                </c:pt>
                <c:pt idx="52">
                  <c:v>920.47</c:v>
                </c:pt>
                <c:pt idx="53">
                  <c:v>920.47</c:v>
                </c:pt>
                <c:pt idx="54">
                  <c:v>920.47</c:v>
                </c:pt>
                <c:pt idx="55">
                  <c:v>920.47</c:v>
                </c:pt>
                <c:pt idx="56">
                  <c:v>920.47</c:v>
                </c:pt>
                <c:pt idx="57">
                  <c:v>920.47</c:v>
                </c:pt>
                <c:pt idx="58">
                  <c:v>920.47</c:v>
                </c:pt>
                <c:pt idx="59">
                  <c:v>920.47</c:v>
                </c:pt>
                <c:pt idx="60">
                  <c:v>920.47</c:v>
                </c:pt>
                <c:pt idx="61">
                  <c:v>920.47</c:v>
                </c:pt>
                <c:pt idx="62">
                  <c:v>920.47</c:v>
                </c:pt>
                <c:pt idx="63">
                  <c:v>920.47</c:v>
                </c:pt>
                <c:pt idx="64">
                  <c:v>920.47</c:v>
                </c:pt>
                <c:pt idx="65">
                  <c:v>920.47</c:v>
                </c:pt>
                <c:pt idx="66">
                  <c:v>920.47</c:v>
                </c:pt>
                <c:pt idx="67">
                  <c:v>920.47</c:v>
                </c:pt>
                <c:pt idx="68">
                  <c:v>920.47</c:v>
                </c:pt>
                <c:pt idx="69">
                  <c:v>920.47</c:v>
                </c:pt>
                <c:pt idx="70">
                  <c:v>920.47</c:v>
                </c:pt>
                <c:pt idx="71">
                  <c:v>920.47</c:v>
                </c:pt>
                <c:pt idx="72">
                  <c:v>920.47</c:v>
                </c:pt>
                <c:pt idx="73">
                  <c:v>920.47</c:v>
                </c:pt>
                <c:pt idx="74">
                  <c:v>920.47</c:v>
                </c:pt>
                <c:pt idx="75">
                  <c:v>920.47</c:v>
                </c:pt>
                <c:pt idx="76">
                  <c:v>920.47</c:v>
                </c:pt>
                <c:pt idx="77">
                  <c:v>920.47</c:v>
                </c:pt>
                <c:pt idx="78">
                  <c:v>920.47</c:v>
                </c:pt>
                <c:pt idx="79">
                  <c:v>920.47</c:v>
                </c:pt>
                <c:pt idx="80">
                  <c:v>920.47</c:v>
                </c:pt>
                <c:pt idx="81">
                  <c:v>920.47</c:v>
                </c:pt>
                <c:pt idx="82">
                  <c:v>920.47</c:v>
                </c:pt>
                <c:pt idx="83">
                  <c:v>920.47</c:v>
                </c:pt>
                <c:pt idx="84">
                  <c:v>920.47</c:v>
                </c:pt>
                <c:pt idx="85">
                  <c:v>920.47</c:v>
                </c:pt>
                <c:pt idx="86">
                  <c:v>920.47</c:v>
                </c:pt>
                <c:pt idx="87">
                  <c:v>920.47</c:v>
                </c:pt>
                <c:pt idx="88">
                  <c:v>920.47</c:v>
                </c:pt>
                <c:pt idx="89">
                  <c:v>920.47</c:v>
                </c:pt>
                <c:pt idx="90">
                  <c:v>920.47</c:v>
                </c:pt>
                <c:pt idx="91">
                  <c:v>920.47</c:v>
                </c:pt>
                <c:pt idx="92">
                  <c:v>920.47</c:v>
                </c:pt>
                <c:pt idx="93">
                  <c:v>920.47</c:v>
                </c:pt>
                <c:pt idx="94">
                  <c:v>920.47</c:v>
                </c:pt>
                <c:pt idx="95">
                  <c:v>920.47</c:v>
                </c:pt>
                <c:pt idx="96">
                  <c:v>920.47</c:v>
                </c:pt>
                <c:pt idx="97">
                  <c:v>920.47</c:v>
                </c:pt>
                <c:pt idx="98">
                  <c:v>920.47</c:v>
                </c:pt>
                <c:pt idx="99">
                  <c:v>920.47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900" b="0" i="0" u="none" strike="noStrike">
                    <a:solidFill>
                      <a:srgbClr val="8A96AD"/>
                    </a:solidFill>
                    <a:latin typeface="Arial"/>
                  </a:defRPr>
                </a:pPr>
                <a:r>
                  <a:rPr sz="900" b="0" i="0" u="none" strike="noStrike">
                    <a:solidFill>
                      <a:srgbClr val="8A96AD"/>
                    </a:solidFill>
                    <a:latin typeface="Arial"/>
                  </a:rPr>
                  <a:t>Iteration</a:t>
                </a:r>
              </a:p>
            </c:rich>
          </c:tx>
          <c:layout/>
          <c:overlay val="0"/>
        </c:title>
        <c:numFmt formatCode="General" sourceLinked="1"/>
        <c:majorTickMark val="out"/>
        <c:minorTickMark val="none"/>
        <c:tickLblPos val="low"/>
        <c:spPr>
          <a:ln w="12700" cap="flat">
            <a:solidFill>
              <a:srgbClr val="2A3550"/>
            </a:solidFill>
            <a:prstDash val="solid"/>
            <a:round/>
          </a:ln>
        </c:spPr>
        <c:txPr>
          <a:bodyPr/>
          <a:lstStyle/>
          <a:p>
            <a:pPr>
              <a:defRPr sz="900" b="0" i="0" u="none" strike="noStrike">
                <a:solidFill>
                  <a:srgbClr val="8A96AD"/>
                </a:solidFill>
                <a:latin typeface="Arial"/>
              </a:defRPr>
            </a:pPr>
            <a:endParaRPr lang="en-US"/>
          </a:p>
        </c:txPr>
        <c:crossAx val="2094734552"/>
        <c:crosses val="autoZero"/>
        <c:auto val="1"/>
        <c:lblAlgn val="ctr"/>
        <c:noMultiLvlLbl val="1"/>
      </c:catAx>
      <c:valAx>
        <c:axId val="2094734552"/>
        <c:scaling>
          <c:orientation val="minMax"/>
          <c:max val="1110"/>
          <c:min val="900"/>
        </c:scaling>
        <c:delete val="0"/>
        <c:axPos val="l"/>
        <c:majorGridlines>
          <c:spPr>
            <a:ln w="6350" cap="flat">
              <a:solidFill>
                <a:srgbClr val="2A3550"/>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A96AD"/>
                </a:solidFill>
                <a:latin typeface="Arial"/>
              </a:defRPr>
            </a:pPr>
            <a:endParaRPr lang="en-US"/>
          </a:p>
        </c:txPr>
        <c:crossAx val="2094734554"/>
        <c:crosses val="autoZero"/>
        <c:crossBetween val="between"/>
        <c:majorUnit val="50"/>
      </c:valAx>
      <c:spPr>
        <a:noFill/>
        <a:ln>
          <a:noFill/>
        </a:ln>
        <a:effectLst/>
      </c:spPr>
    </c:plotArea>
    <c:legend>
      <c:legendPos val="b"/>
      <c:overlay val="0"/>
      <c:txPr>
        <a:bodyPr/>
        <a:lstStyle/>
        <a:p>
          <a:pPr>
            <a:defRPr sz="900">
              <a:solidFill>
                <a:srgbClr val="C3CCDC"/>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the ACO TSP Solver. In one sentence: a colony of artificial ants finds near-optimal tours through 15 to 25 real Bosnian towns, and the app shows it happening live. In the next fifteen minutes I will show how the problem is formulated over two natID dense matrices, how the Ant System works, how the GUI and the threading are built, and how I verified that the algorithm is genuine. Then I will finish with a short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TSP is NP-hard, and the feasible set is exactly the Hamiltonian cycles of the complete graph on the selected cities. Even at fifteen cities there are 4.4 times ten to the ten distinct tours, and at twenty-five Held–Karp would need about two times ten to the ten operations and several gigabytes of table. So I chose a metaheuristic, and I deliberately implemented the basic Ant System with no local search. The point of the project is to show that two matrices and one feedback rule get this close to the optimum.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one is the problem formulation. I will first state the TSP as a minimization problem over permutations, with the single constraint that every city appears exactly once. Then I will show where the instances come from, 99 real Bosnian towns, and how accurate the distance model is compared to great-circle distance. Finally I will show the two natID dense matrices the whole algorithm operates on, the distance matrix and the pheromone matrix, and explain why their diagonals stay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is the length of a closed tour, including the edge back to the first city. The towns come from Bosnia.xml, between 42.71 and 45.18 degrees north and 15.80 and 19.34 degrees east. Every load shuffles them with a seeded Mersenne Twister and keeps 15 to 25. This is my one deviation from the proposal: real towns instead of synthetic points, so lengths are in kilometres. The constraint is enforced twice: structurally, because an ant only moves to unvisited cities, and by an explicit check that I show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matrices are natID dense matrices. Each is reserved n by n, explicitly zeroed because the storage may be reused from a larger instance, and then filled. The diagonal of tau stays zero on purpose, because a self-loop is never a legal move. Seeding it with tau zero would not change the search, but it would decay under evaporation and distort the column sums I discuss on slide 10. The distance matrix is built in loadTowns, so the baseline exists before Start, and rebuilt at the start of every run on the worker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two is the algorithm itself: the basic Ant System and nothing else. There are really only two mechanisms, probabilistic tour construction by roulette wheel and pheromone feedback through evaporation and deposit. I will show both with the exact code from MapModel.h. Then I will show the complete loop, including the feasibility guard, and finally the nearest-neighbour baseline and the convergence indicators that tell us whether the colony is actually doing something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ant at city i weights every unvisited city by tau to the alpha times eta to the beta. Alpha controls trail-following, beta the greedy pull toward short edges. In the code, pher and dist are manipulators on the two dense matrices, and the eta guard handles coincident cities. Then r is drawn uniformly up to the weight sum, and the first candidate whose running sum reaches r is chosen. If the sum underflows to zero, the choice falls back to uniform. Each ant starts at a uniformly random city, which avoids correlated first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all ants finish, the update is three named steps. First the whole trail is scaled by one minus rho. Second, delta tau is zeroed and every feasible ant adds Q over its tour length along its edges, symmetrically and including the closing edge. Third, delta tau is added to tau in one operation. Steps one and three are whole-matrix library operators. The deposit has to be per edge, because a tour touches only n of the n squared entries. Summing into delta tau first also adds small deposits at full precision before they meet the much larger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loop in runACO, with Stop checked before each iteration and before each ant. The step I want to highlight is the orange diamond. Every tour is checked before it is costed, and the check runs again inside depositPheromone. Construction cannot currently produce an infeasible tour, so why check? Because the failure would be silent: a short infeasible tour is cheaper than any real one, so it would become the reported best and poison the trail. The best tour is rotated to the start marker for display only; rotation changes neither the tour nor its 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best-so-far curve is monotone by construction, so on its own it proves nothing. That is why I also plot the iteration best and anchor everything to a repetitive nearest-neighbour tour, which never seeds the colony. The Converged label means fifteen iterations without improvement; it is display only, and the run always does all its iterations. I also exported the pheromone L1 norm, and then found it cannot measure concentration, because all column sums stay equal. With the defaults the norm falls from n minus one times tau zero toward about two m Q over rho L-bar, roughly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three is the application around the algorithm. The proposal asked for a live visualization, so I will first walk through the interface on a real screenshot taken during a run. Then I will explain the threading model, which is what keeps the visualization from ever reading half-updated state. Last, I will show the features that make this a tool for experiments rather than just a demo: parameter clamping, the comparison of two completed runs, and CSV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main window mid-run, with sixteen cities, twenty ants and forty iterations. Across the top is the parameter bar. The thin green lines are pheromone edges above one and a half times the mean, the thick line is the best tour, the statistics sidebar is on the right and the convergence chart is below. The chart's y-range includes the baseline with six percent padding, so the scale is anchored to the instance and an auto-scaled staircase cannot exaggerate a 0.3 percent gain. The toolbar has Settings, Start/Stop, Reset, New cities, Export and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worker thread owns tau and delta tau and updates them without locking. Tau is copied to the snapshot only after a complete update, so the UI can never see the trail mid-evaporation. The best tour, the three series and that snapshot sit behind one mutex, and both chart curves are copied in one lock block, so they always have equal length. Flags and counters that cross threads are std::atomic, gui::Shape objects are only built on the main thread, and Stop is just a flag. The window also refuses to close during a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Parameters are read and clamped once at Start and stay constant during the run, which is a proposal requirement, and they persist across restarts. Compare shows the last two runs, but only completed runs are stored, because stopped runs would fake a quality difference. In this example the only change is beta, and both runs reach the same tour. CSV export writes the convergence series and the full instance, in the C locale with a UTF-8 byte order mark, so names like Goražde display correctly. A run is reproducible from the seed plus the city draw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four is verification, which I think is the most important part of this defence. I will show three layers. First, a control-flow audit: one path from Start to every reported tour, with no bypass, which is what no cheating means concretely. Second, a mathematical check of the implementation against the proposal and against Dorigo and Stützle. Third, an independent numerical check of the same algorithm against exact Held–Karp optima.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question is whether the algorithm is genuine, I traced the only control path from pressing Start to any reported result. It goes from the menu action through readACOParamsFromUI into findPath, onto the worker thread and through runACO. Every tour that is shown, plotted, compared or exported passed through constructTour and isHamiltonianTour in this chain. On the right is exactly what no cheating means here: no local search, no stored solutions, the greedy baseline never touches the colony, no infeasible tours, and no elitism or trail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cross-checked the src and res trees against the proposal and against Dorigo and Stützle. The transition rule, the update rule, the objective including the return edge, constant parameters and the dense matrices all match. But I want to say this plainly: inspection alone is not enough. Code can look exactly like the textbook and still be wrong in one detail, and a reviewer reading it would not notice. So I also checked the algorithm numerically, against exact optima, and that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re-implemented the generator, the distances, the baseline and runACO in a standalone C++ program and ran thirty seeds with the defaults. For the eighteen instances with at most twenty cities, Held–Karp gave the true optimum. The colony found it exactly ten times and was 0.68 percent above it on average; nearest neighbour was 7.02 percent above. These figures characterize the algorithm, not one app run: the port used libstdc++, and the app on MSVC or libc++ draws different cities for the same seed. In three instances ACO tied the baseline, which was already optimal or within 1.7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section closes the loop with the proposal. I will map every proposal item to what was delivered and list the additions, then summarize the tech stack and state the known limitations honestly, so that no number in the application is read as more than it is. I will finish with the lessons I learned and what I would build next, and then we move on to the live demo of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item in the proposal was delivered. Of the additions, I only want to point at the three that strengthen correctness rather than usability. The Hamiltonian feasibility check means no infeasible tour can ever be reported or reinforced. The nearest-neighbour baseline turns it seems to work into a measurable claim. And the comparison stores only completed runs, so a run stopped early cannot masquerade as a worse parameter setting. The one substantive deviation is using real towns instead of synthetic points, so all lengths are in kilometres.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is C++ with CMake and nothing outside the natID SDK: MatrixLib for the dense matrices, natGUI for the interface and mainUtils. GitHub Actions builds packages for Windows, both macOS architectures and Linux through SetupCollector. I list the limitations as a matter of rigor, so every number in the app is stated for what it is. Reproducibility is per toolchain, runtime includes the animation delay, the L1 norm is not concentration, stopped runs are not compared, tau zero is fixed at one, and distances are air distances.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lessons, and I would defend two of them hardest. First, a solver must check its own constraints: an infeasible tour is cheaper than a feasible one, so a construction bug would look like a spectacular result instead of a failure. Second, instrumentation must be checked against the mathematics: the L1 norm looked like a convergence signal, but the Hamiltonian structure makes every column sum equal. For future work, the natural next steps are ACS and MAX–MIN Ant System, 2-opt, a real concentration measure, platform-independent sampling and TSPLIB instances.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Now the live demo, about three minutes. One: I launch the app, and an instance and its nearest-neighbour baseline are already shown. Two: I press Start with the defaults, and you can watch the trail thin out in Threshold mode and the two curves converge. Three: I let the run finish. Four: I set beta to five and press Start again on the same cities. Five: I open Compare. Six: I export the CSV. Seven: I draw new cities. Installers for every platform are on the releases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hyperlink" Target="https://github.com/arminn2206/ProjNO_TSPACO_Memisevic" TargetMode="External"/><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1.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1" Type="http://schemas.openxmlformats.org/officeDocument/2006/relationships/image" Target="../media/image-18-1.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image" Target="../media/image-20-10.png"/><Relationship Id="rId11" Type="http://schemas.openxmlformats.org/officeDocument/2006/relationships/image" Target="../media/image-20-11.png"/><Relationship Id="rId12" Type="http://schemas.openxmlformats.org/officeDocument/2006/relationships/image" Target="../media/image-20-12.png"/><Relationship Id="rId13" Type="http://schemas.openxmlformats.org/officeDocument/2006/relationships/image" Target="../media/image-20-13.png"/><Relationship Id="rId14" Type="http://schemas.openxmlformats.org/officeDocument/2006/relationships/image" Target="../media/image-20-14.png"/><Relationship Id="rId15" Type="http://schemas.openxmlformats.org/officeDocument/2006/relationships/image" Target="../media/image-20-15.png"/><Relationship Id="rId16" Type="http://schemas.openxmlformats.org/officeDocument/2006/relationships/image" Target="../media/image-20-16.png"/><Relationship Id="rId17" Type="http://schemas.openxmlformats.org/officeDocument/2006/relationships/image" Target="../media/image-20-17.png"/><Relationship Id="rId18" Type="http://schemas.openxmlformats.org/officeDocument/2006/relationships/image" Target="../media/image-20-18.png"/><Relationship Id="rId19" Type="http://schemas.openxmlformats.org/officeDocument/2006/relationships/image" Target="../media/image-20-19.png"/><Relationship Id="rId20" Type="http://schemas.openxmlformats.org/officeDocument/2006/relationships/image" Target="../media/image-20-20.png"/><Relationship Id="rId21" Type="http://schemas.openxmlformats.org/officeDocument/2006/relationships/slideLayout" Target="../slideLayouts/slideLayout1.xml"/><Relationship Id="rId2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4" Type="http://schemas.openxmlformats.org/officeDocument/2006/relationships/hyperlink" Target="https://github.com/arminn2206/ProjNO_TSPACO_Memisevic/releases/latest" TargetMode="External"/><Relationship Id="rId7" Type="http://schemas.openxmlformats.org/officeDocument/2006/relationships/hyperlink" Target="https://github.com/arminn2206/ProjNO_TSPACO_Memisevic/releases/latest" TargetMode="External"/><Relationship Id="rId10" Type="http://schemas.openxmlformats.org/officeDocument/2006/relationships/hyperlink" Target="https://github.com/arminn2206/ProjNO_TSPACO_Memisevic/releases/latest" TargetMode="External"/><Relationship Id="rId13" Type="http://schemas.openxmlformats.org/officeDocument/2006/relationships/hyperlink" Target="https://github.com/arminn2206/ProjNO_TSPACO_Memisevic/releases/latest" TargetMode="External"/><Relationship Id="rId15" Type="http://schemas.openxmlformats.org/officeDocument/2006/relationships/hyperlink" Target="https://github.com/arminn2206/ProjNO_TSPACO_Memisevic" TargetMode="External"/><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3.png"/><Relationship Id="rId8" Type="http://schemas.openxmlformats.org/officeDocument/2006/relationships/image" Target="../media/image-23-6.png"/><Relationship Id="rId9" Type="http://schemas.openxmlformats.org/officeDocument/2006/relationships/image" Target="../media/image-23-3.png"/><Relationship Id="rId11" Type="http://schemas.openxmlformats.org/officeDocument/2006/relationships/image" Target="../media/image-23-8.png"/><Relationship Id="rId12" Type="http://schemas.openxmlformats.org/officeDocument/2006/relationships/image" Target="../media/image-23-3.png"/><Relationship Id="rId14" Type="http://schemas.openxmlformats.org/officeDocument/2006/relationships/image" Target="../media/image-23-3.png"/><Relationship Id="rId16" Type="http://schemas.openxmlformats.org/officeDocument/2006/relationships/image" Target="../media/image-23-11.png"/><Relationship Id="rId17" Type="http://schemas.openxmlformats.org/officeDocument/2006/relationships/slideLayout" Target="../slideLayouts/slideLayout1.xml"/><Relationship Id="rId18"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420"/>
        </a:solidFill>
      </p:bgPr>
    </p:bg>
    <p:spTree>
      <p:nvGrpSpPr>
        <p:cNvPr id="1" name=""/>
        <p:cNvGrpSpPr/>
        <p:nvPr/>
      </p:nvGrpSpPr>
      <p:grpSpPr>
        <a:xfrm>
          <a:off x="0" y="0"/>
          <a:ext cx="0" cy="0"/>
          <a:chOff x="0" y="0"/>
          <a:chExt cx="0" cy="0"/>
        </a:xfrm>
      </p:grpSpPr>
      <p:pic>
        <p:nvPicPr>
          <p:cNvPr id="3" name="Image 0" descr="img/decor1.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40080" y="548640"/>
            <a:ext cx="10058400" cy="274320"/>
          </a:xfrm>
          <a:prstGeom prst="rect">
            <a:avLst/>
          </a:prstGeom>
          <a:noFill/>
          <a:ln/>
        </p:spPr>
        <p:txBody>
          <a:bodyPr wrap="square" lIns="0" tIns="0" rIns="0" bIns="0" rtlCol="0" anchor="t"/>
          <a:lstStyle/>
          <a:p>
            <a:pPr indent="0" marL="0">
              <a:buNone/>
            </a:pPr>
            <a:r>
              <a:rPr lang="en-US" sz="1100" b="1" spc="200" kern="0" dirty="0">
                <a:solidFill>
                  <a:srgbClr val="F39C34"/>
                </a:solidFill>
                <a:latin typeface="Calibri" pitchFamily="34" charset="0"/>
                <a:ea typeface="Calibri" pitchFamily="34" charset="-122"/>
                <a:cs typeface="Calibri" pitchFamily="34" charset="-120"/>
              </a:rPr>
              <a:t>ETF SARAJEVO · DATA SCIENCE &amp; ARTIFICIAL INTELLIGENCE · NUMERICAL OPTIMIZATION</a:t>
            </a:r>
            <a:endParaRPr lang="en-US" sz="1100" dirty="0"/>
          </a:p>
        </p:txBody>
      </p:sp>
      <p:sp>
        <p:nvSpPr>
          <p:cNvPr id="5" name="Text 1"/>
          <p:cNvSpPr txBox="1"/>
          <p:nvPr/>
        </p:nvSpPr>
        <p:spPr>
          <a:xfrm>
            <a:off x="640080" y="1188720"/>
            <a:ext cx="8229600" cy="1005840"/>
          </a:xfrm>
          <a:prstGeom prst="rect">
            <a:avLst/>
          </a:prstGeom>
          <a:noFill/>
          <a:ln/>
        </p:spPr>
        <p:txBody>
          <a:bodyPr wrap="square" lIns="0" tIns="0" rIns="0" bIns="0" rtlCol="0" anchor="ctr"/>
          <a:lstStyle/>
          <a:p>
            <a:pPr indent="0" marL="0">
              <a:buNone/>
            </a:pPr>
            <a:r>
              <a:rPr lang="en-US" sz="6000" b="1" dirty="0">
                <a:solidFill>
                  <a:srgbClr val="E9EDF5"/>
                </a:solidFill>
                <a:latin typeface="Calibri" pitchFamily="34" charset="0"/>
                <a:ea typeface="Calibri" pitchFamily="34" charset="-122"/>
                <a:cs typeface="Calibri" pitchFamily="34" charset="-120"/>
              </a:rPr>
              <a:t>ACO TSP Solver</a:t>
            </a:r>
            <a:endParaRPr lang="en-US" sz="6000" dirty="0"/>
          </a:p>
        </p:txBody>
      </p:sp>
      <p:sp>
        <p:nvSpPr>
          <p:cNvPr id="6" name="Text 2"/>
          <p:cNvSpPr txBox="1"/>
          <p:nvPr/>
        </p:nvSpPr>
        <p:spPr>
          <a:xfrm>
            <a:off x="640080" y="2240280"/>
            <a:ext cx="8229600" cy="457200"/>
          </a:xfrm>
          <a:prstGeom prst="rect">
            <a:avLst/>
          </a:prstGeom>
          <a:noFill/>
          <a:ln/>
        </p:spPr>
        <p:txBody>
          <a:bodyPr wrap="square" lIns="0" tIns="0" rIns="0" bIns="0" rtlCol="0" anchor="ctr"/>
          <a:lstStyle/>
          <a:p>
            <a:pPr indent="0" marL="0">
              <a:buNone/>
            </a:pPr>
            <a:r>
              <a:rPr lang="en-US" sz="2200" dirty="0">
                <a:solidFill>
                  <a:srgbClr val="C3CCDC"/>
                </a:solidFill>
                <a:latin typeface="Calibri" pitchFamily="34" charset="0"/>
                <a:ea typeface="Calibri" pitchFamily="34" charset="-122"/>
                <a:cs typeface="Calibri" pitchFamily="34" charset="-120"/>
              </a:rPr>
              <a:t>Ant Colony Optimization for the Travelling Salesman Problem</a:t>
            </a:r>
            <a:endParaRPr lang="en-US" sz="2200" dirty="0"/>
          </a:p>
        </p:txBody>
      </p:sp>
      <p:sp>
        <p:nvSpPr>
          <p:cNvPr id="7" name="Text 3"/>
          <p:cNvSpPr txBox="1"/>
          <p:nvPr/>
        </p:nvSpPr>
        <p:spPr>
          <a:xfrm>
            <a:off x="640080" y="2697480"/>
            <a:ext cx="8229600" cy="365760"/>
          </a:xfrm>
          <a:prstGeom prst="rect">
            <a:avLst/>
          </a:prstGeom>
          <a:noFill/>
          <a:ln/>
        </p:spPr>
        <p:txBody>
          <a:bodyPr wrap="square" lIns="0" tIns="0" rIns="0" bIns="0" rtlCol="0" anchor="ctr"/>
          <a:lstStyle/>
          <a:p>
            <a:pPr indent="0" marL="0">
              <a:buNone/>
            </a:pPr>
            <a:r>
              <a:rPr lang="en-US" sz="1500" i="1" dirty="0">
                <a:solidFill>
                  <a:srgbClr val="8A96AD"/>
                </a:solidFill>
                <a:latin typeface="Calibri" pitchFamily="34" charset="0"/>
                <a:ea typeface="Calibri" pitchFamily="34" charset="-122"/>
                <a:cs typeface="Calibri" pitchFamily="34" charset="-120"/>
              </a:rPr>
              <a:t>Ant System on natID Dense Matrices, with Real-Time Visualization</a:t>
            </a:r>
            <a:endParaRPr lang="en-US" sz="1500" dirty="0"/>
          </a:p>
        </p:txBody>
      </p:sp>
      <p:sp>
        <p:nvSpPr>
          <p:cNvPr id="8" name="Shape 4"/>
          <p:cNvSpPr/>
          <p:nvPr/>
        </p:nvSpPr>
        <p:spPr>
          <a:xfrm>
            <a:off x="640080" y="3794760"/>
            <a:ext cx="2606040" cy="960120"/>
          </a:xfrm>
          <a:prstGeom prst="roundRect">
            <a:avLst>
              <a:gd name="adj" fmla="val 7619"/>
            </a:avLst>
          </a:prstGeom>
          <a:solidFill>
            <a:srgbClr val="182033"/>
          </a:solidFill>
          <a:ln w="9525">
            <a:solidFill>
              <a:srgbClr val="2A3550"/>
            </a:solidFill>
            <a:prstDash val="solid"/>
          </a:ln>
        </p:spPr>
      </p:sp>
      <p:sp>
        <p:nvSpPr>
          <p:cNvPr id="9" name="Shape 5"/>
          <p:cNvSpPr/>
          <p:nvPr/>
        </p:nvSpPr>
        <p:spPr>
          <a:xfrm>
            <a:off x="841248" y="4023360"/>
            <a:ext cx="82296" cy="82296"/>
          </a:xfrm>
          <a:prstGeom prst="rect">
            <a:avLst/>
          </a:prstGeom>
          <a:solidFill>
            <a:srgbClr val="F39C34"/>
          </a:solidFill>
          <a:ln w="12700">
            <a:solidFill>
              <a:srgbClr val="F39C34"/>
            </a:solidFill>
            <a:prstDash val="solid"/>
          </a:ln>
        </p:spPr>
      </p:sp>
      <p:sp>
        <p:nvSpPr>
          <p:cNvPr id="10" name="Text 6"/>
          <p:cNvSpPr txBox="1"/>
          <p:nvPr/>
        </p:nvSpPr>
        <p:spPr>
          <a:xfrm>
            <a:off x="100584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STUDENT</a:t>
            </a:r>
            <a:endParaRPr lang="en-US" sz="950" dirty="0"/>
          </a:p>
        </p:txBody>
      </p:sp>
      <p:sp>
        <p:nvSpPr>
          <p:cNvPr id="11" name="Text 7"/>
          <p:cNvSpPr txBox="1"/>
          <p:nvPr/>
        </p:nvSpPr>
        <p:spPr>
          <a:xfrm>
            <a:off x="84124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Armin Memišević · 20016</a:t>
            </a:r>
            <a:endParaRPr lang="en-US" sz="1450" dirty="0"/>
          </a:p>
        </p:txBody>
      </p:sp>
      <p:sp>
        <p:nvSpPr>
          <p:cNvPr id="12" name="Shape 8"/>
          <p:cNvSpPr/>
          <p:nvPr/>
        </p:nvSpPr>
        <p:spPr>
          <a:xfrm>
            <a:off x="3429000" y="3794760"/>
            <a:ext cx="2606040" cy="960120"/>
          </a:xfrm>
          <a:prstGeom prst="roundRect">
            <a:avLst>
              <a:gd name="adj" fmla="val 7619"/>
            </a:avLst>
          </a:prstGeom>
          <a:solidFill>
            <a:srgbClr val="182033"/>
          </a:solidFill>
          <a:ln w="9525">
            <a:solidFill>
              <a:srgbClr val="2A3550"/>
            </a:solidFill>
            <a:prstDash val="solid"/>
          </a:ln>
        </p:spPr>
      </p:sp>
      <p:sp>
        <p:nvSpPr>
          <p:cNvPr id="13" name="Shape 9"/>
          <p:cNvSpPr/>
          <p:nvPr/>
        </p:nvSpPr>
        <p:spPr>
          <a:xfrm>
            <a:off x="3630168" y="4023360"/>
            <a:ext cx="82296" cy="82296"/>
          </a:xfrm>
          <a:prstGeom prst="rect">
            <a:avLst/>
          </a:prstGeom>
          <a:solidFill>
            <a:srgbClr val="F39C34"/>
          </a:solidFill>
          <a:ln w="12700">
            <a:solidFill>
              <a:srgbClr val="F39C34"/>
            </a:solidFill>
            <a:prstDash val="solid"/>
          </a:ln>
        </p:spPr>
      </p:sp>
      <p:sp>
        <p:nvSpPr>
          <p:cNvPr id="14" name="Text 10"/>
          <p:cNvSpPr txBox="1"/>
          <p:nvPr/>
        </p:nvSpPr>
        <p:spPr>
          <a:xfrm>
            <a:off x="379476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COURSE</a:t>
            </a:r>
            <a:endParaRPr lang="en-US" sz="950" dirty="0"/>
          </a:p>
        </p:txBody>
      </p:sp>
      <p:sp>
        <p:nvSpPr>
          <p:cNvPr id="15" name="Text 11"/>
          <p:cNvSpPr txBox="1"/>
          <p:nvPr/>
        </p:nvSpPr>
        <p:spPr>
          <a:xfrm>
            <a:off x="363016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Numerical Optimization</a:t>
            </a:r>
            <a:endParaRPr lang="en-US" sz="1450" dirty="0"/>
          </a:p>
        </p:txBody>
      </p:sp>
      <p:sp>
        <p:nvSpPr>
          <p:cNvPr id="16" name="Shape 12"/>
          <p:cNvSpPr/>
          <p:nvPr/>
        </p:nvSpPr>
        <p:spPr>
          <a:xfrm>
            <a:off x="6217920" y="3794760"/>
            <a:ext cx="2606040" cy="960120"/>
          </a:xfrm>
          <a:prstGeom prst="roundRect">
            <a:avLst>
              <a:gd name="adj" fmla="val 7619"/>
            </a:avLst>
          </a:prstGeom>
          <a:solidFill>
            <a:srgbClr val="182033"/>
          </a:solidFill>
          <a:ln w="9525">
            <a:solidFill>
              <a:srgbClr val="2A3550"/>
            </a:solidFill>
            <a:prstDash val="solid"/>
          </a:ln>
        </p:spPr>
      </p:sp>
      <p:sp>
        <p:nvSpPr>
          <p:cNvPr id="17" name="Shape 13"/>
          <p:cNvSpPr/>
          <p:nvPr/>
        </p:nvSpPr>
        <p:spPr>
          <a:xfrm>
            <a:off x="6419088" y="4023360"/>
            <a:ext cx="82296" cy="82296"/>
          </a:xfrm>
          <a:prstGeom prst="rect">
            <a:avLst/>
          </a:prstGeom>
          <a:solidFill>
            <a:srgbClr val="F39C34"/>
          </a:solidFill>
          <a:ln w="12700">
            <a:solidFill>
              <a:srgbClr val="F39C34"/>
            </a:solidFill>
            <a:prstDash val="solid"/>
          </a:ln>
        </p:spPr>
      </p:sp>
      <p:sp>
        <p:nvSpPr>
          <p:cNvPr id="18" name="Text 14"/>
          <p:cNvSpPr txBox="1"/>
          <p:nvPr/>
        </p:nvSpPr>
        <p:spPr>
          <a:xfrm>
            <a:off x="658368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PROFESSOR</a:t>
            </a:r>
            <a:endParaRPr lang="en-US" sz="950" dirty="0"/>
          </a:p>
        </p:txBody>
      </p:sp>
      <p:sp>
        <p:nvSpPr>
          <p:cNvPr id="19" name="Text 15"/>
          <p:cNvSpPr txBox="1"/>
          <p:nvPr/>
        </p:nvSpPr>
        <p:spPr>
          <a:xfrm>
            <a:off x="641908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Prof. Dr. Izudin Džafić</a:t>
            </a:r>
            <a:endParaRPr lang="en-US" sz="1450" dirty="0"/>
          </a:p>
        </p:txBody>
      </p:sp>
      <p:sp>
        <p:nvSpPr>
          <p:cNvPr id="20" name="Shape 16"/>
          <p:cNvSpPr/>
          <p:nvPr/>
        </p:nvSpPr>
        <p:spPr>
          <a:xfrm>
            <a:off x="9006840" y="3794760"/>
            <a:ext cx="2606040" cy="960120"/>
          </a:xfrm>
          <a:prstGeom prst="roundRect">
            <a:avLst>
              <a:gd name="adj" fmla="val 7619"/>
            </a:avLst>
          </a:prstGeom>
          <a:solidFill>
            <a:srgbClr val="182033"/>
          </a:solidFill>
          <a:ln w="9525">
            <a:solidFill>
              <a:srgbClr val="2A3550"/>
            </a:solidFill>
            <a:prstDash val="solid"/>
          </a:ln>
        </p:spPr>
      </p:sp>
      <p:sp>
        <p:nvSpPr>
          <p:cNvPr id="21" name="Shape 17"/>
          <p:cNvSpPr/>
          <p:nvPr/>
        </p:nvSpPr>
        <p:spPr>
          <a:xfrm>
            <a:off x="9208008" y="4023360"/>
            <a:ext cx="82296" cy="82296"/>
          </a:xfrm>
          <a:prstGeom prst="rect">
            <a:avLst/>
          </a:prstGeom>
          <a:solidFill>
            <a:srgbClr val="F39C34"/>
          </a:solidFill>
          <a:ln w="12700">
            <a:solidFill>
              <a:srgbClr val="F39C34"/>
            </a:solidFill>
            <a:prstDash val="solid"/>
          </a:ln>
        </p:spPr>
      </p:sp>
      <p:sp>
        <p:nvSpPr>
          <p:cNvPr id="22" name="Text 18"/>
          <p:cNvSpPr txBox="1"/>
          <p:nvPr/>
        </p:nvSpPr>
        <p:spPr>
          <a:xfrm>
            <a:off x="9372600" y="3959352"/>
            <a:ext cx="2148840" cy="201168"/>
          </a:xfrm>
          <a:prstGeom prst="rect">
            <a:avLst/>
          </a:prstGeom>
          <a:noFill/>
          <a:ln/>
        </p:spPr>
        <p:txBody>
          <a:bodyPr wrap="square" lIns="0" tIns="0" rIns="0" bIns="0" rtlCol="0" anchor="ctr"/>
          <a:lstStyle/>
          <a:p>
            <a:pPr indent="0" marL="0">
              <a:buNone/>
            </a:pPr>
            <a:r>
              <a:rPr lang="en-US" sz="950" b="1" spc="200" kern="0" dirty="0">
                <a:solidFill>
                  <a:srgbClr val="8A96AD"/>
                </a:solidFill>
                <a:latin typeface="Calibri" pitchFamily="34" charset="0"/>
                <a:ea typeface="Calibri" pitchFamily="34" charset="-122"/>
                <a:cs typeface="Calibri" pitchFamily="34" charset="-120"/>
              </a:rPr>
              <a:t>ACADEMIC YEAR</a:t>
            </a:r>
            <a:endParaRPr lang="en-US" sz="950" dirty="0"/>
          </a:p>
        </p:txBody>
      </p:sp>
      <p:sp>
        <p:nvSpPr>
          <p:cNvPr id="23" name="Text 19"/>
          <p:cNvSpPr txBox="1"/>
          <p:nvPr/>
        </p:nvSpPr>
        <p:spPr>
          <a:xfrm>
            <a:off x="9208008" y="4251960"/>
            <a:ext cx="2286000" cy="365760"/>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2025/26</a:t>
            </a:r>
            <a:endParaRPr lang="en-US" sz="1450" dirty="0"/>
          </a:p>
        </p:txBody>
      </p:sp>
      <p:pic>
        <p:nvPicPr>
          <p:cNvPr id="24" name="Image 1" descr="ETF Sarajevo and DSAI logo">    </p:cNvPr>
          <p:cNvPicPr>
            <a:picLocks noChangeAspect="1"/>
          </p:cNvPicPr>
          <p:nvPr/>
        </p:nvPicPr>
        <p:blipFill>
          <a:blip r:embed="rId2"/>
          <a:stretch>
            <a:fillRect/>
          </a:stretch>
        </p:blipFill>
        <p:spPr>
          <a:xfrm>
            <a:off x="640080" y="5596128"/>
            <a:ext cx="3657600" cy="529692"/>
          </a:xfrm>
          <a:prstGeom prst="rect">
            <a:avLst/>
          </a:prstGeom>
        </p:spPr>
      </p:pic>
      <p:sp>
        <p:nvSpPr>
          <p:cNvPr id="25" name="Text 20"/>
          <p:cNvSpPr txBox="1"/>
          <p:nvPr/>
        </p:nvSpPr>
        <p:spPr>
          <a:xfrm>
            <a:off x="7360920" y="5669280"/>
            <a:ext cx="4206240" cy="457200"/>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100" dirty="0">
                <a:solidFill>
                  <a:srgbClr val="C3CCDC"/>
                </a:solidFill>
                <a:latin typeface="Consolas" pitchFamily="34" charset="0"/>
                <a:ea typeface="Consolas" pitchFamily="34" charset="-122"/>
                <a:cs typeface="Consolas" pitchFamily="34" charset="-120"/>
              </a:rPr>
              <a:t>github.com/arminn2206/ProjNO_TSPACO_Memisevic</a:t>
            </a:r>
            <a:endParaRPr lang="en-US" sz="1100" dirty="0"/>
          </a:p>
        </p:txBody>
      </p:sp>
      <p:pic>
        <p:nvPicPr>
          <p:cNvPr id="26" name="Image 2" descr="img/clear.png">
            <a:hlinkClick r:id="rId4" tooltip=""/>
          </p:cNvPr>
          <p:cNvPicPr>
            <a:picLocks noChangeAspect="1"/>
          </p:cNvPicPr>
          <p:nvPr/>
        </p:nvPicPr>
        <p:blipFill>
          <a:blip r:embed="rId3"/>
          <a:stretch>
            <a:fillRect/>
          </a:stretch>
        </p:blipFill>
        <p:spPr>
          <a:xfrm>
            <a:off x="7360920" y="5669280"/>
            <a:ext cx="4206240" cy="4572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00 · INTRODUCTION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The Core Idea — Why a Metaheuristic, Not Exact Search</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Exact search is hopeless even at 25 cities; ACO trades the optimality guarantee for controllable computation.</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Introduction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02 / 23</a:t>
            </a:r>
            <a:endParaRPr lang="en-US" sz="900" dirty="0"/>
          </a:p>
        </p:txBody>
      </p:sp>
      <p:sp>
        <p:nvSpPr>
          <p:cNvPr id="11" name="Shape 7"/>
          <p:cNvSpPr/>
          <p:nvPr/>
        </p:nvSpPr>
        <p:spPr>
          <a:xfrm>
            <a:off x="548640" y="1874520"/>
            <a:ext cx="5577840" cy="1143000"/>
          </a:xfrm>
          <a:prstGeom prst="roundRect">
            <a:avLst>
              <a:gd name="adj" fmla="val 6400"/>
            </a:avLst>
          </a:prstGeom>
          <a:solidFill>
            <a:srgbClr val="182033"/>
          </a:solidFill>
          <a:ln w="9525">
            <a:solidFill>
              <a:srgbClr val="2A3550"/>
            </a:solidFill>
            <a:prstDash val="solid"/>
          </a:ln>
        </p:spPr>
      </p:sp>
      <p:sp>
        <p:nvSpPr>
          <p:cNvPr id="12" name="Shape 8"/>
          <p:cNvSpPr/>
          <p:nvPr/>
        </p:nvSpPr>
        <p:spPr>
          <a:xfrm>
            <a:off x="804672" y="2203704"/>
            <a:ext cx="493776" cy="493776"/>
          </a:xfrm>
          <a:prstGeom prst="ellipse">
            <a:avLst/>
          </a:prstGeom>
          <a:solidFill>
            <a:srgbClr val="0F1420"/>
          </a:solidFill>
          <a:ln w="12700">
            <a:solidFill>
              <a:srgbClr val="2A3550"/>
            </a:solidFill>
            <a:prstDash val="solid"/>
          </a:ln>
        </p:spPr>
      </p:sp>
      <p:pic>
        <p:nvPicPr>
          <p:cNvPr id="13" name="Image 1" descr="preencoded.png">    </p:cNvPr>
          <p:cNvPicPr>
            <a:picLocks noChangeAspect="1"/>
          </p:cNvPicPr>
          <p:nvPr/>
        </p:nvPicPr>
        <p:blipFill>
          <a:blip r:embed="rId2"/>
          <a:stretch>
            <a:fillRect/>
          </a:stretch>
        </p:blipFill>
        <p:spPr>
          <a:xfrm>
            <a:off x="923544" y="2322576"/>
            <a:ext cx="256032" cy="256032"/>
          </a:xfrm>
          <a:prstGeom prst="rect">
            <a:avLst/>
          </a:prstGeom>
        </p:spPr>
      </p:pic>
      <p:sp>
        <p:nvSpPr>
          <p:cNvPr id="14" name="Text 9"/>
          <p:cNvSpPr txBox="1"/>
          <p:nvPr/>
        </p:nvSpPr>
        <p:spPr>
          <a:xfrm>
            <a:off x="1508760" y="2011680"/>
            <a:ext cx="4434840" cy="868680"/>
          </a:xfrm>
          <a:prstGeom prst="rect">
            <a:avLst/>
          </a:prstGeom>
          <a:noFill/>
          <a:ln/>
        </p:spPr>
        <p:txBody>
          <a:bodyPr wrap="square" lIns="0" tIns="0" rIns="0" bIns="0" rtlCol="0" anchor="ctr"/>
          <a:lstStyle/>
          <a:p>
            <a:pPr indent="0" marL="0">
              <a:buNone/>
            </a:pPr>
            <a:r>
              <a:rPr lang="en-US" sz="1600" dirty="0">
                <a:solidFill>
                  <a:srgbClr val="E9EDF5"/>
                </a:solidFill>
                <a:latin typeface="Calibri" pitchFamily="34" charset="0"/>
                <a:ea typeface="Calibri" pitchFamily="34" charset="-122"/>
                <a:cs typeface="Calibri" pitchFamily="34" charset="-120"/>
              </a:rPr>
              <a:t>The TSP is </a:t>
            </a:r>
            <a:pPr indent="0" marL="0">
              <a:buNone/>
            </a:pPr>
            <a:r>
              <a:rPr lang="en-US" sz="1600" b="1" dirty="0">
                <a:solidFill>
                  <a:srgbClr val="E9EDF5"/>
                </a:solidFill>
                <a:latin typeface="Calibri" pitchFamily="34" charset="0"/>
                <a:ea typeface="Calibri" pitchFamily="34" charset="-122"/>
                <a:cs typeface="Calibri" pitchFamily="34" charset="-120"/>
              </a:rPr>
              <a:t>NP-hard</a:t>
            </a:r>
            <a:pPr indent="0" marL="0">
              <a:buNone/>
            </a:pPr>
            <a:r>
              <a:rPr lang="en-US" sz="1600" dirty="0">
                <a:solidFill>
                  <a:srgbClr val="E9EDF5"/>
                </a:solidFill>
                <a:latin typeface="Calibri" pitchFamily="34" charset="0"/>
                <a:ea typeface="Calibri" pitchFamily="34" charset="-122"/>
                <a:cs typeface="Calibri" pitchFamily="34" charset="-120"/>
              </a:rPr>
              <a:t>.</a:t>
            </a:r>
            <a:endParaRPr lang="en-US" sz="1600" dirty="0"/>
          </a:p>
        </p:txBody>
      </p:sp>
      <p:sp>
        <p:nvSpPr>
          <p:cNvPr id="15" name="Shape 10"/>
          <p:cNvSpPr/>
          <p:nvPr/>
        </p:nvSpPr>
        <p:spPr>
          <a:xfrm>
            <a:off x="548640" y="3246120"/>
            <a:ext cx="5577840" cy="1143000"/>
          </a:xfrm>
          <a:prstGeom prst="roundRect">
            <a:avLst>
              <a:gd name="adj" fmla="val 6400"/>
            </a:avLst>
          </a:prstGeom>
          <a:solidFill>
            <a:srgbClr val="182033"/>
          </a:solidFill>
          <a:ln w="9525">
            <a:solidFill>
              <a:srgbClr val="2A3550"/>
            </a:solidFill>
            <a:prstDash val="solid"/>
          </a:ln>
        </p:spPr>
      </p:sp>
      <p:sp>
        <p:nvSpPr>
          <p:cNvPr id="16" name="Shape 11"/>
          <p:cNvSpPr/>
          <p:nvPr/>
        </p:nvSpPr>
        <p:spPr>
          <a:xfrm>
            <a:off x="804672" y="3575304"/>
            <a:ext cx="493776" cy="493776"/>
          </a:xfrm>
          <a:prstGeom prst="ellipse">
            <a:avLst/>
          </a:prstGeom>
          <a:solidFill>
            <a:srgbClr val="0F1420"/>
          </a:solidFill>
          <a:ln w="12700">
            <a:solidFill>
              <a:srgbClr val="2A3550"/>
            </a:solidFill>
            <a:prstDash val="solid"/>
          </a:ln>
        </p:spPr>
      </p:sp>
      <p:pic>
        <p:nvPicPr>
          <p:cNvPr id="17" name="Image 2" descr="preencoded.png">    </p:cNvPr>
          <p:cNvPicPr>
            <a:picLocks noChangeAspect="1"/>
          </p:cNvPicPr>
          <p:nvPr/>
        </p:nvPicPr>
        <p:blipFill>
          <a:blip r:embed="rId3"/>
          <a:stretch>
            <a:fillRect/>
          </a:stretch>
        </p:blipFill>
        <p:spPr>
          <a:xfrm>
            <a:off x="923544" y="3694176"/>
            <a:ext cx="256032" cy="256032"/>
          </a:xfrm>
          <a:prstGeom prst="rect">
            <a:avLst/>
          </a:prstGeom>
        </p:spPr>
      </p:pic>
      <p:sp>
        <p:nvSpPr>
          <p:cNvPr id="18" name="Text 12"/>
          <p:cNvSpPr txBox="1"/>
          <p:nvPr/>
        </p:nvSpPr>
        <p:spPr>
          <a:xfrm>
            <a:off x="1508760" y="3383280"/>
            <a:ext cx="4434840" cy="868680"/>
          </a:xfrm>
          <a:prstGeom prst="rect">
            <a:avLst/>
          </a:prstGeom>
          <a:noFill/>
          <a:ln/>
        </p:spPr>
        <p:txBody>
          <a:bodyPr wrap="square" lIns="0" tIns="0" rIns="0" bIns="0" rtlCol="0" anchor="ctr"/>
          <a:lstStyle/>
          <a:p>
            <a:pPr indent="0" marL="0">
              <a:buNone/>
            </a:pPr>
            <a:r>
              <a:rPr lang="en-US" sz="1600" dirty="0">
                <a:solidFill>
                  <a:srgbClr val="E9EDF5"/>
                </a:solidFill>
                <a:latin typeface="Calibri" pitchFamily="34" charset="0"/>
                <a:ea typeface="Calibri" pitchFamily="34" charset="-122"/>
                <a:cs typeface="Calibri" pitchFamily="34" charset="-120"/>
              </a:rPr>
              <a:t>Proposal: </a:t>
            </a:r>
            <a:pPr indent="0" marL="0">
              <a:buNone/>
            </a:pPr>
            <a:r>
              <a:rPr lang="en-US" sz="1600" b="1" dirty="0">
                <a:solidFill>
                  <a:srgbClr val="E9EDF5"/>
                </a:solidFill>
                <a:latin typeface="Calibri" pitchFamily="34" charset="0"/>
                <a:ea typeface="Calibri" pitchFamily="34" charset="-122"/>
                <a:cs typeface="Calibri" pitchFamily="34" charset="-120"/>
              </a:rPr>
              <a:t>15–25 cities</a:t>
            </a:r>
            <a:pPr indent="0" marL="0">
              <a:buNone/>
            </a:pPr>
            <a:r>
              <a:rPr lang="en-US" sz="1600" dirty="0">
                <a:solidFill>
                  <a:srgbClr val="E9EDF5"/>
                </a:solidFill>
                <a:latin typeface="Calibri" pitchFamily="34" charset="0"/>
                <a:ea typeface="Calibri" pitchFamily="34" charset="-122"/>
                <a:cs typeface="Calibri" pitchFamily="34" charset="-120"/>
              </a:rPr>
              <a:t>, all parameters constant during a run.</a:t>
            </a:r>
            <a:endParaRPr lang="en-US" sz="1600" dirty="0"/>
          </a:p>
        </p:txBody>
      </p:sp>
      <p:sp>
        <p:nvSpPr>
          <p:cNvPr id="19" name="Shape 13"/>
          <p:cNvSpPr/>
          <p:nvPr/>
        </p:nvSpPr>
        <p:spPr>
          <a:xfrm>
            <a:off x="548640" y="4617720"/>
            <a:ext cx="5577840" cy="1143000"/>
          </a:xfrm>
          <a:prstGeom prst="roundRect">
            <a:avLst>
              <a:gd name="adj" fmla="val 6400"/>
            </a:avLst>
          </a:prstGeom>
          <a:solidFill>
            <a:srgbClr val="182033"/>
          </a:solidFill>
          <a:ln w="9525">
            <a:solidFill>
              <a:srgbClr val="2A3550"/>
            </a:solidFill>
            <a:prstDash val="solid"/>
          </a:ln>
        </p:spPr>
      </p:sp>
      <p:sp>
        <p:nvSpPr>
          <p:cNvPr id="20" name="Shape 14"/>
          <p:cNvSpPr/>
          <p:nvPr/>
        </p:nvSpPr>
        <p:spPr>
          <a:xfrm>
            <a:off x="804672" y="4946904"/>
            <a:ext cx="493776" cy="493776"/>
          </a:xfrm>
          <a:prstGeom prst="ellipse">
            <a:avLst/>
          </a:prstGeom>
          <a:solidFill>
            <a:srgbClr val="0F1420"/>
          </a:solidFill>
          <a:ln w="12700">
            <a:solidFill>
              <a:srgbClr val="2A3550"/>
            </a:solidFill>
            <a:prstDash val="solid"/>
          </a:ln>
        </p:spPr>
      </p:sp>
      <p:pic>
        <p:nvPicPr>
          <p:cNvPr id="21" name="Image 3" descr="preencoded.png">    </p:cNvPr>
          <p:cNvPicPr>
            <a:picLocks noChangeAspect="1"/>
          </p:cNvPicPr>
          <p:nvPr/>
        </p:nvPicPr>
        <p:blipFill>
          <a:blip r:embed="rId4"/>
          <a:stretch>
            <a:fillRect/>
          </a:stretch>
        </p:blipFill>
        <p:spPr>
          <a:xfrm>
            <a:off x="923544" y="5065776"/>
            <a:ext cx="256032" cy="256032"/>
          </a:xfrm>
          <a:prstGeom prst="rect">
            <a:avLst/>
          </a:prstGeom>
        </p:spPr>
      </p:pic>
      <p:sp>
        <p:nvSpPr>
          <p:cNvPr id="22" name="Text 15"/>
          <p:cNvSpPr txBox="1"/>
          <p:nvPr/>
        </p:nvSpPr>
        <p:spPr>
          <a:xfrm>
            <a:off x="1508760" y="4754880"/>
            <a:ext cx="4434840" cy="868680"/>
          </a:xfrm>
          <a:prstGeom prst="rect">
            <a:avLst/>
          </a:prstGeom>
          <a:noFill/>
          <a:ln/>
        </p:spPr>
        <p:txBody>
          <a:bodyPr wrap="square" lIns="0" tIns="0" rIns="0" bIns="0" rtlCol="0" anchor="ctr"/>
          <a:lstStyle/>
          <a:p>
            <a:pPr indent="0" marL="0">
              <a:buNone/>
            </a:pPr>
            <a:r>
              <a:rPr lang="en-US" sz="1600" dirty="0">
                <a:solidFill>
                  <a:srgbClr val="E9EDF5"/>
                </a:solidFill>
                <a:latin typeface="Calibri" pitchFamily="34" charset="0"/>
                <a:ea typeface="Calibri" pitchFamily="34" charset="-122"/>
                <a:cs typeface="Calibri" pitchFamily="34" charset="-120"/>
              </a:rPr>
              <a:t>Basic Ant System, </a:t>
            </a:r>
            <a:pPr indent="0" marL="0">
              <a:buNone/>
            </a:pPr>
            <a:r>
              <a:rPr lang="en-US" sz="1600" b="1" dirty="0">
                <a:solidFill>
                  <a:srgbClr val="E9EDF5"/>
                </a:solidFill>
                <a:latin typeface="Calibri" pitchFamily="34" charset="0"/>
                <a:ea typeface="Calibri" pitchFamily="34" charset="-122"/>
                <a:cs typeface="Calibri" pitchFamily="34" charset="-120"/>
              </a:rPr>
              <a:t>no local search</a:t>
            </a:r>
            <a:pPr indent="0" marL="0">
              <a:buNone/>
            </a:pPr>
            <a:r>
              <a:rPr lang="en-US" sz="1600" dirty="0">
                <a:solidFill>
                  <a:srgbClr val="E9EDF5"/>
                </a:solidFill>
                <a:latin typeface="Calibri" pitchFamily="34" charset="0"/>
                <a:ea typeface="Calibri" pitchFamily="34" charset="-122"/>
                <a:cs typeface="Calibri" pitchFamily="34" charset="-120"/>
              </a:rPr>
              <a:t>: every result traces to one textbook update rule.</a:t>
            </a:r>
            <a:endParaRPr lang="en-US" sz="1600" dirty="0"/>
          </a:p>
        </p:txBody>
      </p:sp>
      <p:sp>
        <p:nvSpPr>
          <p:cNvPr id="23" name="Shape 16"/>
          <p:cNvSpPr/>
          <p:nvPr/>
        </p:nvSpPr>
        <p:spPr>
          <a:xfrm>
            <a:off x="6400800" y="1691640"/>
            <a:ext cx="5257800" cy="4526280"/>
          </a:xfrm>
          <a:prstGeom prst="roundRect">
            <a:avLst>
              <a:gd name="adj" fmla="val 1616"/>
            </a:avLst>
          </a:prstGeom>
          <a:solidFill>
            <a:srgbClr val="141B2B"/>
          </a:solidFill>
          <a:ln w="9525">
            <a:solidFill>
              <a:srgbClr val="2A3550"/>
            </a:solidFill>
            <a:prstDash val="solid"/>
          </a:ln>
        </p:spPr>
      </p:sp>
      <p:sp>
        <p:nvSpPr>
          <p:cNvPr id="24" name="Text 17"/>
          <p:cNvSpPr txBox="1"/>
          <p:nvPr/>
        </p:nvSpPr>
        <p:spPr>
          <a:xfrm>
            <a:off x="6675120" y="1847088"/>
            <a:ext cx="4572000" cy="256032"/>
          </a:xfrm>
          <a:prstGeom prst="rect">
            <a:avLst/>
          </a:prstGeom>
          <a:noFill/>
          <a:ln/>
        </p:spPr>
        <p:txBody>
          <a:bodyPr wrap="square" lIns="0" tIns="0" rIns="0" bIns="0" rtlCol="0" anchor="t"/>
          <a:lstStyle/>
          <a:p>
            <a:pPr indent="0" marL="0">
              <a:buNone/>
            </a:pPr>
            <a:r>
              <a:rPr lang="en-US" sz="1050" b="1" spc="250" kern="0" dirty="0">
                <a:solidFill>
                  <a:srgbClr val="8A96AD"/>
                </a:solidFill>
                <a:latin typeface="Calibri" pitchFamily="34" charset="0"/>
                <a:ea typeface="Calibri" pitchFamily="34" charset="-122"/>
                <a:cs typeface="Calibri" pitchFamily="34" charset="-120"/>
              </a:rPr>
              <a:t>WHY NOT EXACT SEARCH?</a:t>
            </a:r>
            <a:endParaRPr lang="en-US" sz="1050" dirty="0"/>
          </a:p>
        </p:txBody>
      </p:sp>
      <p:sp>
        <p:nvSpPr>
          <p:cNvPr id="25" name="Shape 18"/>
          <p:cNvSpPr/>
          <p:nvPr/>
        </p:nvSpPr>
        <p:spPr>
          <a:xfrm>
            <a:off x="6675120" y="2212848"/>
            <a:ext cx="4709160" cy="2084832"/>
          </a:xfrm>
          <a:prstGeom prst="roundRect">
            <a:avLst>
              <a:gd name="adj" fmla="val 3509"/>
            </a:avLst>
          </a:prstGeom>
          <a:solidFill>
            <a:srgbClr val="182033"/>
          </a:solidFill>
          <a:ln w="9525">
            <a:solidFill>
              <a:srgbClr val="2A3550"/>
            </a:solidFill>
            <a:prstDash val="solid"/>
          </a:ln>
        </p:spPr>
      </p:sp>
      <p:sp>
        <p:nvSpPr>
          <p:cNvPr id="26" name="Text 19"/>
          <p:cNvSpPr txBox="1"/>
          <p:nvPr/>
        </p:nvSpPr>
        <p:spPr>
          <a:xfrm>
            <a:off x="6876288" y="2331720"/>
            <a:ext cx="3108960" cy="274320"/>
          </a:xfrm>
          <a:prstGeom prst="rect">
            <a:avLst/>
          </a:prstGeom>
          <a:noFill/>
          <a:ln/>
        </p:spPr>
        <p:txBody>
          <a:bodyPr wrap="square" lIns="0" tIns="0" rIns="0" bIns="0" rtlCol="0" anchor="ctr"/>
          <a:lstStyle/>
          <a:p>
            <a:pPr indent="0" marL="0">
              <a:buNone/>
            </a:pPr>
            <a:r>
              <a:rPr lang="en-US" sz="1350" b="1" dirty="0">
                <a:solidFill>
                  <a:srgbClr val="E9EDF5"/>
                </a:solidFill>
                <a:latin typeface="Calibri" pitchFamily="34" charset="0"/>
                <a:ea typeface="Calibri" pitchFamily="34" charset="-122"/>
                <a:cs typeface="Calibri" pitchFamily="34" charset="-120"/>
              </a:rPr>
              <a:t>Brute force / Held–Karp</a:t>
            </a:r>
            <a:endParaRPr lang="en-US" sz="1350" dirty="0"/>
          </a:p>
        </p:txBody>
      </p:sp>
      <p:sp>
        <p:nvSpPr>
          <p:cNvPr id="27" name="Text 20"/>
          <p:cNvSpPr txBox="1"/>
          <p:nvPr/>
        </p:nvSpPr>
        <p:spPr>
          <a:xfrm>
            <a:off x="10149840" y="2350008"/>
            <a:ext cx="1078992" cy="246888"/>
          </a:xfrm>
          <a:prstGeom prst="roundRect">
            <a:avLst>
              <a:gd name="adj" fmla="val 48148"/>
            </a:avLst>
          </a:prstGeom>
          <a:solidFill>
            <a:srgbClr val="182033"/>
          </a:solidFill>
          <a:ln w="9525">
            <a:solidFill>
              <a:srgbClr val="E5534B"/>
            </a:solidFill>
          </a:ln>
        </p:spPr>
        <p:txBody>
          <a:bodyPr wrap="square" lIns="0" tIns="0" rIns="0" bIns="0" rtlCol="0" anchor="ctr"/>
          <a:lstStyle/>
          <a:p>
            <a:pPr algn="ctr" indent="0" marL="0">
              <a:buNone/>
            </a:pPr>
            <a:r>
              <a:rPr lang="en-US" sz="850" b="1" dirty="0">
                <a:solidFill>
                  <a:srgbClr val="E5534B"/>
                </a:solidFill>
                <a:latin typeface="Calibri" pitchFamily="34" charset="0"/>
                <a:ea typeface="Calibri" pitchFamily="34" charset="-122"/>
                <a:cs typeface="Calibri" pitchFamily="34" charset="-120"/>
              </a:rPr>
              <a:t>INTRACTABLE</a:t>
            </a:r>
            <a:endParaRPr lang="en-US" sz="850" dirty="0"/>
          </a:p>
        </p:txBody>
      </p:sp>
      <p:pic>
        <p:nvPicPr>
          <p:cNvPr id="28" name="Image 4" descr="tours">    </p:cNvPr>
          <p:cNvPicPr>
            <a:picLocks noChangeAspect="1"/>
          </p:cNvPicPr>
          <p:nvPr/>
        </p:nvPicPr>
        <p:blipFill>
          <a:blip r:embed="rId5"/>
          <a:stretch>
            <a:fillRect/>
          </a:stretch>
        </p:blipFill>
        <p:spPr>
          <a:xfrm>
            <a:off x="6903720" y="2724912"/>
            <a:ext cx="840364" cy="548640"/>
          </a:xfrm>
          <a:prstGeom prst="rect">
            <a:avLst/>
          </a:prstGeom>
        </p:spPr>
      </p:pic>
      <p:sp>
        <p:nvSpPr>
          <p:cNvPr id="29" name="Text 21"/>
          <p:cNvSpPr txBox="1"/>
          <p:nvPr/>
        </p:nvSpPr>
        <p:spPr>
          <a:xfrm>
            <a:off x="8001000" y="2679192"/>
            <a:ext cx="3291840" cy="713232"/>
          </a:xfrm>
          <a:prstGeom prst="rect">
            <a:avLst/>
          </a:prstGeom>
          <a:noFill/>
          <a:ln/>
        </p:spPr>
        <p:txBody>
          <a:bodyPr wrap="square" lIns="0" tIns="0" rIns="0" bIns="0" rtlCol="0" anchor="ctr"/>
          <a:lstStyle/>
          <a:p>
            <a:pPr indent="0" marL="0">
              <a:buNone/>
            </a:pPr>
            <a:r>
              <a:rPr lang="en-US" sz="1000" dirty="0">
                <a:solidFill>
                  <a:srgbClr val="8A96AD"/>
                </a:solidFill>
                <a:latin typeface="Calibri" pitchFamily="34" charset="0"/>
                <a:ea typeface="Calibri" pitchFamily="34" charset="-122"/>
                <a:cs typeface="Calibri" pitchFamily="34" charset="-120"/>
              </a:rPr>
              <a:t>distinct tours</a:t>
            </a:r>
            <a:endParaRPr lang="en-US" sz="1250" dirty="0"/>
          </a:p>
          <a:p>
            <a:pPr indent="0" marL="0">
              <a:buNone/>
            </a:pPr>
            <a:r>
              <a:rPr lang="en-US" sz="1250" dirty="0">
                <a:solidFill>
                  <a:srgbClr val="E9EDF5"/>
                </a:solidFill>
                <a:latin typeface="Calibri" pitchFamily="34" charset="0"/>
                <a:ea typeface="Calibri" pitchFamily="34" charset="-122"/>
                <a:cs typeface="Calibri" pitchFamily="34" charset="-120"/>
              </a:rPr>
              <a:t>4.4×10</a:t>
            </a:r>
            <a:pPr indent="0" marL="0">
              <a:buNone/>
            </a:pPr>
            <a:r>
              <a:rPr lang="en-US" sz="1250" baseline="30000" dirty="0">
                <a:solidFill>
                  <a:srgbClr val="E9EDF5"/>
                </a:solidFill>
                <a:latin typeface="Calibri" pitchFamily="34" charset="0"/>
                <a:ea typeface="Calibri" pitchFamily="34" charset="-122"/>
                <a:cs typeface="Calibri" pitchFamily="34" charset="-120"/>
              </a:rPr>
              <a:t>10</a:t>
            </a:r>
            <a:pPr indent="0" marL="0">
              <a:buNone/>
            </a:pPr>
            <a:r>
              <a:rPr lang="en-US" sz="1250" dirty="0">
                <a:solidFill>
                  <a:srgbClr val="8A96AD"/>
                </a:solidFill>
                <a:latin typeface="Calibri" pitchFamily="34" charset="0"/>
                <a:ea typeface="Calibri" pitchFamily="34" charset="-122"/>
                <a:cs typeface="Calibri" pitchFamily="34" charset="-120"/>
              </a:rPr>
              <a:t>  at n = 15</a:t>
            </a:r>
            <a:endParaRPr lang="en-US" sz="1250" dirty="0"/>
          </a:p>
          <a:p>
            <a:pPr indent="0" marL="0">
              <a:buNone/>
            </a:pPr>
            <a:r>
              <a:rPr lang="en-US" sz="1250" dirty="0">
                <a:solidFill>
                  <a:srgbClr val="E9EDF5"/>
                </a:solidFill>
                <a:latin typeface="Calibri" pitchFamily="34" charset="0"/>
                <a:ea typeface="Calibri" pitchFamily="34" charset="-122"/>
                <a:cs typeface="Calibri" pitchFamily="34" charset="-120"/>
              </a:rPr>
              <a:t>3.1×10</a:t>
            </a:r>
            <a:pPr indent="0" marL="0">
              <a:buNone/>
            </a:pPr>
            <a:r>
              <a:rPr lang="en-US" sz="1250" baseline="30000" dirty="0">
                <a:solidFill>
                  <a:srgbClr val="E9EDF5"/>
                </a:solidFill>
                <a:latin typeface="Calibri" pitchFamily="34" charset="0"/>
                <a:ea typeface="Calibri" pitchFamily="34" charset="-122"/>
                <a:cs typeface="Calibri" pitchFamily="34" charset="-120"/>
              </a:rPr>
              <a:t>23</a:t>
            </a:r>
            <a:pPr indent="0" marL="0">
              <a:buNone/>
            </a:pPr>
            <a:r>
              <a:rPr lang="en-US" sz="1250" dirty="0">
                <a:solidFill>
                  <a:srgbClr val="8A96AD"/>
                </a:solidFill>
                <a:latin typeface="Calibri" pitchFamily="34" charset="0"/>
                <a:ea typeface="Calibri" pitchFamily="34" charset="-122"/>
                <a:cs typeface="Calibri" pitchFamily="34" charset="-120"/>
              </a:rPr>
              <a:t>  at n = 25</a:t>
            </a:r>
            <a:endParaRPr lang="en-US" sz="1250" dirty="0"/>
          </a:p>
        </p:txBody>
      </p:sp>
      <p:pic>
        <p:nvPicPr>
          <p:cNvPr id="30" name="Image 5" descr="hk">    </p:cNvPr>
          <p:cNvPicPr>
            <a:picLocks noChangeAspect="1"/>
          </p:cNvPicPr>
          <p:nvPr/>
        </p:nvPicPr>
        <p:blipFill>
          <a:blip r:embed="rId6"/>
          <a:stretch>
            <a:fillRect/>
          </a:stretch>
        </p:blipFill>
        <p:spPr>
          <a:xfrm>
            <a:off x="6903720" y="3611880"/>
            <a:ext cx="776018" cy="274320"/>
          </a:xfrm>
          <a:prstGeom prst="rect">
            <a:avLst/>
          </a:prstGeom>
        </p:spPr>
      </p:pic>
      <p:sp>
        <p:nvSpPr>
          <p:cNvPr id="31" name="Text 22"/>
          <p:cNvSpPr txBox="1"/>
          <p:nvPr/>
        </p:nvSpPr>
        <p:spPr>
          <a:xfrm>
            <a:off x="8001000" y="3474720"/>
            <a:ext cx="3291840" cy="594360"/>
          </a:xfrm>
          <a:prstGeom prst="rect">
            <a:avLst/>
          </a:prstGeom>
          <a:noFill/>
          <a:ln/>
        </p:spPr>
        <p:txBody>
          <a:bodyPr wrap="square" lIns="0" tIns="0" rIns="0" bIns="0" rtlCol="0" anchor="ctr"/>
          <a:lstStyle/>
          <a:p>
            <a:pPr indent="0" marL="0">
              <a:buNone/>
            </a:pPr>
            <a:r>
              <a:rPr lang="en-US" sz="1150" dirty="0">
                <a:solidFill>
                  <a:srgbClr val="C3CCDC"/>
                </a:solidFill>
                <a:latin typeface="Calibri" pitchFamily="34" charset="0"/>
                <a:ea typeface="Calibri" pitchFamily="34" charset="-122"/>
                <a:cs typeface="Calibri" pitchFamily="34" charset="-120"/>
              </a:rPr>
              <a:t>at n = 25: ≈ 2×10</a:t>
            </a:r>
            <a:pPr indent="0" marL="0">
              <a:buNone/>
            </a:pPr>
            <a:r>
              <a:rPr lang="en-US" sz="1150" baseline="30000" dirty="0">
                <a:solidFill>
                  <a:srgbClr val="C3CCDC"/>
                </a:solidFill>
                <a:latin typeface="Calibri" pitchFamily="34" charset="0"/>
                <a:ea typeface="Calibri" pitchFamily="34" charset="-122"/>
                <a:cs typeface="Calibri" pitchFamily="34" charset="-120"/>
              </a:rPr>
              <a:t>10</a:t>
            </a:r>
            <a:pPr indent="0" marL="0">
              <a:buNone/>
            </a:pPr>
            <a:r>
              <a:rPr lang="en-US" sz="1150" dirty="0">
                <a:solidFill>
                  <a:srgbClr val="C3CCDC"/>
                </a:solidFill>
                <a:latin typeface="Calibri" pitchFamily="34" charset="0"/>
                <a:ea typeface="Calibri" pitchFamily="34" charset="-122"/>
                <a:cs typeface="Calibri" pitchFamily="34" charset="-120"/>
              </a:rPr>
              <a:t> operations, ≈ 8×10</a:t>
            </a:r>
            <a:pPr indent="0" marL="0">
              <a:buNone/>
            </a:pPr>
            <a:r>
              <a:rPr lang="en-US" sz="1150" baseline="30000" dirty="0">
                <a:solidFill>
                  <a:srgbClr val="C3CCDC"/>
                </a:solidFill>
                <a:latin typeface="Calibri" pitchFamily="34" charset="0"/>
                <a:ea typeface="Calibri" pitchFamily="34" charset="-122"/>
                <a:cs typeface="Calibri" pitchFamily="34" charset="-120"/>
              </a:rPr>
              <a:t>8</a:t>
            </a:r>
            <a:pPr indent="0" marL="0">
              <a:buNone/>
            </a:pPr>
            <a:r>
              <a:rPr lang="en-US" sz="1150" dirty="0">
                <a:solidFill>
                  <a:srgbClr val="C3CCDC"/>
                </a:solidFill>
                <a:latin typeface="Calibri" pitchFamily="34" charset="0"/>
                <a:ea typeface="Calibri" pitchFamily="34" charset="-122"/>
                <a:cs typeface="Calibri" pitchFamily="34" charset="-120"/>
              </a:rPr>
              <a:t> table entries (several GB)</a:t>
            </a:r>
            <a:endParaRPr lang="en-US" sz="1150" dirty="0"/>
          </a:p>
        </p:txBody>
      </p:sp>
      <p:sp>
        <p:nvSpPr>
          <p:cNvPr id="32" name="Shape 23"/>
          <p:cNvSpPr/>
          <p:nvPr/>
        </p:nvSpPr>
        <p:spPr>
          <a:xfrm>
            <a:off x="6675120" y="4434840"/>
            <a:ext cx="4709160" cy="1600200"/>
          </a:xfrm>
          <a:prstGeom prst="roundRect">
            <a:avLst>
              <a:gd name="adj" fmla="val 4571"/>
            </a:avLst>
          </a:prstGeom>
          <a:solidFill>
            <a:srgbClr val="182033"/>
          </a:solidFill>
          <a:ln w="9525">
            <a:solidFill>
              <a:srgbClr val="5A4424"/>
            </a:solidFill>
            <a:prstDash val="solid"/>
          </a:ln>
        </p:spPr>
      </p:sp>
      <p:sp>
        <p:nvSpPr>
          <p:cNvPr id="33" name="Text 24"/>
          <p:cNvSpPr txBox="1"/>
          <p:nvPr/>
        </p:nvSpPr>
        <p:spPr>
          <a:xfrm>
            <a:off x="6876288" y="4553712"/>
            <a:ext cx="3291840" cy="274320"/>
          </a:xfrm>
          <a:prstGeom prst="rect">
            <a:avLst/>
          </a:prstGeom>
          <a:noFill/>
          <a:ln/>
        </p:spPr>
        <p:txBody>
          <a:bodyPr wrap="square" lIns="0" tIns="0" rIns="0" bIns="0" rtlCol="0" anchor="ctr"/>
          <a:lstStyle/>
          <a:p>
            <a:pPr indent="0" marL="0">
              <a:buNone/>
            </a:pPr>
            <a:r>
              <a:rPr lang="en-US" sz="1350" b="1" dirty="0">
                <a:solidFill>
                  <a:srgbClr val="F39C34"/>
                </a:solidFill>
                <a:latin typeface="Calibri" pitchFamily="34" charset="0"/>
                <a:ea typeface="Calibri" pitchFamily="34" charset="-122"/>
                <a:cs typeface="Calibri" pitchFamily="34" charset="-120"/>
              </a:rPr>
              <a:t>Ant System / this project</a:t>
            </a:r>
            <a:endParaRPr lang="en-US" sz="1350" dirty="0"/>
          </a:p>
        </p:txBody>
      </p:sp>
      <p:pic>
        <p:nvPicPr>
          <p:cNvPr id="34" name="Image 6" descr="as">    </p:cNvPr>
          <p:cNvPicPr>
            <a:picLocks noChangeAspect="1"/>
          </p:cNvPicPr>
          <p:nvPr/>
        </p:nvPicPr>
        <p:blipFill>
          <a:blip r:embed="rId7"/>
          <a:stretch>
            <a:fillRect/>
          </a:stretch>
        </p:blipFill>
        <p:spPr>
          <a:xfrm>
            <a:off x="6903720" y="4956048"/>
            <a:ext cx="990193" cy="274320"/>
          </a:xfrm>
          <a:prstGeom prst="rect">
            <a:avLst/>
          </a:prstGeom>
        </p:spPr>
      </p:pic>
      <p:sp>
        <p:nvSpPr>
          <p:cNvPr id="35" name="Text 25"/>
          <p:cNvSpPr txBox="1"/>
          <p:nvPr/>
        </p:nvSpPr>
        <p:spPr>
          <a:xfrm>
            <a:off x="8001000" y="4937760"/>
            <a:ext cx="1828800" cy="310896"/>
          </a:xfrm>
          <a:prstGeom prst="rect">
            <a:avLst/>
          </a:prstGeom>
          <a:noFill/>
          <a:ln/>
        </p:spPr>
        <p:txBody>
          <a:bodyPr wrap="square" lIns="0" tIns="0" rIns="0" bIns="0" rtlCol="0" anchor="ctr"/>
          <a:lstStyle/>
          <a:p>
            <a:pPr indent="0" marL="0">
              <a:buNone/>
            </a:pPr>
            <a:r>
              <a:rPr lang="en-US" sz="1200" dirty="0">
                <a:solidFill>
                  <a:srgbClr val="8A96AD"/>
                </a:solidFill>
                <a:latin typeface="Calibri" pitchFamily="34" charset="0"/>
                <a:ea typeface="Calibri" pitchFamily="34" charset="-122"/>
                <a:cs typeface="Calibri" pitchFamily="34" charset="-120"/>
              </a:rPr>
              <a:t>per iteration</a:t>
            </a:r>
            <a:endParaRPr lang="en-US" sz="1200" dirty="0"/>
          </a:p>
        </p:txBody>
      </p:sp>
      <p:sp>
        <p:nvSpPr>
          <p:cNvPr id="36" name="Text 26"/>
          <p:cNvSpPr txBox="1"/>
          <p:nvPr/>
        </p:nvSpPr>
        <p:spPr>
          <a:xfrm>
            <a:off x="6903720" y="5394960"/>
            <a:ext cx="4389120" cy="365760"/>
          </a:xfrm>
          <a:prstGeom prst="rect">
            <a:avLst/>
          </a:prstGeom>
          <a:noFill/>
          <a:ln/>
        </p:spPr>
        <p:txBody>
          <a:bodyPr wrap="square" lIns="0" tIns="0" rIns="0" bIns="0" rtlCol="0" anchor="ctr"/>
          <a:lstStyle/>
          <a:p>
            <a:pPr indent="0" marL="0">
              <a:buNone/>
            </a:pPr>
            <a:r>
              <a:rPr lang="en-US" sz="1250" dirty="0">
                <a:solidFill>
                  <a:srgbClr val="E9EDF5"/>
                </a:solidFill>
                <a:latin typeface="Calibri" pitchFamily="34" charset="0"/>
                <a:ea typeface="Calibri" pitchFamily="34" charset="-122"/>
                <a:cs typeface="Calibri" pitchFamily="34" charset="-120"/>
              </a:rPr>
              <a:t>Within </a:t>
            </a:r>
            <a:pPr indent="0" marL="0">
              <a:buNone/>
            </a:pPr>
            <a:r>
              <a:rPr lang="en-US" sz="1250" b="1" dirty="0">
                <a:solidFill>
                  <a:srgbClr val="F39C34"/>
                </a:solidFill>
                <a:latin typeface="Calibri" pitchFamily="34" charset="0"/>
                <a:ea typeface="Calibri" pitchFamily="34" charset="-122"/>
                <a:cs typeface="Calibri" pitchFamily="34" charset="-120"/>
              </a:rPr>
              <a:t>0.7%</a:t>
            </a:r>
            <a:pPr indent="0" marL="0">
              <a:buNone/>
            </a:pPr>
            <a:r>
              <a:rPr lang="en-US" sz="1250" dirty="0">
                <a:solidFill>
                  <a:srgbClr val="E9EDF5"/>
                </a:solidFill>
                <a:latin typeface="Calibri" pitchFamily="34" charset="0"/>
                <a:ea typeface="Calibri" pitchFamily="34" charset="-122"/>
                <a:cs typeface="Calibri" pitchFamily="34" charset="-120"/>
              </a:rPr>
              <a:t> of the optimum on average (slide 18)</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01</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01</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Problem Formulation</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The TSP as a minimization problem over two natID dense matrices</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TSP objective &amp; constraint</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Real-town instances and distance model</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Distance &amp; pheromone matrices</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03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01 · PROBLEM FORMULATION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TSP Objective &amp; Problem Instance</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Real geography, with air distances within ±2% of great-circle distance.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Problem Formulation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04 / 23</a:t>
            </a:r>
            <a:endParaRPr lang="en-US" sz="900" dirty="0"/>
          </a:p>
        </p:txBody>
      </p:sp>
      <p:sp>
        <p:nvSpPr>
          <p:cNvPr id="11" name="Shape 7"/>
          <p:cNvSpPr/>
          <p:nvPr/>
        </p:nvSpPr>
        <p:spPr>
          <a:xfrm>
            <a:off x="548640" y="1691640"/>
            <a:ext cx="6400800" cy="4526280"/>
          </a:xfrm>
          <a:prstGeom prst="roundRect">
            <a:avLst>
              <a:gd name="adj" fmla="val 1616"/>
            </a:avLst>
          </a:prstGeom>
          <a:solidFill>
            <a:srgbClr val="141B2B"/>
          </a:solidFill>
          <a:ln w="9525">
            <a:solidFill>
              <a:srgbClr val="2A3550"/>
            </a:solidFill>
            <a:prstDash val="solid"/>
          </a:ln>
        </p:spPr>
      </p:sp>
      <p:sp>
        <p:nvSpPr>
          <p:cNvPr id="12" name="Text 8"/>
          <p:cNvSpPr txBox="1"/>
          <p:nvPr/>
        </p:nvSpPr>
        <p:spPr>
          <a:xfrm>
            <a:off x="822960" y="1874520"/>
            <a:ext cx="2743200" cy="228600"/>
          </a:xfrm>
          <a:prstGeom prst="rect">
            <a:avLst/>
          </a:prstGeom>
          <a:noFill/>
          <a:ln/>
        </p:spPr>
        <p:txBody>
          <a:bodyPr wrap="square" lIns="0" tIns="0" rIns="0" bIns="0" rtlCol="0" anchor="t"/>
          <a:lstStyle/>
          <a:p>
            <a:pPr indent="0" marL="0">
              <a:buNone/>
            </a:pPr>
            <a:r>
              <a:rPr lang="en-US" sz="1000" b="1" spc="250" kern="0" dirty="0">
                <a:solidFill>
                  <a:srgbClr val="8A96AD"/>
                </a:solidFill>
                <a:latin typeface="Calibri" pitchFamily="34" charset="0"/>
                <a:ea typeface="Calibri" pitchFamily="34" charset="-122"/>
                <a:cs typeface="Calibri" pitchFamily="34" charset="-120"/>
              </a:rPr>
              <a:t>OBJECTIVE</a:t>
            </a:r>
            <a:endParaRPr lang="en-US" sz="1000" dirty="0"/>
          </a:p>
        </p:txBody>
      </p:sp>
      <p:pic>
        <p:nvPicPr>
          <p:cNvPr id="13" name="Image 1" descr="obj">    </p:cNvPr>
          <p:cNvPicPr>
            <a:picLocks noChangeAspect="1"/>
          </p:cNvPicPr>
          <p:nvPr/>
        </p:nvPicPr>
        <p:blipFill>
          <a:blip r:embed="rId2"/>
          <a:stretch>
            <a:fillRect/>
          </a:stretch>
        </p:blipFill>
        <p:spPr>
          <a:xfrm>
            <a:off x="1945911" y="2240280"/>
            <a:ext cx="3606258" cy="932688"/>
          </a:xfrm>
          <a:prstGeom prst="rect">
            <a:avLst/>
          </a:prstGeom>
        </p:spPr>
      </p:pic>
      <p:pic>
        <p:nvPicPr>
          <p:cNvPr id="14" name="Image 2" descr="st">    </p:cNvPr>
          <p:cNvPicPr>
            <a:picLocks noChangeAspect="1"/>
          </p:cNvPicPr>
          <p:nvPr/>
        </p:nvPicPr>
        <p:blipFill>
          <a:blip r:embed="rId3"/>
          <a:stretch>
            <a:fillRect/>
          </a:stretch>
        </p:blipFill>
        <p:spPr>
          <a:xfrm>
            <a:off x="1987941" y="3291840"/>
            <a:ext cx="3522198" cy="274320"/>
          </a:xfrm>
          <a:prstGeom prst="rect">
            <a:avLst/>
          </a:prstGeom>
        </p:spPr>
      </p:pic>
      <p:sp>
        <p:nvSpPr>
          <p:cNvPr id="15" name="Shape 9"/>
          <p:cNvSpPr/>
          <p:nvPr/>
        </p:nvSpPr>
        <p:spPr>
          <a:xfrm>
            <a:off x="868680" y="3931920"/>
            <a:ext cx="5760720" cy="0"/>
          </a:xfrm>
          <a:prstGeom prst="line">
            <a:avLst/>
          </a:prstGeom>
          <a:noFill/>
          <a:ln w="9525">
            <a:solidFill>
              <a:srgbClr val="2A3550"/>
            </a:solidFill>
            <a:prstDash val="solid"/>
          </a:ln>
        </p:spPr>
      </p:sp>
      <p:sp>
        <p:nvSpPr>
          <p:cNvPr id="16" name="Text 10"/>
          <p:cNvSpPr txBox="1"/>
          <p:nvPr/>
        </p:nvSpPr>
        <p:spPr>
          <a:xfrm>
            <a:off x="822960" y="4114800"/>
            <a:ext cx="5486400" cy="228600"/>
          </a:xfrm>
          <a:prstGeom prst="rect">
            <a:avLst/>
          </a:prstGeom>
          <a:noFill/>
          <a:ln/>
        </p:spPr>
        <p:txBody>
          <a:bodyPr wrap="square" lIns="0" tIns="0" rIns="0" bIns="0" rtlCol="0" anchor="t"/>
          <a:lstStyle/>
          <a:p>
            <a:pPr indent="0" marL="0">
              <a:buNone/>
            </a:pPr>
            <a:r>
              <a:rPr lang="en-US" sz="1000" b="1" spc="200" kern="0" dirty="0">
                <a:solidFill>
                  <a:srgbClr val="8A96AD"/>
                </a:solidFill>
                <a:latin typeface="Calibri" pitchFamily="34" charset="0"/>
                <a:ea typeface="Calibri" pitchFamily="34" charset="-122"/>
                <a:cs typeface="Calibri" pitchFamily="34" charset="-120"/>
              </a:rPr>
              <a:t>DISTANCE MODEL  (λ longitude, φ latitude, degrees)</a:t>
            </a:r>
            <a:endParaRPr lang="en-US" sz="1000" dirty="0"/>
          </a:p>
        </p:txBody>
      </p:sp>
      <p:pic>
        <p:nvPicPr>
          <p:cNvPr id="17" name="Image 3" descr="dist">    </p:cNvPr>
          <p:cNvPicPr>
            <a:picLocks noChangeAspect="1"/>
          </p:cNvPicPr>
          <p:nvPr/>
        </p:nvPicPr>
        <p:blipFill>
          <a:blip r:embed="rId4"/>
          <a:stretch>
            <a:fillRect/>
          </a:stretch>
        </p:blipFill>
        <p:spPr>
          <a:xfrm>
            <a:off x="1259384" y="4754880"/>
            <a:ext cx="4979312" cy="530352"/>
          </a:xfrm>
          <a:prstGeom prst="rect">
            <a:avLst/>
          </a:prstGeom>
        </p:spPr>
      </p:pic>
      <p:sp>
        <p:nvSpPr>
          <p:cNvPr id="18" name="Shape 11"/>
          <p:cNvSpPr/>
          <p:nvPr/>
        </p:nvSpPr>
        <p:spPr>
          <a:xfrm>
            <a:off x="7223760" y="1691640"/>
            <a:ext cx="4434840" cy="640080"/>
          </a:xfrm>
          <a:prstGeom prst="roundRect">
            <a:avLst>
              <a:gd name="adj" fmla="val 50000"/>
            </a:avLst>
          </a:prstGeom>
          <a:solidFill>
            <a:srgbClr val="182033"/>
          </a:solidFill>
          <a:ln w="9525">
            <a:solidFill>
              <a:srgbClr val="2A3550"/>
            </a:solidFill>
            <a:prstDash val="solid"/>
          </a:ln>
        </p:spPr>
      </p:sp>
      <p:pic>
        <p:nvPicPr>
          <p:cNvPr id="19" name="Image 4" descr="preencoded.png">    </p:cNvPr>
          <p:cNvPicPr>
            <a:picLocks noChangeAspect="1"/>
          </p:cNvPicPr>
          <p:nvPr/>
        </p:nvPicPr>
        <p:blipFill>
          <a:blip r:embed="rId5"/>
          <a:stretch>
            <a:fillRect/>
          </a:stretch>
        </p:blipFill>
        <p:spPr>
          <a:xfrm>
            <a:off x="7452360" y="1874520"/>
            <a:ext cx="274320" cy="274320"/>
          </a:xfrm>
          <a:prstGeom prst="rect">
            <a:avLst/>
          </a:prstGeom>
        </p:spPr>
      </p:pic>
      <p:sp>
        <p:nvSpPr>
          <p:cNvPr id="20" name="Text 12"/>
          <p:cNvSpPr txBox="1"/>
          <p:nvPr/>
        </p:nvSpPr>
        <p:spPr>
          <a:xfrm>
            <a:off x="7909560" y="1691640"/>
            <a:ext cx="3657600" cy="640080"/>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99 real towns  </a:t>
            </a:r>
            <a:pPr indent="0" marL="0">
              <a:buNone/>
            </a:pPr>
            <a:r>
              <a:rPr lang="en-US" sz="1400" dirty="0">
                <a:solidFill>
                  <a:srgbClr val="8A96AD"/>
                </a:solidFill>
                <a:latin typeface="Calibri" pitchFamily="34" charset="0"/>
                <a:ea typeface="Calibri" pitchFamily="34" charset="-122"/>
                <a:cs typeface="Calibri" pitchFamily="34" charset="-120"/>
              </a:rPr>
              <a:t>(Bosnia.xml)</a:t>
            </a:r>
            <a:endParaRPr lang="en-US" sz="1400" dirty="0"/>
          </a:p>
        </p:txBody>
      </p:sp>
      <p:sp>
        <p:nvSpPr>
          <p:cNvPr id="21" name="Shape 13"/>
          <p:cNvSpPr/>
          <p:nvPr/>
        </p:nvSpPr>
        <p:spPr>
          <a:xfrm>
            <a:off x="7223760" y="2478024"/>
            <a:ext cx="4434840" cy="640080"/>
          </a:xfrm>
          <a:prstGeom prst="roundRect">
            <a:avLst>
              <a:gd name="adj" fmla="val 50000"/>
            </a:avLst>
          </a:prstGeom>
          <a:solidFill>
            <a:srgbClr val="182033"/>
          </a:solidFill>
          <a:ln w="9525">
            <a:solidFill>
              <a:srgbClr val="2A3550"/>
            </a:solidFill>
            <a:prstDash val="solid"/>
          </a:ln>
        </p:spPr>
      </p:sp>
      <p:pic>
        <p:nvPicPr>
          <p:cNvPr id="22" name="Image 5" descr="preencoded.png">    </p:cNvPr>
          <p:cNvPicPr>
            <a:picLocks noChangeAspect="1"/>
          </p:cNvPicPr>
          <p:nvPr/>
        </p:nvPicPr>
        <p:blipFill>
          <a:blip r:embed="rId6"/>
          <a:stretch>
            <a:fillRect/>
          </a:stretch>
        </p:blipFill>
        <p:spPr>
          <a:xfrm>
            <a:off x="7452360" y="2660904"/>
            <a:ext cx="274320" cy="274320"/>
          </a:xfrm>
          <a:prstGeom prst="rect">
            <a:avLst/>
          </a:prstGeom>
        </p:spPr>
      </p:pic>
      <p:sp>
        <p:nvSpPr>
          <p:cNvPr id="23" name="Text 14"/>
          <p:cNvSpPr txBox="1"/>
          <p:nvPr/>
        </p:nvSpPr>
        <p:spPr>
          <a:xfrm>
            <a:off x="7909560" y="2478024"/>
            <a:ext cx="3657600" cy="640080"/>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n drawn uniformly  </a:t>
            </a:r>
            <a:pPr indent="0" marL="0">
              <a:buNone/>
            </a:pPr>
            <a:r>
              <a:rPr lang="en-US" sz="1400" dirty="0">
                <a:solidFill>
                  <a:srgbClr val="8A96AD"/>
                </a:solidFill>
                <a:latin typeface="Calibri" pitchFamily="34" charset="0"/>
                <a:ea typeface="Calibri" pitchFamily="34" charset="-122"/>
                <a:cs typeface="Calibri" pitchFamily="34" charset="-120"/>
              </a:rPr>
              <a:t>from 15–25</a:t>
            </a:r>
            <a:endParaRPr lang="en-US" sz="1400" dirty="0"/>
          </a:p>
        </p:txBody>
      </p:sp>
      <p:sp>
        <p:nvSpPr>
          <p:cNvPr id="24" name="Shape 15"/>
          <p:cNvSpPr/>
          <p:nvPr/>
        </p:nvSpPr>
        <p:spPr>
          <a:xfrm>
            <a:off x="7223760" y="3264408"/>
            <a:ext cx="4434840" cy="640080"/>
          </a:xfrm>
          <a:prstGeom prst="roundRect">
            <a:avLst>
              <a:gd name="adj" fmla="val 50000"/>
            </a:avLst>
          </a:prstGeom>
          <a:solidFill>
            <a:srgbClr val="182033"/>
          </a:solidFill>
          <a:ln w="9525">
            <a:solidFill>
              <a:srgbClr val="2A3550"/>
            </a:solidFill>
            <a:prstDash val="solid"/>
          </a:ln>
        </p:spPr>
      </p:sp>
      <p:pic>
        <p:nvPicPr>
          <p:cNvPr id="25" name="Image 6" descr="preencoded.png">    </p:cNvPr>
          <p:cNvPicPr>
            <a:picLocks noChangeAspect="1"/>
          </p:cNvPicPr>
          <p:nvPr/>
        </p:nvPicPr>
        <p:blipFill>
          <a:blip r:embed="rId7"/>
          <a:stretch>
            <a:fillRect/>
          </a:stretch>
        </p:blipFill>
        <p:spPr>
          <a:xfrm>
            <a:off x="7452360" y="3447288"/>
            <a:ext cx="274320" cy="274320"/>
          </a:xfrm>
          <a:prstGeom prst="rect">
            <a:avLst/>
          </a:prstGeom>
        </p:spPr>
      </p:pic>
      <p:sp>
        <p:nvSpPr>
          <p:cNvPr id="26" name="Text 16"/>
          <p:cNvSpPr txBox="1"/>
          <p:nvPr/>
        </p:nvSpPr>
        <p:spPr>
          <a:xfrm>
            <a:off x="7909560" y="3264408"/>
            <a:ext cx="3657600" cy="640080"/>
          </a:xfrm>
          <a:prstGeom prst="rect">
            <a:avLst/>
          </a:prstGeom>
          <a:noFill/>
          <a:ln/>
        </p:spPr>
        <p:txBody>
          <a:bodyPr wrap="square" lIns="0" tIns="0" rIns="0" bIns="0" rtlCol="0" anchor="ctr"/>
          <a:lstStyle/>
          <a:p>
            <a:pPr indent="0" marL="0">
              <a:buNone/>
            </a:pPr>
            <a:r>
              <a:rPr lang="en-US" sz="1400" b="1" dirty="0">
                <a:solidFill>
                  <a:srgbClr val="E9EDF5"/>
                </a:solidFill>
                <a:latin typeface="Consolas" pitchFamily="34" charset="0"/>
                <a:ea typeface="Consolas" pitchFamily="34" charset="-122"/>
                <a:cs typeface="Consolas" pitchFamily="34" charset="-120"/>
              </a:rPr>
              <a:t>80 ≈ 111.3·cos 44.2°  </a:t>
            </a:r>
            <a:pPr indent="0" marL="0">
              <a:buNone/>
            </a:pPr>
            <a:endParaRPr lang="en-US" sz="1400" dirty="0"/>
          </a:p>
        </p:txBody>
      </p:sp>
      <p:sp>
        <p:nvSpPr>
          <p:cNvPr id="27" name="Shape 17"/>
          <p:cNvSpPr/>
          <p:nvPr/>
        </p:nvSpPr>
        <p:spPr>
          <a:xfrm>
            <a:off x="7223760" y="4160520"/>
            <a:ext cx="4434840" cy="2057400"/>
          </a:xfrm>
          <a:prstGeom prst="roundRect">
            <a:avLst>
              <a:gd name="adj" fmla="val 3556"/>
            </a:avLst>
          </a:prstGeom>
          <a:solidFill>
            <a:srgbClr val="182033"/>
          </a:solidFill>
          <a:ln w="9525">
            <a:solidFill>
              <a:srgbClr val="2F5A48"/>
            </a:solidFill>
            <a:prstDash val="solid"/>
          </a:ln>
        </p:spPr>
      </p:sp>
      <p:sp>
        <p:nvSpPr>
          <p:cNvPr id="28" name="Text 18"/>
          <p:cNvSpPr txBox="1"/>
          <p:nvPr/>
        </p:nvSpPr>
        <p:spPr>
          <a:xfrm>
            <a:off x="7452360" y="4315968"/>
            <a:ext cx="4023360" cy="228600"/>
          </a:xfrm>
          <a:prstGeom prst="rect">
            <a:avLst/>
          </a:prstGeom>
          <a:noFill/>
          <a:ln/>
        </p:spPr>
        <p:txBody>
          <a:bodyPr wrap="square" lIns="0" tIns="0" rIns="0" bIns="0" rtlCol="0" anchor="t"/>
          <a:lstStyle/>
          <a:p>
            <a:pPr indent="0" marL="0">
              <a:buNone/>
            </a:pPr>
            <a:r>
              <a:rPr lang="en-US" sz="1000" b="1" spc="200" kern="0" dirty="0">
                <a:solidFill>
                  <a:srgbClr val="4CC38A"/>
                </a:solidFill>
                <a:latin typeface="Calibri" pitchFamily="34" charset="0"/>
                <a:ea typeface="Calibri" pitchFamily="34" charset="-122"/>
                <a:cs typeface="Calibri" pitchFamily="34" charset="-120"/>
              </a:rPr>
              <a:t>VS. HAVERSINE (GREAT-CIRCLE)</a:t>
            </a:r>
            <a:endParaRPr lang="en-US" sz="1000" dirty="0"/>
          </a:p>
        </p:txBody>
      </p:sp>
      <p:sp>
        <p:nvSpPr>
          <p:cNvPr id="29" name="Text 19"/>
          <p:cNvSpPr txBox="1"/>
          <p:nvPr/>
        </p:nvSpPr>
        <p:spPr>
          <a:xfrm>
            <a:off x="7452360" y="4645152"/>
            <a:ext cx="4023360" cy="1417320"/>
          </a:xfrm>
          <a:prstGeom prst="rect">
            <a:avLst/>
          </a:prstGeom>
          <a:noFill/>
          <a:ln/>
        </p:spPr>
        <p:txBody>
          <a:bodyPr wrap="square" lIns="0" tIns="0" rIns="0" bIns="0" rtlCol="0" anchor="t"/>
          <a:lstStyle/>
          <a:p>
            <a:pPr indent="0" marL="0">
              <a:spcAft>
                <a:spcPts val="400"/>
              </a:spcAft>
              <a:buNone/>
            </a:pPr>
            <a:r>
              <a:rPr lang="en-US" sz="1400" b="1" dirty="0">
                <a:solidFill>
                  <a:srgbClr val="E9EDF5"/>
                </a:solidFill>
                <a:latin typeface="Calibri" pitchFamily="34" charset="0"/>
                <a:ea typeface="Calibri" pitchFamily="34" charset="-122"/>
                <a:cs typeface="Calibri" pitchFamily="34" charset="-120"/>
              </a:rPr>
              <a:t>4,755 pairs &gt; 20 km</a:t>
            </a:r>
            <a:endParaRPr lang="en-US" sz="1400" dirty="0"/>
          </a:p>
          <a:p>
            <a:pPr indent="0" marL="0">
              <a:spcAft>
                <a:spcPts val="400"/>
              </a:spcAft>
              <a:buNone/>
            </a:pPr>
            <a:r>
              <a:rPr lang="en-US" sz="2200" b="1" dirty="0">
                <a:solidFill>
                  <a:srgbClr val="F39C34"/>
                </a:solidFill>
                <a:latin typeface="Calibri" pitchFamily="34" charset="0"/>
                <a:ea typeface="Calibri" pitchFamily="34" charset="-122"/>
                <a:cs typeface="Calibri" pitchFamily="34" charset="-120"/>
              </a:rPr>
              <a:t>−1.8% to +2.0%</a:t>
            </a:r>
            <a:endParaRPr lang="en-US" sz="1400" dirty="0"/>
          </a:p>
          <a:p>
            <a:pPr indent="0" marL="0">
              <a:spcAft>
                <a:spcPts val="400"/>
              </a:spcAft>
              <a:buNone/>
            </a:pPr>
            <a:r>
              <a:rPr lang="en-US" sz="1400" dirty="0">
                <a:solidFill>
                  <a:srgbClr val="C3CCDC"/>
                </a:solidFill>
                <a:latin typeface="Calibri" pitchFamily="34" charset="0"/>
                <a:ea typeface="Calibri" pitchFamily="34" charset="-122"/>
                <a:cs typeface="Calibri" pitchFamily="34" charset="-120"/>
              </a:rPr>
              <a:t>mean |error| 0.4%  ·  max 4.7 km</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01 · PROBLEM FORMULATION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Distance &amp; Pheromone Matrices (natID)</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All three matrices are </a:t>
            </a:r>
            <a:pPr indent="0" marL="0">
              <a:buNone/>
            </a:pPr>
            <a:r>
              <a:rPr lang="en-US" sz="1500" b="1" dirty="0">
                <a:solidFill>
                  <a:srgbClr val="F2D08A"/>
                </a:solidFill>
                <a:latin typeface="Consolas" pitchFamily="34" charset="0"/>
                <a:ea typeface="Consolas" pitchFamily="34" charset="-122"/>
                <a:cs typeface="Consolas" pitchFamily="34" charset="-120"/>
              </a:rPr>
              <a:t>dense::DblMatrix</a:t>
            </a:r>
            <a:pPr indent="0" marL="0">
              <a:buNone/>
            </a:pPr>
            <a:r>
              <a:rPr lang="en-US" sz="1500" b="1" dirty="0">
                <a:solidFill>
                  <a:srgbClr val="C3CCDC"/>
                </a:solidFill>
                <a:latin typeface="Calibri" pitchFamily="34" charset="0"/>
                <a:ea typeface="Calibri" pitchFamily="34" charset="-122"/>
                <a:cs typeface="Calibri" pitchFamily="34" charset="-120"/>
              </a:rPr>
              <a:t>, and evaporation and deposit act on them directly.</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Problem Formulation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05 / 23</a:t>
            </a:r>
            <a:endParaRPr lang="en-US" sz="900" dirty="0"/>
          </a:p>
        </p:txBody>
      </p:sp>
      <p:sp>
        <p:nvSpPr>
          <p:cNvPr id="11" name="Shape 7"/>
          <p:cNvSpPr/>
          <p:nvPr/>
        </p:nvSpPr>
        <p:spPr>
          <a:xfrm>
            <a:off x="548640" y="1691640"/>
            <a:ext cx="3520440" cy="3703320"/>
          </a:xfrm>
          <a:prstGeom prst="roundRect">
            <a:avLst>
              <a:gd name="adj" fmla="val 2078"/>
            </a:avLst>
          </a:prstGeom>
          <a:solidFill>
            <a:srgbClr val="182033"/>
          </a:solidFill>
          <a:ln w="9525">
            <a:solidFill>
              <a:srgbClr val="2A3550"/>
            </a:solidFill>
            <a:prstDash val="solid"/>
          </a:ln>
        </p:spPr>
      </p:sp>
      <p:sp>
        <p:nvSpPr>
          <p:cNvPr id="12" name="Text 8"/>
          <p:cNvSpPr txBox="1"/>
          <p:nvPr/>
        </p:nvSpPr>
        <p:spPr>
          <a:xfrm>
            <a:off x="777240" y="1828800"/>
            <a:ext cx="3017520" cy="201168"/>
          </a:xfrm>
          <a:prstGeom prst="rect">
            <a:avLst/>
          </a:prstGeom>
          <a:noFill/>
          <a:ln/>
        </p:spPr>
        <p:txBody>
          <a:bodyPr wrap="square" lIns="0" tIns="0" rIns="0" bIns="0" rtlCol="0" anchor="t"/>
          <a:lstStyle/>
          <a:p>
            <a:pPr indent="0" marL="0">
              <a:buNone/>
            </a:pPr>
            <a:r>
              <a:rPr lang="en-US" sz="950" dirty="0">
                <a:solidFill>
                  <a:srgbClr val="8A96AD"/>
                </a:solidFill>
                <a:latin typeface="Consolas" pitchFamily="34" charset="0"/>
                <a:ea typeface="Consolas" pitchFamily="34" charset="-122"/>
                <a:cs typeface="Consolas" pitchFamily="34" charset="-120"/>
              </a:rPr>
              <a:t>dense::DblMatrix</a:t>
            </a:r>
            <a:endParaRPr lang="en-US" sz="950" dirty="0"/>
          </a:p>
        </p:txBody>
      </p:sp>
      <p:sp>
        <p:nvSpPr>
          <p:cNvPr id="13" name="Text 9"/>
          <p:cNvSpPr txBox="1"/>
          <p:nvPr/>
        </p:nvSpPr>
        <p:spPr>
          <a:xfrm>
            <a:off x="777240" y="2029968"/>
            <a:ext cx="3108960" cy="347472"/>
          </a:xfrm>
          <a:prstGeom prst="rect">
            <a:avLst/>
          </a:prstGeom>
          <a:noFill/>
          <a:ln/>
        </p:spPr>
        <p:txBody>
          <a:bodyPr wrap="square" lIns="0" tIns="0" rIns="0" bIns="0" rtlCol="0" anchor="ctr"/>
          <a:lstStyle/>
          <a:p>
            <a:pPr indent="0" marL="0">
              <a:buNone/>
            </a:pPr>
            <a:r>
              <a:rPr lang="en-US" sz="1700" b="1" dirty="0">
                <a:solidFill>
                  <a:srgbClr val="7FA7E8"/>
                </a:solidFill>
                <a:latin typeface="Consolas" pitchFamily="34" charset="0"/>
                <a:ea typeface="Consolas" pitchFamily="34" charset="-122"/>
                <a:cs typeface="Consolas" pitchFamily="34" charset="-120"/>
              </a:rPr>
              <a:t>_dist</a:t>
            </a:r>
            <a:endParaRPr lang="en-US" sz="1700" dirty="0"/>
          </a:p>
        </p:txBody>
      </p:sp>
      <p:sp>
        <p:nvSpPr>
          <p:cNvPr id="14" name="Text 10"/>
          <p:cNvSpPr txBox="1"/>
          <p:nvPr/>
        </p:nvSpPr>
        <p:spPr>
          <a:xfrm>
            <a:off x="1394460" y="256032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15" name="Text 11"/>
          <p:cNvSpPr txBox="1"/>
          <p:nvPr/>
        </p:nvSpPr>
        <p:spPr>
          <a:xfrm>
            <a:off x="176022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6" name="Text 12"/>
          <p:cNvSpPr txBox="1"/>
          <p:nvPr/>
        </p:nvSpPr>
        <p:spPr>
          <a:xfrm>
            <a:off x="212598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7" name="Text 13"/>
          <p:cNvSpPr txBox="1"/>
          <p:nvPr/>
        </p:nvSpPr>
        <p:spPr>
          <a:xfrm>
            <a:off x="249174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8" name="Text 14"/>
          <p:cNvSpPr txBox="1"/>
          <p:nvPr/>
        </p:nvSpPr>
        <p:spPr>
          <a:xfrm>
            <a:off x="2857500" y="256032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19" name="Text 15"/>
          <p:cNvSpPr txBox="1"/>
          <p:nvPr/>
        </p:nvSpPr>
        <p:spPr>
          <a:xfrm>
            <a:off x="1394460" y="292608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20" name="Text 16"/>
          <p:cNvSpPr txBox="1"/>
          <p:nvPr/>
        </p:nvSpPr>
        <p:spPr>
          <a:xfrm>
            <a:off x="1760220" y="292608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21" name="Text 17"/>
          <p:cNvSpPr txBox="1"/>
          <p:nvPr/>
        </p:nvSpPr>
        <p:spPr>
          <a:xfrm>
            <a:off x="2125980" y="292608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2" name="Text 18"/>
          <p:cNvSpPr txBox="1"/>
          <p:nvPr/>
        </p:nvSpPr>
        <p:spPr>
          <a:xfrm>
            <a:off x="2491740" y="292608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3" name="Text 19"/>
          <p:cNvSpPr txBox="1"/>
          <p:nvPr/>
        </p:nvSpPr>
        <p:spPr>
          <a:xfrm>
            <a:off x="2857500" y="292608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4" name="Text 20"/>
          <p:cNvSpPr txBox="1"/>
          <p:nvPr/>
        </p:nvSpPr>
        <p:spPr>
          <a:xfrm>
            <a:off x="1394460" y="329184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25" name="Text 21"/>
          <p:cNvSpPr txBox="1"/>
          <p:nvPr/>
        </p:nvSpPr>
        <p:spPr>
          <a:xfrm>
            <a:off x="1760220" y="329184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26" name="Text 22"/>
          <p:cNvSpPr txBox="1"/>
          <p:nvPr/>
        </p:nvSpPr>
        <p:spPr>
          <a:xfrm>
            <a:off x="2125980" y="329184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27" name="Text 23"/>
          <p:cNvSpPr txBox="1"/>
          <p:nvPr/>
        </p:nvSpPr>
        <p:spPr>
          <a:xfrm>
            <a:off x="2491740" y="329184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8" name="Text 24"/>
          <p:cNvSpPr txBox="1"/>
          <p:nvPr/>
        </p:nvSpPr>
        <p:spPr>
          <a:xfrm>
            <a:off x="2857500" y="329184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29" name="Text 25"/>
          <p:cNvSpPr txBox="1"/>
          <p:nvPr/>
        </p:nvSpPr>
        <p:spPr>
          <a:xfrm>
            <a:off x="1394460" y="365760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0" name="Text 26"/>
          <p:cNvSpPr txBox="1"/>
          <p:nvPr/>
        </p:nvSpPr>
        <p:spPr>
          <a:xfrm>
            <a:off x="1760220" y="365760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1" name="Text 27"/>
          <p:cNvSpPr txBox="1"/>
          <p:nvPr/>
        </p:nvSpPr>
        <p:spPr>
          <a:xfrm>
            <a:off x="2125980" y="365760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2" name="Text 28"/>
          <p:cNvSpPr txBox="1"/>
          <p:nvPr/>
        </p:nvSpPr>
        <p:spPr>
          <a:xfrm>
            <a:off x="2491740" y="365760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33" name="Text 29"/>
          <p:cNvSpPr txBox="1"/>
          <p:nvPr/>
        </p:nvSpPr>
        <p:spPr>
          <a:xfrm>
            <a:off x="2857500" y="3657600"/>
            <a:ext cx="365760" cy="365760"/>
          </a:xfrm>
          <a:prstGeom prst="rect">
            <a:avLst/>
          </a:prstGeom>
          <a:solidFill>
            <a:srgbClr val="2A3F63"/>
          </a:solidFill>
          <a:ln w="6350">
            <a:solidFill>
              <a:srgbClr val="2A3550"/>
            </a:solidFill>
          </a:ln>
        </p:spPr>
        <p:txBody>
          <a:bodyPr wrap="square" lIns="0" tIns="0" rIns="0" bIns="0" rtlCol="0" anchor="ctr"/>
          <a:lstStyle/>
          <a:p>
            <a:pPr algn="ctr" indent="0" marL="0">
              <a:buNone/>
            </a:pPr>
            <a:r>
              <a:rPr lang="en-US" sz="900" dirty="0">
                <a:solidFill>
                  <a:srgbClr val="CFE0FF"/>
                </a:solidFill>
                <a:latin typeface="Consolas" pitchFamily="34" charset="0"/>
                <a:ea typeface="Consolas" pitchFamily="34" charset="-122"/>
                <a:cs typeface="Consolas" pitchFamily="34" charset="-120"/>
              </a:rPr>
              <a:t>d</a:t>
            </a:r>
            <a:endParaRPr lang="en-US" sz="900" dirty="0"/>
          </a:p>
        </p:txBody>
      </p:sp>
      <p:sp>
        <p:nvSpPr>
          <p:cNvPr id="34" name="Text 30"/>
          <p:cNvSpPr txBox="1"/>
          <p:nvPr/>
        </p:nvSpPr>
        <p:spPr>
          <a:xfrm>
            <a:off x="139446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5" name="Text 31"/>
          <p:cNvSpPr txBox="1"/>
          <p:nvPr/>
        </p:nvSpPr>
        <p:spPr>
          <a:xfrm>
            <a:off x="176022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6" name="Text 32"/>
          <p:cNvSpPr txBox="1"/>
          <p:nvPr/>
        </p:nvSpPr>
        <p:spPr>
          <a:xfrm>
            <a:off x="212598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7" name="Text 33"/>
          <p:cNvSpPr txBox="1"/>
          <p:nvPr/>
        </p:nvSpPr>
        <p:spPr>
          <a:xfrm>
            <a:off x="2491740" y="4023360"/>
            <a:ext cx="365760" cy="365760"/>
          </a:xfrm>
          <a:prstGeom prst="rect">
            <a:avLst/>
          </a:prstGeom>
          <a:solidFill>
            <a:srgbClr val="1B2640"/>
          </a:solidFill>
          <a:ln w="6350">
            <a:solidFill>
              <a:srgbClr val="2A3550"/>
            </a:solidFill>
          </a:ln>
        </p:spPr>
        <p:txBody>
          <a:bodyPr wrap="square" lIns="0" tIns="0" rIns="0" bIns="0" rtlCol="0" anchor="ctr"/>
          <a:lstStyle/>
          <a:p>
            <a:pPr algn="ctr" indent="0" marL="0">
              <a:buNone/>
            </a:pPr>
            <a:r>
              <a:rPr lang="en-US" sz="900" dirty="0">
                <a:solidFill>
                  <a:srgbClr val="7F95BD"/>
                </a:solidFill>
                <a:latin typeface="Consolas" pitchFamily="34" charset="0"/>
                <a:ea typeface="Consolas" pitchFamily="34" charset="-122"/>
                <a:cs typeface="Consolas" pitchFamily="34" charset="-120"/>
              </a:rPr>
              <a:t>d</a:t>
            </a:r>
            <a:endParaRPr lang="en-US" sz="900" dirty="0"/>
          </a:p>
        </p:txBody>
      </p:sp>
      <p:sp>
        <p:nvSpPr>
          <p:cNvPr id="38" name="Text 34"/>
          <p:cNvSpPr txBox="1"/>
          <p:nvPr/>
        </p:nvSpPr>
        <p:spPr>
          <a:xfrm>
            <a:off x="2857500" y="402336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39" name="Text 35"/>
          <p:cNvSpPr txBox="1"/>
          <p:nvPr/>
        </p:nvSpPr>
        <p:spPr>
          <a:xfrm>
            <a:off x="1394460" y="4434840"/>
            <a:ext cx="1828800" cy="201168"/>
          </a:xfrm>
          <a:prstGeom prst="rect">
            <a:avLst/>
          </a:prstGeom>
          <a:noFill/>
          <a:ln/>
        </p:spPr>
        <p:txBody>
          <a:bodyPr wrap="square" lIns="0" tIns="0" rIns="0" bIns="0" rtlCol="0" anchor="t"/>
          <a:lstStyle/>
          <a:p>
            <a:pPr algn="ctr" indent="0" marL="0">
              <a:buNone/>
            </a:pPr>
            <a:r>
              <a:rPr lang="en-US" sz="900" i="1" dirty="0">
                <a:solidFill>
                  <a:srgbClr val="8A96AD"/>
                </a:solidFill>
                <a:latin typeface="Calibri" pitchFamily="34" charset="0"/>
                <a:ea typeface="Calibri" pitchFamily="34" charset="-122"/>
                <a:cs typeface="Calibri" pitchFamily="34" charset="-120"/>
              </a:rPr>
              <a:t>upper → mirrored to lower</a:t>
            </a:r>
            <a:endParaRPr lang="en-US" sz="900" dirty="0"/>
          </a:p>
        </p:txBody>
      </p:sp>
      <p:sp>
        <p:nvSpPr>
          <p:cNvPr id="40" name="Text 36"/>
          <p:cNvSpPr txBox="1"/>
          <p:nvPr/>
        </p:nvSpPr>
        <p:spPr>
          <a:xfrm>
            <a:off x="777240" y="4773168"/>
            <a:ext cx="3063240" cy="502920"/>
          </a:xfrm>
          <a:prstGeom prst="rect">
            <a:avLst/>
          </a:prstGeom>
          <a:noFill/>
          <a:ln/>
        </p:spPr>
        <p:txBody>
          <a:bodyPr wrap="square" lIns="0" tIns="0" rIns="0" bIns="0" rtlCol="0" anchor="ctr"/>
          <a:lstStyle/>
          <a:p>
            <a:pPr algn="ctr" indent="0" marL="0">
              <a:buNone/>
            </a:pPr>
            <a:r>
              <a:rPr lang="en-US" sz="1250" dirty="0">
                <a:solidFill>
                  <a:srgbClr val="C3CCDC"/>
                </a:solidFill>
                <a:latin typeface="Calibri" pitchFamily="34" charset="0"/>
                <a:ea typeface="Calibri" pitchFamily="34" charset="-122"/>
                <a:cs typeface="Calibri" pitchFamily="34" charset="-120"/>
              </a:rPr>
              <a:t>symmetric · zero diagonal · upper triangle filled and mirrored</a:t>
            </a:r>
            <a:endParaRPr lang="en-US" sz="1250" dirty="0"/>
          </a:p>
        </p:txBody>
      </p:sp>
      <p:sp>
        <p:nvSpPr>
          <p:cNvPr id="41" name="Shape 37"/>
          <p:cNvSpPr/>
          <p:nvPr/>
        </p:nvSpPr>
        <p:spPr>
          <a:xfrm>
            <a:off x="4343400" y="1691640"/>
            <a:ext cx="3520440" cy="3703320"/>
          </a:xfrm>
          <a:prstGeom prst="roundRect">
            <a:avLst>
              <a:gd name="adj" fmla="val 2078"/>
            </a:avLst>
          </a:prstGeom>
          <a:solidFill>
            <a:srgbClr val="182033"/>
          </a:solidFill>
          <a:ln w="9525">
            <a:solidFill>
              <a:srgbClr val="2A3550"/>
            </a:solidFill>
            <a:prstDash val="solid"/>
          </a:ln>
        </p:spPr>
      </p:sp>
      <p:sp>
        <p:nvSpPr>
          <p:cNvPr id="42" name="Text 38"/>
          <p:cNvSpPr txBox="1"/>
          <p:nvPr/>
        </p:nvSpPr>
        <p:spPr>
          <a:xfrm>
            <a:off x="4572000" y="1828800"/>
            <a:ext cx="3017520" cy="201168"/>
          </a:xfrm>
          <a:prstGeom prst="rect">
            <a:avLst/>
          </a:prstGeom>
          <a:noFill/>
          <a:ln/>
        </p:spPr>
        <p:txBody>
          <a:bodyPr wrap="square" lIns="0" tIns="0" rIns="0" bIns="0" rtlCol="0" anchor="t"/>
          <a:lstStyle/>
          <a:p>
            <a:pPr indent="0" marL="0">
              <a:buNone/>
            </a:pPr>
            <a:r>
              <a:rPr lang="en-US" sz="950" dirty="0">
                <a:solidFill>
                  <a:srgbClr val="8A96AD"/>
                </a:solidFill>
                <a:latin typeface="Consolas" pitchFamily="34" charset="0"/>
                <a:ea typeface="Consolas" pitchFamily="34" charset="-122"/>
                <a:cs typeface="Consolas" pitchFamily="34" charset="-120"/>
              </a:rPr>
              <a:t>dense::DblMatrix</a:t>
            </a:r>
            <a:endParaRPr lang="en-US" sz="950" dirty="0"/>
          </a:p>
        </p:txBody>
      </p:sp>
      <p:sp>
        <p:nvSpPr>
          <p:cNvPr id="43" name="Text 39"/>
          <p:cNvSpPr txBox="1"/>
          <p:nvPr/>
        </p:nvSpPr>
        <p:spPr>
          <a:xfrm>
            <a:off x="4572000" y="2029968"/>
            <a:ext cx="3108960" cy="347472"/>
          </a:xfrm>
          <a:prstGeom prst="rect">
            <a:avLst/>
          </a:prstGeom>
          <a:noFill/>
          <a:ln/>
        </p:spPr>
        <p:txBody>
          <a:bodyPr wrap="square" lIns="0" tIns="0" rIns="0" bIns="0" rtlCol="0" anchor="ctr"/>
          <a:lstStyle/>
          <a:p>
            <a:pPr indent="0" marL="0">
              <a:buNone/>
            </a:pPr>
            <a:r>
              <a:rPr lang="en-US" sz="1700" b="1" dirty="0">
                <a:solidFill>
                  <a:srgbClr val="4CC38A"/>
                </a:solidFill>
                <a:latin typeface="Consolas" pitchFamily="34" charset="0"/>
                <a:ea typeface="Consolas" pitchFamily="34" charset="-122"/>
                <a:cs typeface="Consolas" pitchFamily="34" charset="-120"/>
              </a:rPr>
              <a:t>_pheromone</a:t>
            </a:r>
            <a:endParaRPr lang="en-US" sz="1700" dirty="0"/>
          </a:p>
        </p:txBody>
      </p:sp>
      <p:sp>
        <p:nvSpPr>
          <p:cNvPr id="44" name="Text 40"/>
          <p:cNvSpPr txBox="1"/>
          <p:nvPr/>
        </p:nvSpPr>
        <p:spPr>
          <a:xfrm>
            <a:off x="5189220" y="256032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45" name="Text 41"/>
          <p:cNvSpPr txBox="1"/>
          <p:nvPr/>
        </p:nvSpPr>
        <p:spPr>
          <a:xfrm>
            <a:off x="555498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6" name="Text 42"/>
          <p:cNvSpPr txBox="1"/>
          <p:nvPr/>
        </p:nvSpPr>
        <p:spPr>
          <a:xfrm>
            <a:off x="592074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7" name="Text 43"/>
          <p:cNvSpPr txBox="1"/>
          <p:nvPr/>
        </p:nvSpPr>
        <p:spPr>
          <a:xfrm>
            <a:off x="628650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8" name="Text 44"/>
          <p:cNvSpPr txBox="1"/>
          <p:nvPr/>
        </p:nvSpPr>
        <p:spPr>
          <a:xfrm>
            <a:off x="665226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49" name="Text 45"/>
          <p:cNvSpPr txBox="1"/>
          <p:nvPr/>
        </p:nvSpPr>
        <p:spPr>
          <a:xfrm>
            <a:off x="518922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0" name="Text 46"/>
          <p:cNvSpPr txBox="1"/>
          <p:nvPr/>
        </p:nvSpPr>
        <p:spPr>
          <a:xfrm>
            <a:off x="5554980" y="292608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51" name="Text 47"/>
          <p:cNvSpPr txBox="1"/>
          <p:nvPr/>
        </p:nvSpPr>
        <p:spPr>
          <a:xfrm>
            <a:off x="592074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2" name="Text 48"/>
          <p:cNvSpPr txBox="1"/>
          <p:nvPr/>
        </p:nvSpPr>
        <p:spPr>
          <a:xfrm>
            <a:off x="628650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3" name="Text 49"/>
          <p:cNvSpPr txBox="1"/>
          <p:nvPr/>
        </p:nvSpPr>
        <p:spPr>
          <a:xfrm>
            <a:off x="665226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4" name="Text 50"/>
          <p:cNvSpPr txBox="1"/>
          <p:nvPr/>
        </p:nvSpPr>
        <p:spPr>
          <a:xfrm>
            <a:off x="518922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5" name="Text 51"/>
          <p:cNvSpPr txBox="1"/>
          <p:nvPr/>
        </p:nvSpPr>
        <p:spPr>
          <a:xfrm>
            <a:off x="555498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6" name="Text 52"/>
          <p:cNvSpPr txBox="1"/>
          <p:nvPr/>
        </p:nvSpPr>
        <p:spPr>
          <a:xfrm>
            <a:off x="5920740" y="329184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57" name="Text 53"/>
          <p:cNvSpPr txBox="1"/>
          <p:nvPr/>
        </p:nvSpPr>
        <p:spPr>
          <a:xfrm>
            <a:off x="628650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8" name="Text 54"/>
          <p:cNvSpPr txBox="1"/>
          <p:nvPr/>
        </p:nvSpPr>
        <p:spPr>
          <a:xfrm>
            <a:off x="665226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59" name="Text 55"/>
          <p:cNvSpPr txBox="1"/>
          <p:nvPr/>
        </p:nvSpPr>
        <p:spPr>
          <a:xfrm>
            <a:off x="518922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0" name="Text 56"/>
          <p:cNvSpPr txBox="1"/>
          <p:nvPr/>
        </p:nvSpPr>
        <p:spPr>
          <a:xfrm>
            <a:off x="555498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1" name="Text 57"/>
          <p:cNvSpPr txBox="1"/>
          <p:nvPr/>
        </p:nvSpPr>
        <p:spPr>
          <a:xfrm>
            <a:off x="592074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2" name="Text 58"/>
          <p:cNvSpPr txBox="1"/>
          <p:nvPr/>
        </p:nvSpPr>
        <p:spPr>
          <a:xfrm>
            <a:off x="6286500" y="365760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63" name="Text 59"/>
          <p:cNvSpPr txBox="1"/>
          <p:nvPr/>
        </p:nvSpPr>
        <p:spPr>
          <a:xfrm>
            <a:off x="665226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4" name="Text 60"/>
          <p:cNvSpPr txBox="1"/>
          <p:nvPr/>
        </p:nvSpPr>
        <p:spPr>
          <a:xfrm>
            <a:off x="518922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5" name="Text 61"/>
          <p:cNvSpPr txBox="1"/>
          <p:nvPr/>
        </p:nvSpPr>
        <p:spPr>
          <a:xfrm>
            <a:off x="555498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6" name="Text 62"/>
          <p:cNvSpPr txBox="1"/>
          <p:nvPr/>
        </p:nvSpPr>
        <p:spPr>
          <a:xfrm>
            <a:off x="592074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7" name="Text 63"/>
          <p:cNvSpPr txBox="1"/>
          <p:nvPr/>
        </p:nvSpPr>
        <p:spPr>
          <a:xfrm>
            <a:off x="628650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τ₀</a:t>
            </a:r>
            <a:endParaRPr lang="en-US" sz="900" dirty="0"/>
          </a:p>
        </p:txBody>
      </p:sp>
      <p:sp>
        <p:nvSpPr>
          <p:cNvPr id="68" name="Text 64"/>
          <p:cNvSpPr txBox="1"/>
          <p:nvPr/>
        </p:nvSpPr>
        <p:spPr>
          <a:xfrm>
            <a:off x="6652260" y="402336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69" name="Text 65"/>
          <p:cNvSpPr txBox="1"/>
          <p:nvPr/>
        </p:nvSpPr>
        <p:spPr>
          <a:xfrm>
            <a:off x="4572000" y="4773168"/>
            <a:ext cx="3063240" cy="502920"/>
          </a:xfrm>
          <a:prstGeom prst="rect">
            <a:avLst/>
          </a:prstGeom>
          <a:noFill/>
          <a:ln/>
        </p:spPr>
        <p:txBody>
          <a:bodyPr wrap="square" lIns="0" tIns="0" rIns="0" bIns="0" rtlCol="0" anchor="ctr"/>
          <a:lstStyle/>
          <a:p>
            <a:pPr algn="ctr" indent="0" marL="0">
              <a:buNone/>
            </a:pPr>
            <a:r>
              <a:rPr lang="en-US" sz="1250" dirty="0">
                <a:solidFill>
                  <a:srgbClr val="C3CCDC"/>
                </a:solidFill>
                <a:latin typeface="Calibri" pitchFamily="34" charset="0"/>
                <a:ea typeface="Calibri" pitchFamily="34" charset="-122"/>
                <a:cs typeface="Calibri" pitchFamily="34" charset="-120"/>
              </a:rPr>
              <a:t>τ₀ = 1.0 off-diagonal · diagonal 0</a:t>
            </a:r>
            <a:endParaRPr lang="en-US" sz="1250" dirty="0"/>
          </a:p>
        </p:txBody>
      </p:sp>
      <p:sp>
        <p:nvSpPr>
          <p:cNvPr id="70" name="Shape 66"/>
          <p:cNvSpPr/>
          <p:nvPr/>
        </p:nvSpPr>
        <p:spPr>
          <a:xfrm>
            <a:off x="8138160" y="1691640"/>
            <a:ext cx="3520440" cy="3703320"/>
          </a:xfrm>
          <a:prstGeom prst="roundRect">
            <a:avLst>
              <a:gd name="adj" fmla="val 2078"/>
            </a:avLst>
          </a:prstGeom>
          <a:solidFill>
            <a:srgbClr val="182033"/>
          </a:solidFill>
          <a:ln w="9525">
            <a:solidFill>
              <a:srgbClr val="2A3550"/>
            </a:solidFill>
            <a:prstDash val="solid"/>
          </a:ln>
        </p:spPr>
      </p:sp>
      <p:sp>
        <p:nvSpPr>
          <p:cNvPr id="71" name="Text 67"/>
          <p:cNvSpPr txBox="1"/>
          <p:nvPr/>
        </p:nvSpPr>
        <p:spPr>
          <a:xfrm>
            <a:off x="8366760" y="1828800"/>
            <a:ext cx="3017520" cy="201168"/>
          </a:xfrm>
          <a:prstGeom prst="rect">
            <a:avLst/>
          </a:prstGeom>
          <a:noFill/>
          <a:ln/>
        </p:spPr>
        <p:txBody>
          <a:bodyPr wrap="square" lIns="0" tIns="0" rIns="0" bIns="0" rtlCol="0" anchor="t"/>
          <a:lstStyle/>
          <a:p>
            <a:pPr indent="0" marL="0">
              <a:buNone/>
            </a:pPr>
            <a:r>
              <a:rPr lang="en-US" sz="950" dirty="0">
                <a:solidFill>
                  <a:srgbClr val="8A96AD"/>
                </a:solidFill>
                <a:latin typeface="Consolas" pitchFamily="34" charset="0"/>
                <a:ea typeface="Consolas" pitchFamily="34" charset="-122"/>
                <a:cs typeface="Consolas" pitchFamily="34" charset="-120"/>
              </a:rPr>
              <a:t>dense::DblMatrix</a:t>
            </a:r>
            <a:endParaRPr lang="en-US" sz="950" dirty="0"/>
          </a:p>
        </p:txBody>
      </p:sp>
      <p:sp>
        <p:nvSpPr>
          <p:cNvPr id="72" name="Text 68"/>
          <p:cNvSpPr txBox="1"/>
          <p:nvPr/>
        </p:nvSpPr>
        <p:spPr>
          <a:xfrm>
            <a:off x="8366760" y="2029968"/>
            <a:ext cx="3108960" cy="347472"/>
          </a:xfrm>
          <a:prstGeom prst="rect">
            <a:avLst/>
          </a:prstGeom>
          <a:noFill/>
          <a:ln/>
        </p:spPr>
        <p:txBody>
          <a:bodyPr wrap="square" lIns="0" tIns="0" rIns="0" bIns="0" rtlCol="0" anchor="ctr"/>
          <a:lstStyle/>
          <a:p>
            <a:pPr indent="0" marL="0">
              <a:buNone/>
            </a:pPr>
            <a:r>
              <a:rPr lang="en-US" sz="1700" b="1" dirty="0">
                <a:solidFill>
                  <a:srgbClr val="4CC38A"/>
                </a:solidFill>
                <a:latin typeface="Consolas" pitchFamily="34" charset="0"/>
                <a:ea typeface="Consolas" pitchFamily="34" charset="-122"/>
                <a:cs typeface="Consolas" pitchFamily="34" charset="-120"/>
              </a:rPr>
              <a:t>_deltaPheromone</a:t>
            </a:r>
            <a:endParaRPr lang="en-US" sz="1700" dirty="0"/>
          </a:p>
        </p:txBody>
      </p:sp>
      <p:sp>
        <p:nvSpPr>
          <p:cNvPr id="73" name="Text 69"/>
          <p:cNvSpPr txBox="1"/>
          <p:nvPr/>
        </p:nvSpPr>
        <p:spPr>
          <a:xfrm>
            <a:off x="8983980" y="256032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74" name="Text 70"/>
          <p:cNvSpPr txBox="1"/>
          <p:nvPr/>
        </p:nvSpPr>
        <p:spPr>
          <a:xfrm>
            <a:off x="934974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75" name="Text 71"/>
          <p:cNvSpPr txBox="1"/>
          <p:nvPr/>
        </p:nvSpPr>
        <p:spPr>
          <a:xfrm>
            <a:off x="9715500" y="256032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76" name="Text 72"/>
          <p:cNvSpPr txBox="1"/>
          <p:nvPr/>
        </p:nvSpPr>
        <p:spPr>
          <a:xfrm>
            <a:off x="10081260" y="256032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77" name="Text 73"/>
          <p:cNvSpPr txBox="1"/>
          <p:nvPr/>
        </p:nvSpPr>
        <p:spPr>
          <a:xfrm>
            <a:off x="10447020" y="256032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78" name="Text 74"/>
          <p:cNvSpPr txBox="1"/>
          <p:nvPr/>
        </p:nvSpPr>
        <p:spPr>
          <a:xfrm>
            <a:off x="898398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79" name="Text 75"/>
          <p:cNvSpPr txBox="1"/>
          <p:nvPr/>
        </p:nvSpPr>
        <p:spPr>
          <a:xfrm>
            <a:off x="9349740" y="292608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0" name="Text 76"/>
          <p:cNvSpPr txBox="1"/>
          <p:nvPr/>
        </p:nvSpPr>
        <p:spPr>
          <a:xfrm>
            <a:off x="9715500" y="292608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1" name="Text 77"/>
          <p:cNvSpPr txBox="1"/>
          <p:nvPr/>
        </p:nvSpPr>
        <p:spPr>
          <a:xfrm>
            <a:off x="10081260" y="292608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82" name="Text 78"/>
          <p:cNvSpPr txBox="1"/>
          <p:nvPr/>
        </p:nvSpPr>
        <p:spPr>
          <a:xfrm>
            <a:off x="10447020" y="292608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3" name="Text 79"/>
          <p:cNvSpPr txBox="1"/>
          <p:nvPr/>
        </p:nvSpPr>
        <p:spPr>
          <a:xfrm>
            <a:off x="8983980" y="329184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4" name="Text 80"/>
          <p:cNvSpPr txBox="1"/>
          <p:nvPr/>
        </p:nvSpPr>
        <p:spPr>
          <a:xfrm>
            <a:off x="9349740" y="329184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5" name="Text 81"/>
          <p:cNvSpPr txBox="1"/>
          <p:nvPr/>
        </p:nvSpPr>
        <p:spPr>
          <a:xfrm>
            <a:off x="9715500" y="329184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6" name="Text 82"/>
          <p:cNvSpPr txBox="1"/>
          <p:nvPr/>
        </p:nvSpPr>
        <p:spPr>
          <a:xfrm>
            <a:off x="1008126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87" name="Text 83"/>
          <p:cNvSpPr txBox="1"/>
          <p:nvPr/>
        </p:nvSpPr>
        <p:spPr>
          <a:xfrm>
            <a:off x="10447020" y="329184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88" name="Text 84"/>
          <p:cNvSpPr txBox="1"/>
          <p:nvPr/>
        </p:nvSpPr>
        <p:spPr>
          <a:xfrm>
            <a:off x="8983980" y="365760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89" name="Text 85"/>
          <p:cNvSpPr txBox="1"/>
          <p:nvPr/>
        </p:nvSpPr>
        <p:spPr>
          <a:xfrm>
            <a:off x="934974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0" name="Text 86"/>
          <p:cNvSpPr txBox="1"/>
          <p:nvPr/>
        </p:nvSpPr>
        <p:spPr>
          <a:xfrm>
            <a:off x="9715500" y="365760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1" name="Text 87"/>
          <p:cNvSpPr txBox="1"/>
          <p:nvPr/>
        </p:nvSpPr>
        <p:spPr>
          <a:xfrm>
            <a:off x="10081260" y="365760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2" name="Text 88"/>
          <p:cNvSpPr txBox="1"/>
          <p:nvPr/>
        </p:nvSpPr>
        <p:spPr>
          <a:xfrm>
            <a:off x="10447020" y="365760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3" name="Text 89"/>
          <p:cNvSpPr txBox="1"/>
          <p:nvPr/>
        </p:nvSpPr>
        <p:spPr>
          <a:xfrm>
            <a:off x="898398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4" name="Text 90"/>
          <p:cNvSpPr txBox="1"/>
          <p:nvPr/>
        </p:nvSpPr>
        <p:spPr>
          <a:xfrm>
            <a:off x="9349740" y="402336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5" name="Text 91"/>
          <p:cNvSpPr txBox="1"/>
          <p:nvPr/>
        </p:nvSpPr>
        <p:spPr>
          <a:xfrm>
            <a:off x="9715500" y="4023360"/>
            <a:ext cx="365760" cy="365760"/>
          </a:xfrm>
          <a:prstGeom prst="rect">
            <a:avLst/>
          </a:prstGeom>
          <a:solidFill>
            <a:srgbClr val="1F4A3A"/>
          </a:solidFill>
          <a:ln w="6350">
            <a:solidFill>
              <a:srgbClr val="2A3550"/>
            </a:solidFill>
          </a:ln>
        </p:spPr>
        <p:txBody>
          <a:bodyPr wrap="square" lIns="0" tIns="0" rIns="0" bIns="0" rtlCol="0" anchor="ctr"/>
          <a:lstStyle/>
          <a:p>
            <a:pPr algn="ctr" indent="0" marL="0">
              <a:buNone/>
            </a:pPr>
            <a:r>
              <a:rPr lang="en-US" sz="900" dirty="0">
                <a:solidFill>
                  <a:srgbClr val="BFF2DA"/>
                </a:solidFill>
                <a:latin typeface="Consolas" pitchFamily="34" charset="0"/>
                <a:ea typeface="Consolas" pitchFamily="34" charset="-122"/>
                <a:cs typeface="Consolas" pitchFamily="34" charset="-120"/>
              </a:rPr>
              <a:t>Δτ</a:t>
            </a:r>
            <a:endParaRPr lang="en-US" sz="900" dirty="0"/>
          </a:p>
        </p:txBody>
      </p:sp>
      <p:sp>
        <p:nvSpPr>
          <p:cNvPr id="96" name="Text 92"/>
          <p:cNvSpPr txBox="1"/>
          <p:nvPr/>
        </p:nvSpPr>
        <p:spPr>
          <a:xfrm>
            <a:off x="10081260" y="4023360"/>
            <a:ext cx="365760" cy="365760"/>
          </a:xfrm>
          <a:prstGeom prst="rect">
            <a:avLst/>
          </a:prstGeom>
          <a:solidFill>
            <a:srgbClr val="121826"/>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7" name="Text 93"/>
          <p:cNvSpPr txBox="1"/>
          <p:nvPr/>
        </p:nvSpPr>
        <p:spPr>
          <a:xfrm>
            <a:off x="10447020" y="4023360"/>
            <a:ext cx="365760" cy="365760"/>
          </a:xfrm>
          <a:prstGeom prst="rect">
            <a:avLst/>
          </a:prstGeom>
          <a:solidFill>
            <a:srgbClr val="0B0F18"/>
          </a:solidFill>
          <a:ln w="6350">
            <a:solidFill>
              <a:srgbClr val="2A3550"/>
            </a:solidFill>
          </a:ln>
        </p:spPr>
        <p:txBody>
          <a:bodyPr wrap="square" lIns="0" tIns="0" rIns="0" bIns="0" rtlCol="0" anchor="ctr"/>
          <a:lstStyle/>
          <a:p>
            <a:pPr algn="ctr" indent="0" marL="0">
              <a:buNone/>
            </a:pPr>
            <a:r>
              <a:rPr lang="en-US" sz="900" dirty="0">
                <a:solidFill>
                  <a:srgbClr val="56617A"/>
                </a:solidFill>
                <a:latin typeface="Consolas" pitchFamily="34" charset="0"/>
                <a:ea typeface="Consolas" pitchFamily="34" charset="-122"/>
                <a:cs typeface="Consolas" pitchFamily="34" charset="-120"/>
              </a:rPr>
              <a:t>0</a:t>
            </a:r>
            <a:endParaRPr lang="en-US" sz="900" dirty="0"/>
          </a:p>
        </p:txBody>
      </p:sp>
      <p:sp>
        <p:nvSpPr>
          <p:cNvPr id="98" name="Text 94"/>
          <p:cNvSpPr txBox="1"/>
          <p:nvPr/>
        </p:nvSpPr>
        <p:spPr>
          <a:xfrm>
            <a:off x="8618220" y="4434840"/>
            <a:ext cx="2560320" cy="201168"/>
          </a:xfrm>
          <a:prstGeom prst="rect">
            <a:avLst/>
          </a:prstGeom>
          <a:noFill/>
          <a:ln/>
        </p:spPr>
        <p:txBody>
          <a:bodyPr wrap="square" lIns="0" tIns="0" rIns="0" bIns="0" rtlCol="0" anchor="t"/>
          <a:lstStyle/>
          <a:p>
            <a:pPr algn="ctr" indent="0" marL="0">
              <a:buNone/>
            </a:pPr>
            <a:r>
              <a:rPr lang="en-US" sz="900" i="1" dirty="0">
                <a:solidFill>
                  <a:srgbClr val="8A96AD"/>
                </a:solidFill>
                <a:latin typeface="Calibri" pitchFamily="34" charset="0"/>
                <a:ea typeface="Calibri" pitchFamily="34" charset="-122"/>
                <a:cs typeface="Calibri" pitchFamily="34" charset="-120"/>
              </a:rPr>
              <a:t>schematic: one tour 1→2→4→3→5→1</a:t>
            </a:r>
            <a:endParaRPr lang="en-US" sz="900" dirty="0"/>
          </a:p>
        </p:txBody>
      </p:sp>
      <p:sp>
        <p:nvSpPr>
          <p:cNvPr id="99" name="Text 95"/>
          <p:cNvSpPr txBox="1"/>
          <p:nvPr/>
        </p:nvSpPr>
        <p:spPr>
          <a:xfrm>
            <a:off x="8366760" y="4773168"/>
            <a:ext cx="3063240" cy="502920"/>
          </a:xfrm>
          <a:prstGeom prst="rect">
            <a:avLst/>
          </a:prstGeom>
          <a:noFill/>
          <a:ln/>
        </p:spPr>
        <p:txBody>
          <a:bodyPr wrap="square" lIns="0" tIns="0" rIns="0" bIns="0" rtlCol="0" anchor="ctr"/>
          <a:lstStyle/>
          <a:p>
            <a:pPr algn="ctr" indent="0" marL="0">
              <a:buNone/>
            </a:pPr>
            <a:r>
              <a:rPr lang="en-US" sz="1250" dirty="0">
                <a:solidFill>
                  <a:srgbClr val="C3CCDC"/>
                </a:solidFill>
                <a:latin typeface="Calibri" pitchFamily="34" charset="0"/>
                <a:ea typeface="Calibri" pitchFamily="34" charset="-122"/>
                <a:cs typeface="Calibri" pitchFamily="34" charset="-120"/>
              </a:rPr>
              <a:t>zeroed each iteration · holds Δτ</a:t>
            </a:r>
            <a:endParaRPr lang="en-US" sz="1250" dirty="0"/>
          </a:p>
        </p:txBody>
      </p:sp>
      <p:sp>
        <p:nvSpPr>
          <p:cNvPr id="100" name="Shape 96"/>
          <p:cNvSpPr/>
          <p:nvPr/>
        </p:nvSpPr>
        <p:spPr>
          <a:xfrm>
            <a:off x="548640" y="5577840"/>
            <a:ext cx="11109960" cy="640080"/>
          </a:xfrm>
          <a:prstGeom prst="roundRect">
            <a:avLst>
              <a:gd name="adj" fmla="val 11429"/>
            </a:avLst>
          </a:prstGeom>
          <a:solidFill>
            <a:srgbClr val="0B0F18"/>
          </a:solidFill>
          <a:ln w="9525">
            <a:solidFill>
              <a:srgbClr val="2A3550"/>
            </a:solidFill>
            <a:prstDash val="solid"/>
          </a:ln>
        </p:spPr>
      </p:sp>
      <p:sp>
        <p:nvSpPr>
          <p:cNvPr id="101" name="Text 97"/>
          <p:cNvSpPr txBox="1"/>
          <p:nvPr/>
        </p:nvSpPr>
        <p:spPr>
          <a:xfrm>
            <a:off x="548640" y="5577840"/>
            <a:ext cx="11109960" cy="640080"/>
          </a:xfrm>
          <a:prstGeom prst="rect">
            <a:avLst/>
          </a:prstGeom>
          <a:noFill/>
          <a:ln/>
        </p:spPr>
        <p:txBody>
          <a:bodyPr wrap="square" lIns="0" tIns="0" rIns="0" bIns="0" rtlCol="0" anchor="ctr"/>
          <a:lstStyle/>
          <a:p>
            <a:pPr algn="ctr" indent="0" marL="0">
              <a:buNone/>
            </a:pPr>
            <a:r>
              <a:rPr lang="en-US" sz="1500" dirty="0">
                <a:solidFill>
                  <a:srgbClr val="F2D08A"/>
                </a:solidFill>
                <a:latin typeface="Consolas" pitchFamily="34" charset="0"/>
                <a:ea typeface="Consolas" pitchFamily="34" charset="-122"/>
                <a:cs typeface="Consolas" pitchFamily="34" charset="-120"/>
              </a:rPr>
              <a:t>reserve(n, n, nullptr, true)</a:t>
            </a:r>
            <a:pPr algn="ctr" indent="0" marL="0">
              <a:buNone/>
            </a:pPr>
            <a:r>
              <a:rPr lang="en-US" sz="1500" dirty="0">
                <a:solidFill>
                  <a:srgbClr val="F39C34"/>
                </a:solidFill>
                <a:latin typeface="Consolas" pitchFamily="34" charset="0"/>
                <a:ea typeface="Consolas" pitchFamily="34" charset="-122"/>
                <a:cs typeface="Consolas" pitchFamily="34" charset="-120"/>
              </a:rPr>
              <a:t>   →   </a:t>
            </a:r>
            <a:pPr algn="ctr" indent="0" marL="0">
              <a:buNone/>
            </a:pPr>
            <a:r>
              <a:rPr lang="en-US" sz="1500" dirty="0">
                <a:solidFill>
                  <a:srgbClr val="F2D08A"/>
                </a:solidFill>
                <a:latin typeface="Consolas" pitchFamily="34" charset="0"/>
                <a:ea typeface="Consolas" pitchFamily="34" charset="-122"/>
                <a:cs typeface="Consolas" pitchFamily="34" charset="-120"/>
              </a:rPr>
              <a:t>zeros()</a:t>
            </a:r>
            <a:pPr algn="ctr" indent="0" marL="0">
              <a:buNone/>
            </a:pPr>
            <a:r>
              <a:rPr lang="en-US" sz="1500" dirty="0">
                <a:solidFill>
                  <a:srgbClr val="F39C34"/>
                </a:solidFill>
                <a:latin typeface="Consolas" pitchFamily="34" charset="0"/>
                <a:ea typeface="Consolas" pitchFamily="34" charset="-122"/>
                <a:cs typeface="Consolas" pitchFamily="34" charset="-120"/>
              </a:rPr>
              <a:t>   →   </a:t>
            </a:r>
            <a:pPr algn="ctr" indent="0" marL="0">
              <a:buNone/>
            </a:pPr>
            <a:r>
              <a:rPr lang="en-US" sz="1500" dirty="0">
                <a:solidFill>
                  <a:srgbClr val="E9EDF5"/>
                </a:solidFill>
                <a:latin typeface="Consolas" pitchFamily="34" charset="0"/>
                <a:ea typeface="Consolas" pitchFamily="34" charset="-122"/>
                <a:cs typeface="Consolas" pitchFamily="34" charset="-120"/>
              </a:rPr>
              <a:t>fill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02</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02</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The Ant System</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Probabilistic construction + pheromone feedback, nothing else</a:t>
            </a:r>
            <a:endParaRPr lang="en-US" sz="1600" dirty="0"/>
          </a:p>
        </p:txBody>
      </p:sp>
      <p:sp>
        <p:nvSpPr>
          <p:cNvPr id="8" name="Shape 4"/>
          <p:cNvSpPr/>
          <p:nvPr/>
        </p:nvSpPr>
        <p:spPr>
          <a:xfrm>
            <a:off x="6949440" y="1975104"/>
            <a:ext cx="4663440" cy="2907792"/>
          </a:xfrm>
          <a:prstGeom prst="roundRect">
            <a:avLst>
              <a:gd name="adj" fmla="val 2516"/>
            </a:avLst>
          </a:prstGeom>
          <a:solidFill>
            <a:srgbClr val="182033"/>
          </a:solidFill>
          <a:ln w="9525">
            <a:solidFill>
              <a:srgbClr val="2A3550"/>
            </a:solidFill>
            <a:prstDash val="solid"/>
          </a:ln>
        </p:spPr>
      </p:sp>
      <p:sp>
        <p:nvSpPr>
          <p:cNvPr id="9" name="Text 5"/>
          <p:cNvSpPr txBox="1"/>
          <p:nvPr/>
        </p:nvSpPr>
        <p:spPr>
          <a:xfrm>
            <a:off x="7269480" y="2203704"/>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2724912"/>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54203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Tour construction (roulette wheel)</a:t>
            </a:r>
            <a:endParaRPr lang="en-US" sz="1500" dirty="0"/>
          </a:p>
        </p:txBody>
      </p:sp>
      <p:sp>
        <p:nvSpPr>
          <p:cNvPr id="12" name="Shape 8"/>
          <p:cNvSpPr/>
          <p:nvPr/>
        </p:nvSpPr>
        <p:spPr>
          <a:xfrm>
            <a:off x="7287768" y="3291840"/>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108960"/>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Pheromone update as matrix operations</a:t>
            </a:r>
            <a:endParaRPr lang="en-US" sz="1500" dirty="0"/>
          </a:p>
        </p:txBody>
      </p:sp>
      <p:sp>
        <p:nvSpPr>
          <p:cNvPr id="14" name="Shape 10"/>
          <p:cNvSpPr/>
          <p:nvPr/>
        </p:nvSpPr>
        <p:spPr>
          <a:xfrm>
            <a:off x="7287768" y="3858768"/>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675888"/>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The full loop &amp; feasibility guard</a:t>
            </a:r>
            <a:endParaRPr lang="en-US" sz="1500" dirty="0"/>
          </a:p>
        </p:txBody>
      </p:sp>
      <p:sp>
        <p:nvSpPr>
          <p:cNvPr id="16" name="Shape 12"/>
          <p:cNvSpPr/>
          <p:nvPr/>
        </p:nvSpPr>
        <p:spPr>
          <a:xfrm>
            <a:off x="7287768" y="4425696"/>
            <a:ext cx="100584" cy="100584"/>
          </a:xfrm>
          <a:prstGeom prst="rect">
            <a:avLst/>
          </a:prstGeom>
          <a:solidFill>
            <a:srgbClr val="F39C34"/>
          </a:solidFill>
          <a:ln w="12700">
            <a:solidFill>
              <a:srgbClr val="F39C34"/>
            </a:solidFill>
            <a:prstDash val="solid"/>
          </a:ln>
        </p:spPr>
      </p:sp>
      <p:sp>
        <p:nvSpPr>
          <p:cNvPr id="17" name="Text 13"/>
          <p:cNvSpPr txBox="1"/>
          <p:nvPr/>
        </p:nvSpPr>
        <p:spPr>
          <a:xfrm>
            <a:off x="7589520" y="424281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Baseline &amp; convergence indicators</a:t>
            </a:r>
            <a:endParaRPr lang="en-US" sz="1500" dirty="0"/>
          </a:p>
        </p:txBody>
      </p:sp>
      <p:sp>
        <p:nvSpPr>
          <p:cNvPr id="18" name="Text 14"/>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06 / 23</a:t>
            </a:r>
            <a:endParaRPr lang="en-US" sz="900" dirty="0"/>
          </a:p>
        </p:txBody>
      </p:sp>
      <p:sp>
        <p:nvSpPr>
          <p:cNvPr id="19" name="Text 15"/>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Tour Construction — Roulette Wheel</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Each step picks the next city in proportion to trail strength and inverse distance.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07 / 23</a:t>
            </a:r>
            <a:endParaRPr lang="en-US" sz="900" dirty="0"/>
          </a:p>
        </p:txBody>
      </p:sp>
      <p:sp>
        <p:nvSpPr>
          <p:cNvPr id="11" name="Shape 7"/>
          <p:cNvSpPr/>
          <p:nvPr/>
        </p:nvSpPr>
        <p:spPr>
          <a:xfrm>
            <a:off x="548640" y="1645920"/>
            <a:ext cx="11109960" cy="1051560"/>
          </a:xfrm>
          <a:prstGeom prst="roundRect">
            <a:avLst>
              <a:gd name="adj" fmla="val 6957"/>
            </a:avLst>
          </a:prstGeom>
          <a:solidFill>
            <a:srgbClr val="141B2B"/>
          </a:solidFill>
          <a:ln w="9525">
            <a:solidFill>
              <a:srgbClr val="2A3550"/>
            </a:solidFill>
            <a:prstDash val="solid"/>
          </a:ln>
        </p:spPr>
      </p:sp>
      <p:pic>
        <p:nvPicPr>
          <p:cNvPr id="12" name="Image 1" descr="prob">    </p:cNvPr>
          <p:cNvPicPr>
            <a:picLocks noChangeAspect="1"/>
          </p:cNvPicPr>
          <p:nvPr/>
        </p:nvPicPr>
        <p:blipFill>
          <a:blip r:embed="rId2"/>
          <a:stretch>
            <a:fillRect/>
          </a:stretch>
        </p:blipFill>
        <p:spPr>
          <a:xfrm>
            <a:off x="4129283" y="1719072"/>
            <a:ext cx="3948674" cy="896112"/>
          </a:xfrm>
          <a:prstGeom prst="rect">
            <a:avLst/>
          </a:prstGeom>
        </p:spPr>
      </p:pic>
      <p:sp>
        <p:nvSpPr>
          <p:cNvPr id="13" name="Shape 8"/>
          <p:cNvSpPr/>
          <p:nvPr/>
        </p:nvSpPr>
        <p:spPr>
          <a:xfrm>
            <a:off x="548640" y="2880360"/>
            <a:ext cx="4343400" cy="3337560"/>
          </a:xfrm>
          <a:prstGeom prst="roundRect">
            <a:avLst>
              <a:gd name="adj" fmla="val 2192"/>
            </a:avLst>
          </a:prstGeom>
          <a:solidFill>
            <a:srgbClr val="182033"/>
          </a:solidFill>
          <a:ln w="9525">
            <a:solidFill>
              <a:srgbClr val="2A3550"/>
            </a:solidFill>
            <a:prstDash val="solid"/>
          </a:ln>
        </p:spPr>
      </p:sp>
      <p:sp>
        <p:nvSpPr>
          <p:cNvPr id="14" name="Text 9"/>
          <p:cNvSpPr txBox="1"/>
          <p:nvPr/>
        </p:nvSpPr>
        <p:spPr>
          <a:xfrm>
            <a:off x="777240" y="2999232"/>
            <a:ext cx="1828800" cy="201168"/>
          </a:xfrm>
          <a:prstGeom prst="rect">
            <a:avLst/>
          </a:prstGeom>
          <a:noFill/>
          <a:ln/>
        </p:spPr>
        <p:txBody>
          <a:bodyPr wrap="square" lIns="0" tIns="0" rIns="0" bIns="0" rtlCol="0" anchor="t"/>
          <a:lstStyle/>
          <a:p>
            <a:pPr indent="0" marL="0">
              <a:buNone/>
            </a:pPr>
            <a:r>
              <a:rPr lang="en-US" sz="900" b="1" spc="250" kern="0" dirty="0">
                <a:solidFill>
                  <a:srgbClr val="8A96AD"/>
                </a:solidFill>
                <a:latin typeface="Calibri" pitchFamily="34" charset="0"/>
                <a:ea typeface="Calibri" pitchFamily="34" charset="-122"/>
                <a:cs typeface="Calibri" pitchFamily="34" charset="-120"/>
              </a:rPr>
              <a:t>SCHEMATIC</a:t>
            </a:r>
            <a:endParaRPr lang="en-US" sz="900" dirty="0"/>
          </a:p>
        </p:txBody>
      </p:sp>
      <p:sp>
        <p:nvSpPr>
          <p:cNvPr id="15" name="Shape 10"/>
          <p:cNvSpPr/>
          <p:nvPr/>
        </p:nvSpPr>
        <p:spPr>
          <a:xfrm flipV="1">
            <a:off x="1417320" y="3502152"/>
            <a:ext cx="1536192" cy="658368"/>
          </a:xfrm>
          <a:prstGeom prst="line">
            <a:avLst/>
          </a:prstGeom>
          <a:noFill/>
          <a:ln w="38100">
            <a:solidFill>
              <a:srgbClr val="4CC38A"/>
            </a:solidFill>
            <a:prstDash val="solid"/>
          </a:ln>
        </p:spPr>
      </p:sp>
      <p:sp>
        <p:nvSpPr>
          <p:cNvPr id="16" name="Shape 11"/>
          <p:cNvSpPr/>
          <p:nvPr/>
        </p:nvSpPr>
        <p:spPr>
          <a:xfrm flipV="1">
            <a:off x="1417320" y="4005072"/>
            <a:ext cx="1947672" cy="155448"/>
          </a:xfrm>
          <a:prstGeom prst="line">
            <a:avLst/>
          </a:prstGeom>
          <a:noFill/>
          <a:ln w="20320">
            <a:solidFill>
              <a:srgbClr val="4CC38A"/>
            </a:solidFill>
            <a:prstDash val="solid"/>
          </a:ln>
        </p:spPr>
      </p:sp>
      <p:sp>
        <p:nvSpPr>
          <p:cNvPr id="17" name="Shape 12"/>
          <p:cNvSpPr/>
          <p:nvPr/>
        </p:nvSpPr>
        <p:spPr>
          <a:xfrm>
            <a:off x="1417320" y="4160520"/>
            <a:ext cx="1673352" cy="393192"/>
          </a:xfrm>
          <a:prstGeom prst="line">
            <a:avLst/>
          </a:prstGeom>
          <a:noFill/>
          <a:ln w="55880">
            <a:solidFill>
              <a:srgbClr val="4CC38A"/>
            </a:solidFill>
            <a:prstDash val="solid"/>
          </a:ln>
        </p:spPr>
      </p:sp>
      <p:sp>
        <p:nvSpPr>
          <p:cNvPr id="18" name="Shape 13"/>
          <p:cNvSpPr/>
          <p:nvPr/>
        </p:nvSpPr>
        <p:spPr>
          <a:xfrm>
            <a:off x="1417320" y="4160520"/>
            <a:ext cx="896112" cy="713232"/>
          </a:xfrm>
          <a:prstGeom prst="line">
            <a:avLst/>
          </a:prstGeom>
          <a:noFill/>
          <a:ln w="11430">
            <a:solidFill>
              <a:srgbClr val="4CC38A"/>
            </a:solidFill>
            <a:prstDash val="solid"/>
          </a:ln>
        </p:spPr>
      </p:sp>
      <p:sp>
        <p:nvSpPr>
          <p:cNvPr id="19" name="Shape 14"/>
          <p:cNvSpPr/>
          <p:nvPr/>
        </p:nvSpPr>
        <p:spPr>
          <a:xfrm>
            <a:off x="1234440" y="3977640"/>
            <a:ext cx="365760" cy="365760"/>
          </a:xfrm>
          <a:prstGeom prst="ellipse">
            <a:avLst/>
          </a:prstGeom>
          <a:solidFill>
            <a:srgbClr val="F39C34"/>
          </a:solidFill>
          <a:ln w="12700">
            <a:solidFill>
              <a:srgbClr val="F39C34"/>
            </a:solidFill>
            <a:prstDash val="solid"/>
          </a:ln>
        </p:spPr>
      </p:sp>
      <p:sp>
        <p:nvSpPr>
          <p:cNvPr id="20" name="Text 15"/>
          <p:cNvSpPr txBox="1"/>
          <p:nvPr/>
        </p:nvSpPr>
        <p:spPr>
          <a:xfrm>
            <a:off x="1234440" y="3977640"/>
            <a:ext cx="365760" cy="365760"/>
          </a:xfrm>
          <a:prstGeom prst="rect">
            <a:avLst/>
          </a:prstGeom>
          <a:noFill/>
          <a:ln/>
        </p:spPr>
        <p:txBody>
          <a:bodyPr wrap="square" lIns="0" tIns="0" rIns="0" bIns="0" rtlCol="0" anchor="ctr"/>
          <a:lstStyle/>
          <a:p>
            <a:pPr algn="ctr" indent="0" marL="0">
              <a:buNone/>
            </a:pPr>
            <a:r>
              <a:rPr lang="en-US" sz="1400" b="1" i="1" dirty="0">
                <a:solidFill>
                  <a:srgbClr val="0F1420"/>
                </a:solidFill>
                <a:latin typeface="Calibri" pitchFamily="34" charset="0"/>
                <a:ea typeface="Calibri" pitchFamily="34" charset="-122"/>
                <a:cs typeface="Calibri" pitchFamily="34" charset="-120"/>
              </a:rPr>
              <a:t>i</a:t>
            </a:r>
            <a:endParaRPr lang="en-US" sz="1400" dirty="0"/>
          </a:p>
        </p:txBody>
      </p:sp>
      <p:sp>
        <p:nvSpPr>
          <p:cNvPr id="21" name="Shape 16"/>
          <p:cNvSpPr/>
          <p:nvPr/>
        </p:nvSpPr>
        <p:spPr>
          <a:xfrm>
            <a:off x="2834640" y="3383280"/>
            <a:ext cx="237744" cy="237744"/>
          </a:xfrm>
          <a:prstGeom prst="ellipse">
            <a:avLst/>
          </a:prstGeom>
          <a:solidFill>
            <a:srgbClr val="1D2740"/>
          </a:solidFill>
          <a:ln w="15875">
            <a:solidFill>
              <a:srgbClr val="4CC38A"/>
            </a:solidFill>
            <a:prstDash val="solid"/>
          </a:ln>
        </p:spPr>
      </p:sp>
      <p:sp>
        <p:nvSpPr>
          <p:cNvPr id="22" name="Text 17"/>
          <p:cNvSpPr txBox="1"/>
          <p:nvPr/>
        </p:nvSpPr>
        <p:spPr>
          <a:xfrm>
            <a:off x="3108960" y="336499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l₁</a:t>
            </a:r>
            <a:endParaRPr lang="en-US" sz="1100" dirty="0"/>
          </a:p>
        </p:txBody>
      </p:sp>
      <p:sp>
        <p:nvSpPr>
          <p:cNvPr id="23" name="Shape 18"/>
          <p:cNvSpPr/>
          <p:nvPr/>
        </p:nvSpPr>
        <p:spPr>
          <a:xfrm>
            <a:off x="3246120" y="3886200"/>
            <a:ext cx="237744" cy="237744"/>
          </a:xfrm>
          <a:prstGeom prst="ellipse">
            <a:avLst/>
          </a:prstGeom>
          <a:solidFill>
            <a:srgbClr val="1D2740"/>
          </a:solidFill>
          <a:ln w="15875">
            <a:solidFill>
              <a:srgbClr val="4CC38A"/>
            </a:solidFill>
            <a:prstDash val="solid"/>
          </a:ln>
        </p:spPr>
      </p:sp>
      <p:sp>
        <p:nvSpPr>
          <p:cNvPr id="24" name="Text 19"/>
          <p:cNvSpPr txBox="1"/>
          <p:nvPr/>
        </p:nvSpPr>
        <p:spPr>
          <a:xfrm>
            <a:off x="3520440" y="386791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l₂</a:t>
            </a:r>
            <a:endParaRPr lang="en-US" sz="1100" dirty="0"/>
          </a:p>
        </p:txBody>
      </p:sp>
      <p:sp>
        <p:nvSpPr>
          <p:cNvPr id="25" name="Shape 20"/>
          <p:cNvSpPr/>
          <p:nvPr/>
        </p:nvSpPr>
        <p:spPr>
          <a:xfrm>
            <a:off x="2971800" y="4434840"/>
            <a:ext cx="237744" cy="237744"/>
          </a:xfrm>
          <a:prstGeom prst="ellipse">
            <a:avLst/>
          </a:prstGeom>
          <a:solidFill>
            <a:srgbClr val="1D2740"/>
          </a:solidFill>
          <a:ln w="15875">
            <a:solidFill>
              <a:srgbClr val="4CC38A"/>
            </a:solidFill>
            <a:prstDash val="solid"/>
          </a:ln>
        </p:spPr>
      </p:sp>
      <p:sp>
        <p:nvSpPr>
          <p:cNvPr id="26" name="Text 21"/>
          <p:cNvSpPr txBox="1"/>
          <p:nvPr/>
        </p:nvSpPr>
        <p:spPr>
          <a:xfrm>
            <a:off x="3246120" y="441655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l₃</a:t>
            </a:r>
            <a:endParaRPr lang="en-US" sz="1100" dirty="0"/>
          </a:p>
        </p:txBody>
      </p:sp>
      <p:sp>
        <p:nvSpPr>
          <p:cNvPr id="27" name="Shape 22"/>
          <p:cNvSpPr/>
          <p:nvPr/>
        </p:nvSpPr>
        <p:spPr>
          <a:xfrm>
            <a:off x="2194560" y="4754880"/>
            <a:ext cx="237744" cy="237744"/>
          </a:xfrm>
          <a:prstGeom prst="ellipse">
            <a:avLst/>
          </a:prstGeom>
          <a:solidFill>
            <a:srgbClr val="1D2740"/>
          </a:solidFill>
          <a:ln w="15875">
            <a:solidFill>
              <a:srgbClr val="4CC38A"/>
            </a:solidFill>
            <a:prstDash val="solid"/>
          </a:ln>
        </p:spPr>
      </p:sp>
      <p:sp>
        <p:nvSpPr>
          <p:cNvPr id="28" name="Text 23"/>
          <p:cNvSpPr txBox="1"/>
          <p:nvPr/>
        </p:nvSpPr>
        <p:spPr>
          <a:xfrm>
            <a:off x="2468880" y="4736592"/>
            <a:ext cx="365760" cy="274320"/>
          </a:xfrm>
          <a:prstGeom prst="rect">
            <a:avLst/>
          </a:prstGeom>
          <a:noFill/>
          <a:ln/>
        </p:spPr>
        <p:txBody>
          <a:bodyPr wrap="square" lIns="0" tIns="0" rIns="0" bIns="0" rtlCol="0" anchor="ctr"/>
          <a:lstStyle/>
          <a:p>
            <a:pPr indent="0" marL="0">
              <a:buNone/>
            </a:pPr>
            <a:r>
              <a:rPr lang="en-US" sz="1100" i="1" dirty="0">
                <a:solidFill>
                  <a:srgbClr val="C3CCDC"/>
                </a:solidFill>
                <a:latin typeface="Calibri" pitchFamily="34" charset="0"/>
                <a:ea typeface="Calibri" pitchFamily="34" charset="-122"/>
                <a:cs typeface="Calibri" pitchFamily="34" charset="-120"/>
              </a:rPr>
              <a:t>l₄</a:t>
            </a:r>
            <a:endParaRPr lang="en-US" sz="1100" dirty="0"/>
          </a:p>
        </p:txBody>
      </p:sp>
      <p:sp>
        <p:nvSpPr>
          <p:cNvPr id="29" name="Text 24"/>
          <p:cNvSpPr txBox="1"/>
          <p:nvPr/>
        </p:nvSpPr>
        <p:spPr>
          <a:xfrm>
            <a:off x="777240" y="3246120"/>
            <a:ext cx="2011680" cy="228600"/>
          </a:xfrm>
          <a:prstGeom prst="rect">
            <a:avLst/>
          </a:prstGeom>
          <a:noFill/>
          <a:ln/>
        </p:spPr>
        <p:txBody>
          <a:bodyPr wrap="square" lIns="0" tIns="0" rIns="0" bIns="0" rtlCol="0" anchor="t"/>
          <a:lstStyle/>
          <a:p>
            <a:pPr indent="0" marL="0">
              <a:buNone/>
            </a:pPr>
            <a:r>
              <a:rPr lang="en-US" sz="950" i="1" dirty="0">
                <a:solidFill>
                  <a:srgbClr val="8A96AD"/>
                </a:solidFill>
                <a:latin typeface="Calibri" pitchFamily="34" charset="0"/>
                <a:ea typeface="Calibri" pitchFamily="34" charset="-122"/>
                <a:cs typeface="Calibri" pitchFamily="34" charset="-120"/>
              </a:rPr>
              <a:t>thickness ∝ weight</a:t>
            </a:r>
            <a:endParaRPr lang="en-US" sz="950" dirty="0"/>
          </a:p>
        </p:txBody>
      </p:sp>
      <p:sp>
        <p:nvSpPr>
          <p:cNvPr id="30" name="Text 25"/>
          <p:cNvSpPr txBox="1"/>
          <p:nvPr/>
        </p:nvSpPr>
        <p:spPr>
          <a:xfrm>
            <a:off x="868680" y="5349240"/>
            <a:ext cx="1122218" cy="292608"/>
          </a:xfrm>
          <a:prstGeom prst="rect">
            <a:avLst/>
          </a:prstGeom>
          <a:solidFill>
            <a:srgbClr val="2E7D5B"/>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1</a:t>
            </a:r>
            <a:endParaRPr lang="en-US" sz="1000" dirty="0"/>
          </a:p>
        </p:txBody>
      </p:sp>
      <p:sp>
        <p:nvSpPr>
          <p:cNvPr id="31" name="Text 26"/>
          <p:cNvSpPr txBox="1"/>
          <p:nvPr/>
        </p:nvSpPr>
        <p:spPr>
          <a:xfrm>
            <a:off x="1990898" y="5349240"/>
            <a:ext cx="598516" cy="292608"/>
          </a:xfrm>
          <a:prstGeom prst="rect">
            <a:avLst/>
          </a:prstGeom>
          <a:solidFill>
            <a:srgbClr val="245F47"/>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2</a:t>
            </a:r>
            <a:endParaRPr lang="en-US" sz="1000" dirty="0"/>
          </a:p>
        </p:txBody>
      </p:sp>
      <p:sp>
        <p:nvSpPr>
          <p:cNvPr id="32" name="Text 27"/>
          <p:cNvSpPr txBox="1"/>
          <p:nvPr/>
        </p:nvSpPr>
        <p:spPr>
          <a:xfrm>
            <a:off x="2589415" y="5349240"/>
            <a:ext cx="1645920" cy="292608"/>
          </a:xfrm>
          <a:prstGeom prst="rect">
            <a:avLst/>
          </a:prstGeom>
          <a:solidFill>
            <a:srgbClr val="3FA676"/>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3</a:t>
            </a:r>
            <a:endParaRPr lang="en-US" sz="1000" dirty="0"/>
          </a:p>
        </p:txBody>
      </p:sp>
      <p:sp>
        <p:nvSpPr>
          <p:cNvPr id="33" name="Text 28"/>
          <p:cNvSpPr txBox="1"/>
          <p:nvPr/>
        </p:nvSpPr>
        <p:spPr>
          <a:xfrm>
            <a:off x="4235335" y="5349240"/>
            <a:ext cx="336665" cy="292608"/>
          </a:xfrm>
          <a:prstGeom prst="rect">
            <a:avLst/>
          </a:prstGeom>
          <a:solidFill>
            <a:srgbClr val="1C4A38"/>
          </a:solidFill>
          <a:ln w="12700">
            <a:solidFill>
              <a:srgbClr val="0F1420"/>
            </a:solidFill>
          </a:ln>
        </p:spPr>
        <p:txBody>
          <a:bodyPr wrap="square" lIns="0" tIns="0" rIns="0" bIns="0" rtlCol="0" anchor="ctr"/>
          <a:lstStyle/>
          <a:p>
            <a:pPr algn="ctr" indent="0" marL="0">
              <a:buNone/>
            </a:pPr>
            <a:r>
              <a:rPr lang="en-US" sz="1000" i="1" dirty="0">
                <a:solidFill>
                  <a:srgbClr val="E9EDF5"/>
                </a:solidFill>
                <a:latin typeface="Calibri" pitchFamily="34" charset="0"/>
                <a:ea typeface="Calibri" pitchFamily="34" charset="-122"/>
                <a:cs typeface="Calibri" pitchFamily="34" charset="-120"/>
              </a:rPr>
              <a:t>w</a:t>
            </a:r>
            <a:pPr algn="ctr" indent="0" marL="0">
              <a:buNone/>
            </a:pPr>
            <a:r>
              <a:rPr lang="en-US" sz="1000" baseline="-40000" dirty="0">
                <a:solidFill>
                  <a:srgbClr val="E9EDF5"/>
                </a:solidFill>
                <a:latin typeface="Calibri" pitchFamily="34" charset="0"/>
                <a:ea typeface="Calibri" pitchFamily="34" charset="-122"/>
                <a:cs typeface="Calibri" pitchFamily="34" charset="-120"/>
              </a:rPr>
              <a:t>4</a:t>
            </a:r>
            <a:endParaRPr lang="en-US" sz="1000" dirty="0"/>
          </a:p>
        </p:txBody>
      </p:sp>
      <p:sp>
        <p:nvSpPr>
          <p:cNvPr id="34" name="Shape 29"/>
          <p:cNvSpPr/>
          <p:nvPr/>
        </p:nvSpPr>
        <p:spPr>
          <a:xfrm>
            <a:off x="3300153" y="5001768"/>
            <a:ext cx="91" cy="329184"/>
          </a:xfrm>
          <a:prstGeom prst="line">
            <a:avLst/>
          </a:prstGeom>
          <a:noFill/>
          <a:ln w="25400">
            <a:solidFill>
              <a:srgbClr val="F39C34"/>
            </a:solidFill>
            <a:prstDash val="solid"/>
            <a:tailEnd type="triangle"/>
          </a:ln>
        </p:spPr>
      </p:sp>
      <p:sp>
        <p:nvSpPr>
          <p:cNvPr id="35" name="Text 30"/>
          <p:cNvSpPr txBox="1"/>
          <p:nvPr/>
        </p:nvSpPr>
        <p:spPr>
          <a:xfrm>
            <a:off x="2477193" y="4745736"/>
            <a:ext cx="1645920" cy="237744"/>
          </a:xfrm>
          <a:prstGeom prst="rect">
            <a:avLst/>
          </a:prstGeom>
          <a:noFill/>
          <a:ln/>
        </p:spPr>
        <p:txBody>
          <a:bodyPr wrap="square" lIns="0" tIns="0" rIns="0" bIns="0" rtlCol="0" anchor="ctr"/>
          <a:lstStyle/>
          <a:p>
            <a:pPr algn="ctr" indent="0" marL="0">
              <a:buNone/>
            </a:pPr>
            <a:r>
              <a:rPr lang="en-US" sz="1100" i="1" dirty="0">
                <a:solidFill>
                  <a:srgbClr val="F39C34"/>
                </a:solidFill>
                <a:latin typeface="Calibri" pitchFamily="34" charset="0"/>
                <a:ea typeface="Calibri" pitchFamily="34" charset="-122"/>
                <a:cs typeface="Calibri" pitchFamily="34" charset="-120"/>
              </a:rPr>
              <a:t>r ~ U[0, Σ)</a:t>
            </a:r>
            <a:endParaRPr lang="en-US" sz="1100" dirty="0"/>
          </a:p>
        </p:txBody>
      </p:sp>
      <p:sp>
        <p:nvSpPr>
          <p:cNvPr id="36" name="Text 31"/>
          <p:cNvSpPr txBox="1"/>
          <p:nvPr/>
        </p:nvSpPr>
        <p:spPr>
          <a:xfrm>
            <a:off x="777240" y="5678424"/>
            <a:ext cx="182880" cy="201168"/>
          </a:xfrm>
          <a:prstGeom prst="rect">
            <a:avLst/>
          </a:prstGeom>
          <a:noFill/>
          <a:ln/>
        </p:spPr>
        <p:txBody>
          <a:bodyPr wrap="square" lIns="0" tIns="0" rIns="0" bIns="0" rtlCol="0" anchor="t"/>
          <a:lstStyle/>
          <a:p>
            <a:pPr algn="ctr" indent="0" marL="0">
              <a:buNone/>
            </a:pPr>
            <a:r>
              <a:rPr lang="en-US" sz="950" dirty="0">
                <a:solidFill>
                  <a:srgbClr val="8A96AD"/>
                </a:solidFill>
                <a:latin typeface="Calibri" pitchFamily="34" charset="0"/>
                <a:ea typeface="Calibri" pitchFamily="34" charset="-122"/>
                <a:cs typeface="Calibri" pitchFamily="34" charset="-120"/>
              </a:rPr>
              <a:t>0</a:t>
            </a:r>
            <a:endParaRPr lang="en-US" sz="950" dirty="0"/>
          </a:p>
        </p:txBody>
      </p:sp>
      <p:sp>
        <p:nvSpPr>
          <p:cNvPr id="37" name="Text 32"/>
          <p:cNvSpPr txBox="1"/>
          <p:nvPr/>
        </p:nvSpPr>
        <p:spPr>
          <a:xfrm>
            <a:off x="4480560" y="5678424"/>
            <a:ext cx="182880" cy="201168"/>
          </a:xfrm>
          <a:prstGeom prst="rect">
            <a:avLst/>
          </a:prstGeom>
          <a:noFill/>
          <a:ln/>
        </p:spPr>
        <p:txBody>
          <a:bodyPr wrap="square" lIns="0" tIns="0" rIns="0" bIns="0" rtlCol="0" anchor="t"/>
          <a:lstStyle/>
          <a:p>
            <a:pPr algn="ctr" indent="0" marL="0">
              <a:buNone/>
            </a:pPr>
            <a:r>
              <a:rPr lang="en-US" sz="950" dirty="0">
                <a:solidFill>
                  <a:srgbClr val="8A96AD"/>
                </a:solidFill>
                <a:latin typeface="Calibri" pitchFamily="34" charset="0"/>
                <a:ea typeface="Calibri" pitchFamily="34" charset="-122"/>
                <a:cs typeface="Calibri" pitchFamily="34" charset="-120"/>
              </a:rPr>
              <a:t>Σ</a:t>
            </a:r>
            <a:endParaRPr lang="en-US" sz="950" dirty="0"/>
          </a:p>
        </p:txBody>
      </p:sp>
      <p:sp>
        <p:nvSpPr>
          <p:cNvPr id="38" name="Text 33"/>
          <p:cNvSpPr txBox="1"/>
          <p:nvPr/>
        </p:nvSpPr>
        <p:spPr>
          <a:xfrm>
            <a:off x="2263140" y="5678424"/>
            <a:ext cx="1097280" cy="219456"/>
          </a:xfrm>
          <a:prstGeom prst="rect">
            <a:avLst/>
          </a:prstGeom>
          <a:noFill/>
          <a:ln/>
        </p:spPr>
        <p:txBody>
          <a:bodyPr wrap="square" lIns="0" tIns="0" rIns="0" bIns="0" rtlCol="0" anchor="t"/>
          <a:lstStyle/>
          <a:p>
            <a:pPr algn="ctr" indent="0" marL="0">
              <a:buNone/>
            </a:pPr>
            <a:r>
              <a:rPr lang="en-US" sz="1000" dirty="0">
                <a:solidFill>
                  <a:srgbClr val="C3CCDC"/>
                </a:solidFill>
                <a:latin typeface="Calibri" pitchFamily="34" charset="0"/>
                <a:ea typeface="Calibri" pitchFamily="34" charset="-122"/>
                <a:cs typeface="Calibri" pitchFamily="34" charset="-120"/>
              </a:rPr>
              <a:t>→ picks l</a:t>
            </a:r>
            <a:pPr algn="ctr" indent="0" marL="0">
              <a:buNone/>
            </a:pPr>
            <a:r>
              <a:rPr lang="en-US" sz="1000" baseline="-40000" dirty="0">
                <a:solidFill>
                  <a:srgbClr val="C3CCDC"/>
                </a:solidFill>
                <a:latin typeface="Calibri" pitchFamily="34" charset="0"/>
                <a:ea typeface="Calibri" pitchFamily="34" charset="-122"/>
                <a:cs typeface="Calibri" pitchFamily="34" charset="-120"/>
              </a:rPr>
              <a:t>3</a:t>
            </a:r>
            <a:endParaRPr lang="en-US" sz="1000" dirty="0"/>
          </a:p>
        </p:txBody>
      </p:sp>
      <p:sp>
        <p:nvSpPr>
          <p:cNvPr id="39" name="Shape 34"/>
          <p:cNvSpPr/>
          <p:nvPr/>
        </p:nvSpPr>
        <p:spPr>
          <a:xfrm>
            <a:off x="5074920" y="2834640"/>
            <a:ext cx="6583680" cy="3419856"/>
          </a:xfrm>
          <a:prstGeom prst="roundRect">
            <a:avLst>
              <a:gd name="adj" fmla="val 2139"/>
            </a:avLst>
          </a:prstGeom>
          <a:solidFill>
            <a:srgbClr val="0B0F18"/>
          </a:solidFill>
          <a:ln w="9525">
            <a:solidFill>
              <a:srgbClr val="2A3550"/>
            </a:solidFill>
            <a:prstDash val="solid"/>
          </a:ln>
        </p:spPr>
      </p:sp>
      <p:sp>
        <p:nvSpPr>
          <p:cNvPr id="40" name="Shape 35"/>
          <p:cNvSpPr/>
          <p:nvPr/>
        </p:nvSpPr>
        <p:spPr>
          <a:xfrm>
            <a:off x="5239512" y="2953512"/>
            <a:ext cx="109728" cy="109728"/>
          </a:xfrm>
          <a:prstGeom prst="ellipse">
            <a:avLst/>
          </a:prstGeom>
          <a:solidFill>
            <a:srgbClr val="FF5F57"/>
          </a:solidFill>
          <a:ln w="12700">
            <a:solidFill>
              <a:srgbClr val="FF5F57"/>
            </a:solidFill>
            <a:prstDash val="solid"/>
          </a:ln>
        </p:spPr>
      </p:sp>
      <p:sp>
        <p:nvSpPr>
          <p:cNvPr id="41" name="Shape 36"/>
          <p:cNvSpPr/>
          <p:nvPr/>
        </p:nvSpPr>
        <p:spPr>
          <a:xfrm>
            <a:off x="5422392" y="2953512"/>
            <a:ext cx="109728" cy="109728"/>
          </a:xfrm>
          <a:prstGeom prst="ellipse">
            <a:avLst/>
          </a:prstGeom>
          <a:solidFill>
            <a:srgbClr val="FEBC2E"/>
          </a:solidFill>
          <a:ln w="12700">
            <a:solidFill>
              <a:srgbClr val="FEBC2E"/>
            </a:solidFill>
            <a:prstDash val="solid"/>
          </a:ln>
        </p:spPr>
      </p:sp>
      <p:sp>
        <p:nvSpPr>
          <p:cNvPr id="42" name="Shape 37"/>
          <p:cNvSpPr/>
          <p:nvPr/>
        </p:nvSpPr>
        <p:spPr>
          <a:xfrm>
            <a:off x="5605272" y="2953512"/>
            <a:ext cx="109728" cy="109728"/>
          </a:xfrm>
          <a:prstGeom prst="ellipse">
            <a:avLst/>
          </a:prstGeom>
          <a:solidFill>
            <a:srgbClr val="28C840"/>
          </a:solidFill>
          <a:ln w="12700">
            <a:solidFill>
              <a:srgbClr val="28C840"/>
            </a:solidFill>
            <a:prstDash val="solid"/>
          </a:ln>
        </p:spPr>
      </p:sp>
      <p:sp>
        <p:nvSpPr>
          <p:cNvPr id="43" name="Text 38"/>
          <p:cNvSpPr txBox="1"/>
          <p:nvPr/>
        </p:nvSpPr>
        <p:spPr>
          <a:xfrm>
            <a:off x="5897880" y="2898648"/>
            <a:ext cx="557784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MapModel.h</a:t>
            </a:r>
            <a:endParaRPr lang="en-US" sz="900" dirty="0"/>
          </a:p>
        </p:txBody>
      </p:sp>
      <p:sp>
        <p:nvSpPr>
          <p:cNvPr id="44" name="Text 39"/>
          <p:cNvSpPr txBox="1"/>
          <p:nvPr/>
        </p:nvSpPr>
        <p:spPr>
          <a:xfrm>
            <a:off x="5184648" y="3246120"/>
            <a:ext cx="310896" cy="3017520"/>
          </a:xfrm>
          <a:prstGeom prst="rect">
            <a:avLst/>
          </a:prstGeom>
          <a:noFill/>
          <a:ln/>
        </p:spPr>
        <p:txBody>
          <a:bodyPr wrap="square" lIns="0" tIns="0" rIns="0" bIns="0" rtlCol="0" anchor="t"/>
          <a:lstStyle/>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2</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3</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4</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5</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6</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7</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8</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9</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10</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11</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12</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13</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14</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15</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16</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17</a:t>
            </a:r>
            <a:endParaRPr lang="en-US" sz="930" dirty="0"/>
          </a:p>
          <a:p>
            <a:pPr algn="r" indent="0" marL="0">
              <a:lnSpc>
                <a:spcPts val="1280"/>
              </a:lnSpc>
              <a:buNone/>
            </a:pPr>
            <a:r>
              <a:rPr lang="en-US" sz="930" dirty="0">
                <a:solidFill>
                  <a:srgbClr val="4A5570"/>
                </a:solidFill>
                <a:latin typeface="Consolas" pitchFamily="34" charset="0"/>
                <a:ea typeface="Consolas" pitchFamily="34" charset="-122"/>
                <a:cs typeface="Consolas" pitchFamily="34" charset="-120"/>
              </a:rPr>
              <a:t>18</a:t>
            </a:r>
            <a:endParaRPr lang="en-US" sz="930" dirty="0"/>
          </a:p>
        </p:txBody>
      </p:sp>
      <p:sp>
        <p:nvSpPr>
          <p:cNvPr id="45" name="Text 40"/>
          <p:cNvSpPr txBox="1"/>
          <p:nvPr/>
        </p:nvSpPr>
        <p:spPr>
          <a:xfrm>
            <a:off x="5696712" y="3246120"/>
            <a:ext cx="5870448" cy="3017520"/>
          </a:xfrm>
          <a:prstGeom prst="rect">
            <a:avLst/>
          </a:prstGeom>
          <a:noFill/>
          <a:ln/>
        </p:spPr>
        <p:txBody>
          <a:bodyPr wrap="none" lIns="0" tIns="0" rIns="0" bIns="0" rtlCol="0" anchor="t"/>
          <a:lstStyle/>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tauVal</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pher</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current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d</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dist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current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eta</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d</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&gt;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1e-6</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1.0</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1e6</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w</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std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pow</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tauVal</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_options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alpha</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std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pow</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eta</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_options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beta</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i="1" dirty="0">
                <a:solidFill>
                  <a:srgbClr val="6B7894"/>
                </a:solidFill>
                <a:latin typeface="Consolas" pitchFamily="34" charset="0"/>
                <a:ea typeface="Consolas" pitchFamily="34" charset="-122"/>
                <a:cs typeface="Consolas" pitchFamily="34" charset="-120"/>
              </a:rPr>
              <a:t>// …</a:t>
            </a:r>
            <a:endParaRPr lang="en-US" sz="930" dirty="0"/>
          </a:p>
          <a:p>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std</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5CCFE6"/>
                </a:solidFill>
                <a:latin typeface="Consolas" pitchFamily="34" charset="0"/>
                <a:ea typeface="Consolas" pitchFamily="34" charset="-122"/>
                <a:cs typeface="Consolas" pitchFamily="34" charset="-120"/>
              </a:rPr>
              <a:t>uniform_real_distribution</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&lt;</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&gt;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pick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0.0</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sum</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r</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pick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rng</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double</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acc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0</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next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candidates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back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for</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size_t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C9A2F2"/>
                </a:solidFill>
                <a:latin typeface="Consolas" pitchFamily="34" charset="0"/>
                <a:ea typeface="Consolas" pitchFamily="34" charset="-122"/>
                <a:cs typeface="Consolas" pitchFamily="34" charset="-120"/>
              </a:rPr>
              <a:t>0</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&lt;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candidates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F2D08A"/>
                </a:solidFill>
                <a:latin typeface="Consolas" pitchFamily="34" charset="0"/>
                <a:ea typeface="Consolas" pitchFamily="34" charset="-122"/>
                <a:cs typeface="Consolas" pitchFamily="34" charset="-120"/>
              </a:rPr>
              <a:t>size</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acc</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weights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if</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r</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&lt;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acc</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next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candidates</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7FA7E8"/>
                </a:solidFill>
                <a:latin typeface="Consolas" pitchFamily="34" charset="0"/>
                <a:ea typeface="Consolas" pitchFamily="34" charset="-122"/>
                <a:cs typeface="Consolas" pitchFamily="34" charset="-120"/>
              </a:rPr>
              <a:t>break</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D5DCE8"/>
                </a:solidFill>
                <a:latin typeface="Consolas" pitchFamily="34" charset="0"/>
                <a:ea typeface="Consolas" pitchFamily="34" charset="-122"/>
                <a:cs typeface="Consolas" pitchFamily="34" charset="-120"/>
              </a:rPr>
              <a:t>    </a:t>
            </a:r>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a:p>
            <a:pPr algn="l" indent="0" marL="0">
              <a:lnSpc>
                <a:spcPts val="1280"/>
              </a:lnSpc>
              <a:buNone/>
            </a:pPr>
            <a:r>
              <a:rPr lang="en-US" sz="930" dirty="0">
                <a:solidFill>
                  <a:srgbClr val="9AA5B8"/>
                </a:solidFill>
                <a:latin typeface="Consolas" pitchFamily="34" charset="0"/>
                <a:ea typeface="Consolas" pitchFamily="34" charset="-122"/>
                <a:cs typeface="Consolas" pitchFamily="34" charset="-120"/>
              </a:rPr>
              <a:t>}</a:t>
            </a:r>
            <a:endParaRPr lang="en-US" sz="930" dirty="0"/>
          </a:p>
        </p:txBody>
      </p:sp>
      <p:sp>
        <p:nvSpPr>
          <p:cNvPr id="46" name="Shape 41"/>
          <p:cNvSpPr/>
          <p:nvPr/>
        </p:nvSpPr>
        <p:spPr>
          <a:xfrm>
            <a:off x="5623560" y="3765804"/>
            <a:ext cx="5925312" cy="162560"/>
          </a:xfrm>
          <a:prstGeom prst="roundRect">
            <a:avLst>
              <a:gd name="adj" fmla="val 22500"/>
            </a:avLst>
          </a:prstGeom>
          <a:ln w="13970">
            <a:solidFill>
              <a:srgbClr val="F39C34"/>
            </a:solidFill>
            <a:prstDash val="solid"/>
          </a:ln>
        </p:spPr>
      </p:sp>
      <p:sp>
        <p:nvSpPr>
          <p:cNvPr id="47" name="Shape 42"/>
          <p:cNvSpPr/>
          <p:nvPr/>
        </p:nvSpPr>
        <p:spPr>
          <a:xfrm>
            <a:off x="5623560" y="4741164"/>
            <a:ext cx="5925312" cy="1463040"/>
          </a:xfrm>
          <a:prstGeom prst="roundRect">
            <a:avLst>
              <a:gd name="adj" fmla="val 2500"/>
            </a:avLst>
          </a:prstGeom>
          <a:ln w="13970">
            <a:solidFill>
              <a:srgbClr val="F39C34"/>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Pheromone Update — Three Matrix Operations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The textbook Ant System rule, mapped one-to-one onto natID operators.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08 / 23</a:t>
            </a:r>
            <a:endParaRPr lang="en-US" sz="900" dirty="0"/>
          </a:p>
        </p:txBody>
      </p:sp>
      <p:sp>
        <p:nvSpPr>
          <p:cNvPr id="11" name="Shape 7"/>
          <p:cNvSpPr/>
          <p:nvPr/>
        </p:nvSpPr>
        <p:spPr>
          <a:xfrm>
            <a:off x="548640" y="1645920"/>
            <a:ext cx="3383280" cy="2148840"/>
          </a:xfrm>
          <a:prstGeom prst="roundRect">
            <a:avLst>
              <a:gd name="adj" fmla="val 3404"/>
            </a:avLst>
          </a:prstGeom>
          <a:solidFill>
            <a:srgbClr val="182033"/>
          </a:solidFill>
          <a:ln w="9525">
            <a:solidFill>
              <a:srgbClr val="2A3550"/>
            </a:solidFill>
            <a:prstDash val="solid"/>
          </a:ln>
        </p:spPr>
      </p:sp>
      <p:sp>
        <p:nvSpPr>
          <p:cNvPr id="12" name="Text 8"/>
          <p:cNvSpPr txBox="1"/>
          <p:nvPr/>
        </p:nvSpPr>
        <p:spPr>
          <a:xfrm>
            <a:off x="731520" y="1828800"/>
            <a:ext cx="347472" cy="347472"/>
          </a:xfrm>
          <a:prstGeom prst="ellipse">
            <a:avLst/>
          </a:prstGeom>
          <a:solidFill>
            <a:srgbClr val="F39C34"/>
          </a:solidFill>
          <a:ln>
            <a:solidFill>
              <a:srgbClr val="F39C34"/>
            </a:solidFill>
          </a:ln>
        </p:spPr>
        <p:txBody>
          <a:bodyPr wrap="square" lIns="0" tIns="0" rIns="0" bIns="0" rtlCol="0" anchor="ctr"/>
          <a:lstStyle/>
          <a:p>
            <a:pPr algn="ctr" indent="0" marL="0">
              <a:buNone/>
            </a:pPr>
            <a:r>
              <a:rPr lang="en-US" sz="1300" b="1" dirty="0">
                <a:solidFill>
                  <a:srgbClr val="0F1420"/>
                </a:solidFill>
                <a:latin typeface="Calibri" pitchFamily="34" charset="0"/>
                <a:ea typeface="Calibri" pitchFamily="34" charset="-122"/>
                <a:cs typeface="Calibri" pitchFamily="34" charset="-120"/>
              </a:rPr>
              <a:t>1</a:t>
            </a:r>
            <a:endParaRPr lang="en-US" sz="1300" dirty="0"/>
          </a:p>
        </p:txBody>
      </p:sp>
      <p:pic>
        <p:nvPicPr>
          <p:cNvPr id="13" name="Image 1" descr="evap">    </p:cNvPr>
          <p:cNvPicPr>
            <a:picLocks noChangeAspect="1"/>
          </p:cNvPicPr>
          <p:nvPr/>
        </p:nvPicPr>
        <p:blipFill>
          <a:blip r:embed="rId2"/>
          <a:stretch>
            <a:fillRect/>
          </a:stretch>
        </p:blipFill>
        <p:spPr>
          <a:xfrm>
            <a:off x="1336575" y="2404872"/>
            <a:ext cx="1807411" cy="365760"/>
          </a:xfrm>
          <a:prstGeom prst="rect">
            <a:avLst/>
          </a:prstGeom>
        </p:spPr>
      </p:pic>
      <p:sp>
        <p:nvSpPr>
          <p:cNvPr id="14" name="Text 9"/>
          <p:cNvSpPr txBox="1"/>
          <p:nvPr/>
        </p:nvSpPr>
        <p:spPr>
          <a:xfrm>
            <a:off x="685800" y="2944368"/>
            <a:ext cx="3108960" cy="384048"/>
          </a:xfrm>
          <a:prstGeom prst="rect">
            <a:avLst/>
          </a:prstGeom>
          <a:noFill/>
          <a:ln/>
        </p:spPr>
        <p:txBody>
          <a:bodyPr wrap="square" lIns="0" tIns="0" rIns="0" bIns="0" rtlCol="0" anchor="ctr"/>
          <a:lstStyle/>
          <a:p>
            <a:pPr algn="ctr" indent="0" marL="0">
              <a:buNone/>
            </a:pPr>
            <a:r>
              <a:rPr lang="en-US" sz="1000" dirty="0">
                <a:solidFill>
                  <a:srgbClr val="F2D08A"/>
                </a:solidFill>
                <a:latin typeface="Consolas" pitchFamily="34" charset="0"/>
                <a:ea typeface="Consolas" pitchFamily="34" charset="-122"/>
                <a:cs typeface="Consolas" pitchFamily="34" charset="-120"/>
              </a:rPr>
              <a:t>evaporatePheromone()</a:t>
            </a:r>
            <a:endParaRPr lang="en-US" sz="1000" dirty="0"/>
          </a:p>
        </p:txBody>
      </p:sp>
      <p:sp>
        <p:nvSpPr>
          <p:cNvPr id="15" name="Text 10"/>
          <p:cNvSpPr txBox="1"/>
          <p:nvPr/>
        </p:nvSpPr>
        <p:spPr>
          <a:xfrm>
            <a:off x="685800" y="3364992"/>
            <a:ext cx="3108960" cy="274320"/>
          </a:xfrm>
          <a:prstGeom prst="rect">
            <a:avLst/>
          </a:prstGeom>
          <a:noFill/>
          <a:ln/>
        </p:spPr>
        <p:txBody>
          <a:bodyPr wrap="square" lIns="0" tIns="0" rIns="0" bIns="0" rtlCol="0" anchor="ctr"/>
          <a:lstStyle/>
          <a:p>
            <a:pPr algn="ctr" indent="0" marL="0">
              <a:buNone/>
            </a:pPr>
            <a:r>
              <a:rPr lang="en-US" sz="1000" dirty="0">
                <a:solidFill>
                  <a:srgbClr val="4CC38A"/>
                </a:solidFill>
                <a:latin typeface="Consolas" pitchFamily="34" charset="0"/>
                <a:ea typeface="Consolas" pitchFamily="34" charset="-122"/>
                <a:cs typeface="Consolas" pitchFamily="34" charset="-120"/>
              </a:rPr>
              <a:t>_pheromone *= keep</a:t>
            </a:r>
            <a:endParaRPr lang="en-US" sz="1000" dirty="0"/>
          </a:p>
        </p:txBody>
      </p:sp>
      <p:sp>
        <p:nvSpPr>
          <p:cNvPr id="16" name="Shape 11"/>
          <p:cNvSpPr/>
          <p:nvPr/>
        </p:nvSpPr>
        <p:spPr>
          <a:xfrm>
            <a:off x="4005072" y="2715768"/>
            <a:ext cx="333756" cy="91"/>
          </a:xfrm>
          <a:prstGeom prst="line">
            <a:avLst/>
          </a:prstGeom>
          <a:noFill/>
          <a:ln w="22225">
            <a:solidFill>
              <a:srgbClr val="F39C34"/>
            </a:solidFill>
            <a:prstDash val="solid"/>
            <a:tailEnd type="triangle"/>
          </a:ln>
        </p:spPr>
      </p:sp>
      <p:sp>
        <p:nvSpPr>
          <p:cNvPr id="17" name="Shape 12"/>
          <p:cNvSpPr/>
          <p:nvPr/>
        </p:nvSpPr>
        <p:spPr>
          <a:xfrm>
            <a:off x="4411980" y="1645920"/>
            <a:ext cx="3383280" cy="2148840"/>
          </a:xfrm>
          <a:prstGeom prst="roundRect">
            <a:avLst>
              <a:gd name="adj" fmla="val 3404"/>
            </a:avLst>
          </a:prstGeom>
          <a:solidFill>
            <a:srgbClr val="182033"/>
          </a:solidFill>
          <a:ln w="9525">
            <a:solidFill>
              <a:srgbClr val="2A3550"/>
            </a:solidFill>
            <a:prstDash val="solid"/>
          </a:ln>
        </p:spPr>
      </p:sp>
      <p:sp>
        <p:nvSpPr>
          <p:cNvPr id="18" name="Text 13"/>
          <p:cNvSpPr txBox="1"/>
          <p:nvPr/>
        </p:nvSpPr>
        <p:spPr>
          <a:xfrm>
            <a:off x="4594860" y="1828800"/>
            <a:ext cx="347472" cy="347472"/>
          </a:xfrm>
          <a:prstGeom prst="ellipse">
            <a:avLst/>
          </a:prstGeom>
          <a:solidFill>
            <a:srgbClr val="F39C34"/>
          </a:solidFill>
          <a:ln>
            <a:solidFill>
              <a:srgbClr val="F39C34"/>
            </a:solidFill>
          </a:ln>
        </p:spPr>
        <p:txBody>
          <a:bodyPr wrap="square" lIns="0" tIns="0" rIns="0" bIns="0" rtlCol="0" anchor="ctr"/>
          <a:lstStyle/>
          <a:p>
            <a:pPr algn="ctr" indent="0" marL="0">
              <a:buNone/>
            </a:pPr>
            <a:r>
              <a:rPr lang="en-US" sz="1300" b="1" dirty="0">
                <a:solidFill>
                  <a:srgbClr val="0F1420"/>
                </a:solidFill>
                <a:latin typeface="Calibri" pitchFamily="34" charset="0"/>
                <a:ea typeface="Calibri" pitchFamily="34" charset="-122"/>
                <a:cs typeface="Calibri" pitchFamily="34" charset="-120"/>
              </a:rPr>
              <a:t>2</a:t>
            </a:r>
            <a:endParaRPr lang="en-US" sz="1300" dirty="0"/>
          </a:p>
        </p:txBody>
      </p:sp>
      <p:pic>
        <p:nvPicPr>
          <p:cNvPr id="19" name="Image 2" descr="dep">    </p:cNvPr>
          <p:cNvPicPr>
            <a:picLocks noChangeAspect="1"/>
          </p:cNvPicPr>
          <p:nvPr/>
        </p:nvPicPr>
        <p:blipFill>
          <a:blip r:embed="rId3"/>
          <a:stretch>
            <a:fillRect/>
          </a:stretch>
        </p:blipFill>
        <p:spPr>
          <a:xfrm>
            <a:off x="5288263" y="2304288"/>
            <a:ext cx="1630714" cy="566928"/>
          </a:xfrm>
          <a:prstGeom prst="rect">
            <a:avLst/>
          </a:prstGeom>
        </p:spPr>
      </p:pic>
      <p:sp>
        <p:nvSpPr>
          <p:cNvPr id="20" name="Text 14"/>
          <p:cNvSpPr txBox="1"/>
          <p:nvPr/>
        </p:nvSpPr>
        <p:spPr>
          <a:xfrm>
            <a:off x="4549140" y="2944368"/>
            <a:ext cx="3108960" cy="384048"/>
          </a:xfrm>
          <a:prstGeom prst="rect">
            <a:avLst/>
          </a:prstGeom>
          <a:noFill/>
          <a:ln/>
        </p:spPr>
        <p:txBody>
          <a:bodyPr wrap="square" lIns="0" tIns="0" rIns="0" bIns="0" rtlCol="0" anchor="ctr"/>
          <a:lstStyle/>
          <a:p>
            <a:pPr algn="ctr" indent="0" marL="0">
              <a:buNone/>
            </a:pPr>
            <a:r>
              <a:rPr lang="en-US" sz="1000" dirty="0">
                <a:solidFill>
                  <a:srgbClr val="F2D08A"/>
                </a:solidFill>
                <a:latin typeface="Consolas" pitchFamily="34" charset="0"/>
                <a:ea typeface="Consolas" pitchFamily="34" charset="-122"/>
                <a:cs typeface="Consolas" pitchFamily="34" charset="-120"/>
              </a:rPr>
              <a:t>beginPheromoneDeposit()</a:t>
            </a:r>
            <a:endParaRPr lang="en-US" sz="1000" dirty="0"/>
          </a:p>
          <a:p>
            <a:pPr algn="ctr" indent="0" marL="0">
              <a:buNone/>
            </a:pPr>
            <a:r>
              <a:rPr lang="en-US" sz="1000" dirty="0">
                <a:solidFill>
                  <a:srgbClr val="F2D08A"/>
                </a:solidFill>
                <a:latin typeface="Consolas" pitchFamily="34" charset="0"/>
                <a:ea typeface="Consolas" pitchFamily="34" charset="-122"/>
                <a:cs typeface="Consolas" pitchFamily="34" charset="-120"/>
              </a:rPr>
              <a:t>+ depositPheromone()</a:t>
            </a:r>
            <a:endParaRPr lang="en-US" sz="1000" dirty="0"/>
          </a:p>
        </p:txBody>
      </p:sp>
      <p:sp>
        <p:nvSpPr>
          <p:cNvPr id="21" name="Text 15"/>
          <p:cNvSpPr txBox="1"/>
          <p:nvPr/>
        </p:nvSpPr>
        <p:spPr>
          <a:xfrm>
            <a:off x="4549140" y="3364992"/>
            <a:ext cx="3108960" cy="274320"/>
          </a:xfrm>
          <a:prstGeom prst="rect">
            <a:avLst/>
          </a:prstGeom>
          <a:noFill/>
          <a:ln/>
        </p:spPr>
        <p:txBody>
          <a:bodyPr wrap="square" lIns="0" tIns="0" rIns="0" bIns="0" rtlCol="0" anchor="ctr"/>
          <a:lstStyle/>
          <a:p>
            <a:pPr algn="ctr" indent="0" marL="0">
              <a:buNone/>
            </a:pPr>
            <a:r>
              <a:rPr lang="en-US" sz="1000" dirty="0">
                <a:solidFill>
                  <a:srgbClr val="4CC38A"/>
                </a:solidFill>
                <a:latin typeface="Consolas" pitchFamily="34" charset="0"/>
                <a:ea typeface="Consolas" pitchFamily="34" charset="-122"/>
                <a:cs typeface="Consolas" pitchFamily="34" charset="-120"/>
              </a:rPr>
              <a:t>zeros(), then per-edge += Q/L</a:t>
            </a:r>
            <a:endParaRPr lang="en-US" sz="1000" dirty="0"/>
          </a:p>
        </p:txBody>
      </p:sp>
      <p:sp>
        <p:nvSpPr>
          <p:cNvPr id="22" name="Shape 16"/>
          <p:cNvSpPr/>
          <p:nvPr/>
        </p:nvSpPr>
        <p:spPr>
          <a:xfrm>
            <a:off x="7868412" y="2715768"/>
            <a:ext cx="333756" cy="91"/>
          </a:xfrm>
          <a:prstGeom prst="line">
            <a:avLst/>
          </a:prstGeom>
          <a:noFill/>
          <a:ln w="22225">
            <a:solidFill>
              <a:srgbClr val="F39C34"/>
            </a:solidFill>
            <a:prstDash val="solid"/>
            <a:tailEnd type="triangle"/>
          </a:ln>
        </p:spPr>
      </p:sp>
      <p:sp>
        <p:nvSpPr>
          <p:cNvPr id="23" name="Shape 17"/>
          <p:cNvSpPr/>
          <p:nvPr/>
        </p:nvSpPr>
        <p:spPr>
          <a:xfrm>
            <a:off x="8275320" y="1645920"/>
            <a:ext cx="3383280" cy="2148840"/>
          </a:xfrm>
          <a:prstGeom prst="roundRect">
            <a:avLst>
              <a:gd name="adj" fmla="val 3404"/>
            </a:avLst>
          </a:prstGeom>
          <a:solidFill>
            <a:srgbClr val="182033"/>
          </a:solidFill>
          <a:ln w="9525">
            <a:solidFill>
              <a:srgbClr val="2A3550"/>
            </a:solidFill>
            <a:prstDash val="solid"/>
          </a:ln>
        </p:spPr>
      </p:sp>
      <p:sp>
        <p:nvSpPr>
          <p:cNvPr id="24" name="Text 18"/>
          <p:cNvSpPr txBox="1"/>
          <p:nvPr/>
        </p:nvSpPr>
        <p:spPr>
          <a:xfrm>
            <a:off x="8458200" y="1828800"/>
            <a:ext cx="347472" cy="347472"/>
          </a:xfrm>
          <a:prstGeom prst="ellipse">
            <a:avLst/>
          </a:prstGeom>
          <a:solidFill>
            <a:srgbClr val="F39C34"/>
          </a:solidFill>
          <a:ln>
            <a:solidFill>
              <a:srgbClr val="F39C34"/>
            </a:solidFill>
          </a:ln>
        </p:spPr>
        <p:txBody>
          <a:bodyPr wrap="square" lIns="0" tIns="0" rIns="0" bIns="0" rtlCol="0" anchor="ctr"/>
          <a:lstStyle/>
          <a:p>
            <a:pPr algn="ctr" indent="0" marL="0">
              <a:buNone/>
            </a:pPr>
            <a:r>
              <a:rPr lang="en-US" sz="1300" b="1" dirty="0">
                <a:solidFill>
                  <a:srgbClr val="0F1420"/>
                </a:solidFill>
                <a:latin typeface="Calibri" pitchFamily="34" charset="0"/>
                <a:ea typeface="Calibri" pitchFamily="34" charset="-122"/>
                <a:cs typeface="Calibri" pitchFamily="34" charset="-120"/>
              </a:rPr>
              <a:t>3</a:t>
            </a:r>
            <a:endParaRPr lang="en-US" sz="1300" dirty="0"/>
          </a:p>
        </p:txBody>
      </p:sp>
      <p:pic>
        <p:nvPicPr>
          <p:cNvPr id="25" name="Image 3" descr="apply">    </p:cNvPr>
          <p:cNvPicPr>
            <a:picLocks noChangeAspect="1"/>
          </p:cNvPicPr>
          <p:nvPr/>
        </p:nvPicPr>
        <p:blipFill>
          <a:blip r:embed="rId4"/>
          <a:stretch>
            <a:fillRect/>
          </a:stretch>
        </p:blipFill>
        <p:spPr>
          <a:xfrm>
            <a:off x="9091845" y="2432304"/>
            <a:ext cx="1750229" cy="310896"/>
          </a:xfrm>
          <a:prstGeom prst="rect">
            <a:avLst/>
          </a:prstGeom>
        </p:spPr>
      </p:pic>
      <p:sp>
        <p:nvSpPr>
          <p:cNvPr id="26" name="Text 19"/>
          <p:cNvSpPr txBox="1"/>
          <p:nvPr/>
        </p:nvSpPr>
        <p:spPr>
          <a:xfrm>
            <a:off x="8412480" y="2944368"/>
            <a:ext cx="3108960" cy="384048"/>
          </a:xfrm>
          <a:prstGeom prst="rect">
            <a:avLst/>
          </a:prstGeom>
          <a:noFill/>
          <a:ln/>
        </p:spPr>
        <p:txBody>
          <a:bodyPr wrap="square" lIns="0" tIns="0" rIns="0" bIns="0" rtlCol="0" anchor="ctr"/>
          <a:lstStyle/>
          <a:p>
            <a:pPr algn="ctr" indent="0" marL="0">
              <a:buNone/>
            </a:pPr>
            <a:r>
              <a:rPr lang="en-US" sz="1000" dirty="0">
                <a:solidFill>
                  <a:srgbClr val="F2D08A"/>
                </a:solidFill>
                <a:latin typeface="Consolas" pitchFamily="34" charset="0"/>
                <a:ea typeface="Consolas" pitchFamily="34" charset="-122"/>
                <a:cs typeface="Consolas" pitchFamily="34" charset="-120"/>
              </a:rPr>
              <a:t>applyPheromoneDeposit()</a:t>
            </a:r>
            <a:endParaRPr lang="en-US" sz="1000" dirty="0"/>
          </a:p>
        </p:txBody>
      </p:sp>
      <p:sp>
        <p:nvSpPr>
          <p:cNvPr id="27" name="Text 20"/>
          <p:cNvSpPr txBox="1"/>
          <p:nvPr/>
        </p:nvSpPr>
        <p:spPr>
          <a:xfrm>
            <a:off x="8412480" y="3364992"/>
            <a:ext cx="3108960" cy="274320"/>
          </a:xfrm>
          <a:prstGeom prst="rect">
            <a:avLst/>
          </a:prstGeom>
          <a:noFill/>
          <a:ln/>
        </p:spPr>
        <p:txBody>
          <a:bodyPr wrap="square" lIns="0" tIns="0" rIns="0" bIns="0" rtlCol="0" anchor="ctr"/>
          <a:lstStyle/>
          <a:p>
            <a:pPr algn="ctr" indent="0" marL="0">
              <a:buNone/>
            </a:pPr>
            <a:r>
              <a:rPr lang="en-US" sz="1000" dirty="0">
                <a:solidFill>
                  <a:srgbClr val="4CC38A"/>
                </a:solidFill>
                <a:latin typeface="Consolas" pitchFamily="34" charset="0"/>
                <a:ea typeface="Consolas" pitchFamily="34" charset="-122"/>
                <a:cs typeface="Consolas" pitchFamily="34" charset="-120"/>
              </a:rPr>
              <a:t>_pheromone += _deltaPheromone</a:t>
            </a:r>
            <a:endParaRPr lang="en-US" sz="1000" dirty="0"/>
          </a:p>
        </p:txBody>
      </p:sp>
      <p:sp>
        <p:nvSpPr>
          <p:cNvPr id="28" name="Shape 21"/>
          <p:cNvSpPr/>
          <p:nvPr/>
        </p:nvSpPr>
        <p:spPr>
          <a:xfrm>
            <a:off x="548640" y="4023360"/>
            <a:ext cx="6035040" cy="2194560"/>
          </a:xfrm>
          <a:prstGeom prst="roundRect">
            <a:avLst>
              <a:gd name="adj" fmla="val 3333"/>
            </a:avLst>
          </a:prstGeom>
          <a:solidFill>
            <a:srgbClr val="0B0F18"/>
          </a:solidFill>
          <a:ln w="9525">
            <a:solidFill>
              <a:srgbClr val="2A3550"/>
            </a:solidFill>
            <a:prstDash val="solid"/>
          </a:ln>
        </p:spPr>
      </p:sp>
      <p:sp>
        <p:nvSpPr>
          <p:cNvPr id="29" name="Shape 22"/>
          <p:cNvSpPr/>
          <p:nvPr/>
        </p:nvSpPr>
        <p:spPr>
          <a:xfrm>
            <a:off x="713232" y="4142232"/>
            <a:ext cx="109728" cy="109728"/>
          </a:xfrm>
          <a:prstGeom prst="ellipse">
            <a:avLst/>
          </a:prstGeom>
          <a:solidFill>
            <a:srgbClr val="FF5F57"/>
          </a:solidFill>
          <a:ln w="12700">
            <a:solidFill>
              <a:srgbClr val="FF5F57"/>
            </a:solidFill>
            <a:prstDash val="solid"/>
          </a:ln>
        </p:spPr>
      </p:sp>
      <p:sp>
        <p:nvSpPr>
          <p:cNvPr id="30" name="Shape 23"/>
          <p:cNvSpPr/>
          <p:nvPr/>
        </p:nvSpPr>
        <p:spPr>
          <a:xfrm>
            <a:off x="896112" y="4142232"/>
            <a:ext cx="109728" cy="109728"/>
          </a:xfrm>
          <a:prstGeom prst="ellipse">
            <a:avLst/>
          </a:prstGeom>
          <a:solidFill>
            <a:srgbClr val="FEBC2E"/>
          </a:solidFill>
          <a:ln w="12700">
            <a:solidFill>
              <a:srgbClr val="FEBC2E"/>
            </a:solidFill>
            <a:prstDash val="solid"/>
          </a:ln>
        </p:spPr>
      </p:sp>
      <p:sp>
        <p:nvSpPr>
          <p:cNvPr id="31" name="Shape 24"/>
          <p:cNvSpPr/>
          <p:nvPr/>
        </p:nvSpPr>
        <p:spPr>
          <a:xfrm>
            <a:off x="1078992" y="4142232"/>
            <a:ext cx="109728" cy="109728"/>
          </a:xfrm>
          <a:prstGeom prst="ellipse">
            <a:avLst/>
          </a:prstGeom>
          <a:solidFill>
            <a:srgbClr val="28C840"/>
          </a:solidFill>
          <a:ln w="12700">
            <a:solidFill>
              <a:srgbClr val="28C840"/>
            </a:solidFill>
            <a:prstDash val="solid"/>
          </a:ln>
        </p:spPr>
      </p:sp>
      <p:sp>
        <p:nvSpPr>
          <p:cNvPr id="32" name="Text 25"/>
          <p:cNvSpPr txBox="1"/>
          <p:nvPr/>
        </p:nvSpPr>
        <p:spPr>
          <a:xfrm>
            <a:off x="1371600" y="4087368"/>
            <a:ext cx="502920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MapModel.h</a:t>
            </a:r>
            <a:endParaRPr lang="en-US" sz="900" dirty="0"/>
          </a:p>
        </p:txBody>
      </p:sp>
      <p:sp>
        <p:nvSpPr>
          <p:cNvPr id="33" name="Text 26"/>
          <p:cNvSpPr txBox="1"/>
          <p:nvPr/>
        </p:nvSpPr>
        <p:spPr>
          <a:xfrm>
            <a:off x="658368" y="4434840"/>
            <a:ext cx="310896" cy="1234440"/>
          </a:xfrm>
          <a:prstGeom prst="rect">
            <a:avLst/>
          </a:prstGeom>
          <a:noFill/>
          <a:ln/>
        </p:spPr>
        <p:txBody>
          <a:bodyPr wrap="square" lIns="0" tIns="0" rIns="0" bIns="0" rtlCol="0" anchor="t"/>
          <a:lstStyle/>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1</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2</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3</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4</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5</a:t>
            </a:r>
            <a:endParaRPr lang="en-US" sz="1100" dirty="0"/>
          </a:p>
          <a:p>
            <a:pPr algn="r" indent="0" marL="0">
              <a:lnSpc>
                <a:spcPts val="1500"/>
              </a:lnSpc>
              <a:buNone/>
            </a:pPr>
            <a:r>
              <a:rPr lang="en-US" sz="1100" dirty="0">
                <a:solidFill>
                  <a:srgbClr val="4A5570"/>
                </a:solidFill>
                <a:latin typeface="Consolas" pitchFamily="34" charset="0"/>
                <a:ea typeface="Consolas" pitchFamily="34" charset="-122"/>
                <a:cs typeface="Consolas" pitchFamily="34" charset="-120"/>
              </a:rPr>
              <a:t>6</a:t>
            </a:r>
            <a:endParaRPr lang="en-US" sz="1100" dirty="0"/>
          </a:p>
        </p:txBody>
      </p:sp>
      <p:sp>
        <p:nvSpPr>
          <p:cNvPr id="34" name="Text 27"/>
          <p:cNvSpPr txBox="1"/>
          <p:nvPr/>
        </p:nvSpPr>
        <p:spPr>
          <a:xfrm>
            <a:off x="1170432" y="4434840"/>
            <a:ext cx="5321808" cy="1234440"/>
          </a:xfrm>
          <a:prstGeom prst="rect">
            <a:avLst/>
          </a:prstGeom>
          <a:noFill/>
          <a:ln/>
        </p:spPr>
        <p:txBody>
          <a:bodyPr wrap="none" lIns="0" tIns="0" rIns="0" bIns="0" rtlCol="0" anchor="t"/>
          <a:lstStyle/>
          <a:p>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evaporatePheromone</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000000"/>
                </a:solidFill>
                <a:latin typeface="Consolas" pitchFamily="34" charset="0"/>
                <a:ea typeface="Consolas" pitchFamily="34" charset="-122"/>
                <a:cs typeface="Consolas" pitchFamily="34" charset="-120"/>
              </a:rPr>
              <a:t> </a:t>
            </a:r>
            <a:endParaRPr lang="en-US" sz="1100" dirty="0"/>
          </a:p>
          <a:p>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beginPheromoneDeposit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7FA7E8"/>
                </a:solidFill>
                <a:latin typeface="Consolas" pitchFamily="34" charset="0"/>
                <a:ea typeface="Consolas" pitchFamily="34" charset="-122"/>
                <a:cs typeface="Consolas" pitchFamily="34" charset="-120"/>
              </a:rPr>
              <a:t>for</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7FA7E8"/>
                </a:solidFill>
                <a:latin typeface="Consolas" pitchFamily="34" charset="0"/>
                <a:ea typeface="Consolas" pitchFamily="34" charset="-122"/>
                <a:cs typeface="Consolas" pitchFamily="34" charset="-120"/>
              </a:rPr>
              <a:t>int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C9A2F2"/>
                </a:solidFill>
                <a:latin typeface="Consolas" pitchFamily="34" charset="0"/>
                <a:ea typeface="Consolas" pitchFamily="34" charset="-122"/>
                <a:cs typeface="Consolas" pitchFamily="34" charset="-120"/>
              </a:rPr>
              <a:t>0</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&lt;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_options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numAnts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depositPheromone</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antTours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 </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antLengths</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D5DCE8"/>
                </a:solidFill>
                <a:latin typeface="Consolas" pitchFamily="34" charset="0"/>
                <a:ea typeface="Consolas" pitchFamily="34" charset="-122"/>
                <a:cs typeface="Consolas" pitchFamily="34" charset="-120"/>
              </a:rPr>
              <a:t>a</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a:p>
            <a:pPr algn="l" indent="0" marL="0">
              <a:lnSpc>
                <a:spcPts val="1500"/>
              </a:lnSpc>
              <a:buNone/>
            </a:pPr>
            <a:r>
              <a:rPr lang="en-US" sz="1100" dirty="0">
                <a:solidFill>
                  <a:srgbClr val="F2D08A"/>
                </a:solidFill>
                <a:latin typeface="Consolas" pitchFamily="34" charset="0"/>
                <a:ea typeface="Consolas" pitchFamily="34" charset="-122"/>
                <a:cs typeface="Consolas" pitchFamily="34" charset="-120"/>
              </a:rPr>
              <a:t>applyPheromoneDeposit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pPr algn="l" indent="0" marL="0">
              <a:lnSpc>
                <a:spcPts val="1500"/>
              </a:lnSpc>
              <a:buNone/>
            </a:pPr>
            <a:r>
              <a:rPr lang="en-US" sz="1100" dirty="0">
                <a:solidFill>
                  <a:srgbClr val="9AA5B8"/>
                </a:solidFill>
                <a:latin typeface="Consolas" pitchFamily="34" charset="0"/>
                <a:ea typeface="Consolas" pitchFamily="34" charset="-122"/>
                <a:cs typeface="Consolas" pitchFamily="34" charset="-120"/>
              </a:rPr>
              <a:t>;</a:t>
            </a:r>
            <a:endParaRPr lang="en-US" sz="1100" dirty="0"/>
          </a:p>
        </p:txBody>
      </p:sp>
      <p:sp>
        <p:nvSpPr>
          <p:cNvPr id="35" name="Shape 28"/>
          <p:cNvSpPr/>
          <p:nvPr/>
        </p:nvSpPr>
        <p:spPr>
          <a:xfrm>
            <a:off x="1097280" y="4466844"/>
            <a:ext cx="5376672" cy="190500"/>
          </a:xfrm>
          <a:prstGeom prst="roundRect">
            <a:avLst>
              <a:gd name="adj" fmla="val 19200"/>
            </a:avLst>
          </a:prstGeom>
          <a:ln w="13970">
            <a:solidFill>
              <a:srgbClr val="F39C34"/>
            </a:solidFill>
            <a:prstDash val="solid"/>
          </a:ln>
        </p:spPr>
      </p:sp>
      <p:sp>
        <p:nvSpPr>
          <p:cNvPr id="36" name="Shape 29"/>
          <p:cNvSpPr/>
          <p:nvPr/>
        </p:nvSpPr>
        <p:spPr>
          <a:xfrm>
            <a:off x="1097280" y="4847844"/>
            <a:ext cx="5376672" cy="190500"/>
          </a:xfrm>
          <a:prstGeom prst="roundRect">
            <a:avLst>
              <a:gd name="adj" fmla="val 19200"/>
            </a:avLst>
          </a:prstGeom>
          <a:ln w="13970">
            <a:solidFill>
              <a:srgbClr val="F39C34"/>
            </a:solidFill>
            <a:prstDash val="solid"/>
          </a:ln>
        </p:spPr>
      </p:sp>
      <p:sp>
        <p:nvSpPr>
          <p:cNvPr id="37" name="Shape 30"/>
          <p:cNvSpPr/>
          <p:nvPr/>
        </p:nvSpPr>
        <p:spPr>
          <a:xfrm>
            <a:off x="1097280" y="5419344"/>
            <a:ext cx="5376672" cy="190500"/>
          </a:xfrm>
          <a:prstGeom prst="roundRect">
            <a:avLst>
              <a:gd name="adj" fmla="val 19200"/>
            </a:avLst>
          </a:prstGeom>
          <a:ln w="13970">
            <a:solidFill>
              <a:srgbClr val="F39C34"/>
            </a:solidFill>
            <a:prstDash val="solid"/>
          </a:ln>
        </p:spPr>
      </p:sp>
      <p:sp>
        <p:nvSpPr>
          <p:cNvPr id="38" name="Shape 31"/>
          <p:cNvSpPr/>
          <p:nvPr/>
        </p:nvSpPr>
        <p:spPr>
          <a:xfrm>
            <a:off x="6858000" y="4023360"/>
            <a:ext cx="4800600" cy="640080"/>
          </a:xfrm>
          <a:prstGeom prst="roundRect">
            <a:avLst>
              <a:gd name="adj" fmla="val 50000"/>
            </a:avLst>
          </a:prstGeom>
          <a:solidFill>
            <a:srgbClr val="182033"/>
          </a:solidFill>
          <a:ln w="9525">
            <a:solidFill>
              <a:srgbClr val="2A3550"/>
            </a:solidFill>
            <a:prstDash val="solid"/>
          </a:ln>
        </p:spPr>
      </p:sp>
      <p:pic>
        <p:nvPicPr>
          <p:cNvPr id="39" name="Image 4" descr="preencoded.png">    </p:cNvPr>
          <p:cNvPicPr>
            <a:picLocks noChangeAspect="1"/>
          </p:cNvPicPr>
          <p:nvPr/>
        </p:nvPicPr>
        <p:blipFill>
          <a:blip r:embed="rId5"/>
          <a:stretch>
            <a:fillRect/>
          </a:stretch>
        </p:blipFill>
        <p:spPr>
          <a:xfrm>
            <a:off x="7086600" y="4206240"/>
            <a:ext cx="274320" cy="274320"/>
          </a:xfrm>
          <a:prstGeom prst="rect">
            <a:avLst/>
          </a:prstGeom>
        </p:spPr>
      </p:pic>
      <p:sp>
        <p:nvSpPr>
          <p:cNvPr id="40" name="Text 32"/>
          <p:cNvSpPr txBox="1"/>
          <p:nvPr/>
        </p:nvSpPr>
        <p:spPr>
          <a:xfrm>
            <a:off x="7543800" y="4023360"/>
            <a:ext cx="3977640" cy="640080"/>
          </a:xfrm>
          <a:prstGeom prst="rect">
            <a:avLst/>
          </a:prstGeom>
          <a:noFill/>
          <a:ln/>
        </p:spPr>
        <p:txBody>
          <a:bodyPr wrap="square" lIns="0" tIns="0" rIns="0" bIns="0" rtlCol="0" anchor="ctr"/>
          <a:lstStyle/>
          <a:p>
            <a:pPr indent="0" marL="0">
              <a:buNone/>
            </a:pPr>
            <a:r>
              <a:rPr lang="en-US" sz="1300" dirty="0">
                <a:solidFill>
                  <a:srgbClr val="E9EDF5"/>
                </a:solidFill>
                <a:latin typeface="Calibri" pitchFamily="34" charset="0"/>
                <a:ea typeface="Calibri" pitchFamily="34" charset="-122"/>
                <a:cs typeface="Calibri" pitchFamily="34" charset="-120"/>
              </a:rPr>
              <a:t>Evaporate the old trail first</a:t>
            </a:r>
            <a:endParaRPr lang="en-US" sz="1300" dirty="0"/>
          </a:p>
        </p:txBody>
      </p:sp>
      <p:sp>
        <p:nvSpPr>
          <p:cNvPr id="41" name="Shape 33"/>
          <p:cNvSpPr/>
          <p:nvPr/>
        </p:nvSpPr>
        <p:spPr>
          <a:xfrm>
            <a:off x="6858000" y="4782312"/>
            <a:ext cx="4800600" cy="640080"/>
          </a:xfrm>
          <a:prstGeom prst="roundRect">
            <a:avLst>
              <a:gd name="adj" fmla="val 50000"/>
            </a:avLst>
          </a:prstGeom>
          <a:solidFill>
            <a:srgbClr val="182033"/>
          </a:solidFill>
          <a:ln w="9525">
            <a:solidFill>
              <a:srgbClr val="2A3550"/>
            </a:solidFill>
            <a:prstDash val="solid"/>
          </a:ln>
        </p:spPr>
      </p:sp>
      <p:pic>
        <p:nvPicPr>
          <p:cNvPr id="42" name="Image 5" descr="preencoded.png">    </p:cNvPr>
          <p:cNvPicPr>
            <a:picLocks noChangeAspect="1"/>
          </p:cNvPicPr>
          <p:nvPr/>
        </p:nvPicPr>
        <p:blipFill>
          <a:blip r:embed="rId6"/>
          <a:stretch>
            <a:fillRect/>
          </a:stretch>
        </p:blipFill>
        <p:spPr>
          <a:xfrm>
            <a:off x="7086600" y="4965192"/>
            <a:ext cx="274320" cy="274320"/>
          </a:xfrm>
          <a:prstGeom prst="rect">
            <a:avLst/>
          </a:prstGeom>
        </p:spPr>
      </p:pic>
      <p:sp>
        <p:nvSpPr>
          <p:cNvPr id="43" name="Text 34"/>
          <p:cNvSpPr txBox="1"/>
          <p:nvPr/>
        </p:nvSpPr>
        <p:spPr>
          <a:xfrm>
            <a:off x="7543800" y="4782312"/>
            <a:ext cx="3977640" cy="640080"/>
          </a:xfrm>
          <a:prstGeom prst="rect">
            <a:avLst/>
          </a:prstGeom>
          <a:noFill/>
          <a:ln/>
        </p:spPr>
        <p:txBody>
          <a:bodyPr wrap="square" lIns="0" tIns="0" rIns="0" bIns="0" rtlCol="0" anchor="ctr"/>
          <a:lstStyle/>
          <a:p>
            <a:pPr indent="0" marL="0">
              <a:buNone/>
            </a:pPr>
            <a:r>
              <a:rPr lang="en-US" sz="1300" dirty="0">
                <a:solidFill>
                  <a:srgbClr val="E9EDF5"/>
                </a:solidFill>
                <a:latin typeface="Calibri" pitchFamily="34" charset="0"/>
                <a:ea typeface="Calibri" pitchFamily="34" charset="-122"/>
                <a:cs typeface="Calibri" pitchFamily="34" charset="-120"/>
              </a:rPr>
              <a:t>Accumulate, then apply — no ant sees another's deposit</a:t>
            </a:r>
            <a:endParaRPr lang="en-US" sz="1300" dirty="0"/>
          </a:p>
        </p:txBody>
      </p:sp>
      <p:sp>
        <p:nvSpPr>
          <p:cNvPr id="44" name="Shape 35"/>
          <p:cNvSpPr/>
          <p:nvPr/>
        </p:nvSpPr>
        <p:spPr>
          <a:xfrm>
            <a:off x="6858000" y="5541264"/>
            <a:ext cx="4800600" cy="640080"/>
          </a:xfrm>
          <a:prstGeom prst="roundRect">
            <a:avLst>
              <a:gd name="adj" fmla="val 50000"/>
            </a:avLst>
          </a:prstGeom>
          <a:solidFill>
            <a:srgbClr val="182033"/>
          </a:solidFill>
          <a:ln w="9525">
            <a:solidFill>
              <a:srgbClr val="2A3550"/>
            </a:solidFill>
            <a:prstDash val="solid"/>
          </a:ln>
        </p:spPr>
      </p:sp>
      <p:pic>
        <p:nvPicPr>
          <p:cNvPr id="45" name="Image 6" descr="preencoded.png">    </p:cNvPr>
          <p:cNvPicPr>
            <a:picLocks noChangeAspect="1"/>
          </p:cNvPicPr>
          <p:nvPr/>
        </p:nvPicPr>
        <p:blipFill>
          <a:blip r:embed="rId7"/>
          <a:stretch>
            <a:fillRect/>
          </a:stretch>
        </p:blipFill>
        <p:spPr>
          <a:xfrm>
            <a:off x="7086600" y="5724144"/>
            <a:ext cx="274320" cy="274320"/>
          </a:xfrm>
          <a:prstGeom prst="rect">
            <a:avLst/>
          </a:prstGeom>
        </p:spPr>
      </p:pic>
      <p:sp>
        <p:nvSpPr>
          <p:cNvPr id="46" name="Text 36"/>
          <p:cNvSpPr txBox="1"/>
          <p:nvPr/>
        </p:nvSpPr>
        <p:spPr>
          <a:xfrm>
            <a:off x="7543800" y="5541264"/>
            <a:ext cx="3977640" cy="640080"/>
          </a:xfrm>
          <a:prstGeom prst="rect">
            <a:avLst/>
          </a:prstGeom>
          <a:noFill/>
          <a:ln/>
        </p:spPr>
        <p:txBody>
          <a:bodyPr wrap="square" lIns="0" tIns="0" rIns="0" bIns="0" rtlCol="0" anchor="ctr"/>
          <a:lstStyle/>
          <a:p>
            <a:pPr indent="0" marL="0">
              <a:buNone/>
            </a:pPr>
            <a:r>
              <a:rPr lang="en-US" sz="1300" dirty="0">
                <a:solidFill>
                  <a:srgbClr val="E9EDF5"/>
                </a:solidFill>
                <a:latin typeface="Calibri" pitchFamily="34" charset="0"/>
                <a:ea typeface="Calibri" pitchFamily="34" charset="-122"/>
                <a:cs typeface="Calibri" pitchFamily="34" charset="-120"/>
              </a:rPr>
              <a:t>Symmetric, including the closing edge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The Complete Loop &amp; Feasibility Guard</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 tour is checked before it can count.</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09 / 23</a:t>
            </a:r>
            <a:endParaRPr lang="en-US" sz="900" dirty="0"/>
          </a:p>
        </p:txBody>
      </p:sp>
      <p:sp>
        <p:nvSpPr>
          <p:cNvPr id="11" name="Text 7"/>
          <p:cNvSpPr txBox="1"/>
          <p:nvPr/>
        </p:nvSpPr>
        <p:spPr>
          <a:xfrm>
            <a:off x="548640" y="1572768"/>
            <a:ext cx="2743200" cy="228600"/>
          </a:xfrm>
          <a:prstGeom prst="rect">
            <a:avLst/>
          </a:prstGeom>
          <a:noFill/>
          <a:ln/>
        </p:spPr>
        <p:txBody>
          <a:bodyPr wrap="square" lIns="0" tIns="0" rIns="0" bIns="0" rtlCol="0" anchor="t"/>
          <a:lstStyle/>
          <a:p>
            <a:pPr indent="0" marL="0">
              <a:buNone/>
            </a:pPr>
            <a:r>
              <a:rPr lang="en-US" sz="1000" dirty="0">
                <a:solidFill>
                  <a:srgbClr val="8A96AD"/>
                </a:solidFill>
                <a:latin typeface="Consolas" pitchFamily="34" charset="0"/>
                <a:ea typeface="Consolas" pitchFamily="34" charset="-122"/>
                <a:cs typeface="Consolas" pitchFamily="34" charset="-120"/>
              </a:rPr>
              <a:t>Model::runACO()</a:t>
            </a:r>
            <a:endParaRPr lang="en-US" sz="1000" dirty="0"/>
          </a:p>
        </p:txBody>
      </p:sp>
      <p:sp>
        <p:nvSpPr>
          <p:cNvPr id="12" name="Text 8"/>
          <p:cNvSpPr txBox="1"/>
          <p:nvPr/>
        </p:nvSpPr>
        <p:spPr>
          <a:xfrm>
            <a:off x="1920240" y="1847088"/>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init D, τ</a:t>
            </a:r>
            <a:endParaRPr lang="en-US" sz="1000" dirty="0"/>
          </a:p>
        </p:txBody>
      </p:sp>
      <p:sp>
        <p:nvSpPr>
          <p:cNvPr id="13" name="Text 9"/>
          <p:cNvSpPr txBox="1"/>
          <p:nvPr/>
        </p:nvSpPr>
        <p:spPr>
          <a:xfrm>
            <a:off x="2697480" y="2331720"/>
            <a:ext cx="1371600" cy="365760"/>
          </a:xfrm>
          <a:prstGeom prst="diamond">
            <a:avLst/>
          </a:prstGeom>
          <a:solidFill>
            <a:srgbClr val="1D2740"/>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stop?</a:t>
            </a:r>
            <a:endParaRPr lang="en-US" sz="1000" dirty="0"/>
          </a:p>
        </p:txBody>
      </p:sp>
      <p:sp>
        <p:nvSpPr>
          <p:cNvPr id="14" name="Text 10"/>
          <p:cNvSpPr txBox="1"/>
          <p:nvPr/>
        </p:nvSpPr>
        <p:spPr>
          <a:xfrm>
            <a:off x="2697480" y="2816352"/>
            <a:ext cx="1371600" cy="365760"/>
          </a:xfrm>
          <a:prstGeom prst="diamond">
            <a:avLst/>
          </a:prstGeom>
          <a:solidFill>
            <a:srgbClr val="1D2740"/>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stop?</a:t>
            </a:r>
            <a:endParaRPr lang="en-US" sz="1000" dirty="0"/>
          </a:p>
        </p:txBody>
      </p:sp>
      <p:sp>
        <p:nvSpPr>
          <p:cNvPr id="15" name="Text 11"/>
          <p:cNvSpPr txBox="1"/>
          <p:nvPr/>
        </p:nvSpPr>
        <p:spPr>
          <a:xfrm>
            <a:off x="1920240" y="3300984"/>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onsolas" pitchFamily="34" charset="0"/>
                <a:ea typeface="Consolas" pitchFamily="34" charset="-122"/>
                <a:cs typeface="Consolas" pitchFamily="34" charset="-120"/>
              </a:rPr>
              <a:t>random start → constructTour</a:t>
            </a:r>
            <a:endParaRPr lang="en-US" sz="1000" dirty="0"/>
          </a:p>
        </p:txBody>
      </p:sp>
      <p:sp>
        <p:nvSpPr>
          <p:cNvPr id="16" name="Text 12"/>
          <p:cNvSpPr txBox="1"/>
          <p:nvPr/>
        </p:nvSpPr>
        <p:spPr>
          <a:xfrm>
            <a:off x="1965960" y="3785616"/>
            <a:ext cx="2834640" cy="457200"/>
          </a:xfrm>
          <a:prstGeom prst="diamond">
            <a:avLst/>
          </a:prstGeom>
          <a:solidFill>
            <a:srgbClr val="F39C34"/>
          </a:solidFill>
          <a:ln w="9525">
            <a:solidFill>
              <a:srgbClr val="F39C34"/>
            </a:solidFill>
          </a:ln>
        </p:spPr>
        <p:txBody>
          <a:bodyPr wrap="square" lIns="0" tIns="0" rIns="0" bIns="0" rtlCol="0" anchor="ctr"/>
          <a:lstStyle/>
          <a:p>
            <a:pPr algn="ctr" indent="0" marL="0">
              <a:buNone/>
            </a:pPr>
            <a:r>
              <a:rPr lang="en-US" sz="950" b="1" dirty="0">
                <a:solidFill>
                  <a:srgbClr val="0F1420"/>
                </a:solidFill>
                <a:latin typeface="Consolas" pitchFamily="34" charset="0"/>
                <a:ea typeface="Consolas" pitchFamily="34" charset="-122"/>
                <a:cs typeface="Consolas" pitchFamily="34" charset="-120"/>
              </a:rPr>
              <a:t>isHamiltonianTour?</a:t>
            </a:r>
            <a:endParaRPr lang="en-US" sz="950" dirty="0"/>
          </a:p>
        </p:txBody>
      </p:sp>
      <p:sp>
        <p:nvSpPr>
          <p:cNvPr id="17" name="Text 13"/>
          <p:cNvSpPr txBox="1"/>
          <p:nvPr/>
        </p:nvSpPr>
        <p:spPr>
          <a:xfrm>
            <a:off x="1920240" y="4361688"/>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cost L</a:t>
            </a:r>
            <a:pPr algn="ctr" indent="0" marL="0">
              <a:buNone/>
            </a:pPr>
            <a:r>
              <a:rPr lang="en-US" sz="1000" baseline="-40000" dirty="0">
                <a:solidFill>
                  <a:srgbClr val="E9EDF5"/>
                </a:solidFill>
                <a:latin typeface="Calibri" pitchFamily="34" charset="0"/>
                <a:ea typeface="Calibri" pitchFamily="34" charset="-122"/>
                <a:cs typeface="Calibri" pitchFamily="34" charset="-120"/>
              </a:rPr>
              <a:t>k</a:t>
            </a:r>
            <a:pPr algn="ctr" indent="0" marL="0">
              <a:buNone/>
            </a:pPr>
            <a:r>
              <a:rPr lang="en-US" sz="1000" dirty="0">
                <a:solidFill>
                  <a:srgbClr val="E9EDF5"/>
                </a:solidFill>
                <a:latin typeface="Calibri" pitchFamily="34" charset="0"/>
                <a:ea typeface="Calibri" pitchFamily="34" charset="-122"/>
                <a:cs typeface="Calibri" pitchFamily="34" charset="-120"/>
              </a:rPr>
              <a:t> → update best (mutex)</a:t>
            </a:r>
            <a:endParaRPr lang="en-US" sz="1000" dirty="0"/>
          </a:p>
        </p:txBody>
      </p:sp>
      <p:sp>
        <p:nvSpPr>
          <p:cNvPr id="18" name="Text 14"/>
          <p:cNvSpPr txBox="1"/>
          <p:nvPr/>
        </p:nvSpPr>
        <p:spPr>
          <a:xfrm>
            <a:off x="1920240" y="4846320"/>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evaporate → deposit → apply</a:t>
            </a:r>
            <a:endParaRPr lang="en-US" sz="1000" dirty="0"/>
          </a:p>
        </p:txBody>
      </p:sp>
      <p:sp>
        <p:nvSpPr>
          <p:cNvPr id="19" name="Text 15"/>
          <p:cNvSpPr txBox="1"/>
          <p:nvPr/>
        </p:nvSpPr>
        <p:spPr>
          <a:xfrm>
            <a:off x="1920240" y="5330952"/>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alibri" pitchFamily="34" charset="0"/>
                <a:ea typeface="Calibri" pitchFamily="34" charset="-122"/>
                <a:cs typeface="Calibri" pitchFamily="34" charset="-120"/>
              </a:rPr>
              <a:t>record series + publish τ snapshot</a:t>
            </a:r>
            <a:endParaRPr lang="en-US" sz="1000" dirty="0"/>
          </a:p>
        </p:txBody>
      </p:sp>
      <p:sp>
        <p:nvSpPr>
          <p:cNvPr id="20" name="Text 16"/>
          <p:cNvSpPr txBox="1"/>
          <p:nvPr/>
        </p:nvSpPr>
        <p:spPr>
          <a:xfrm>
            <a:off x="1920240" y="5815584"/>
            <a:ext cx="2926080" cy="329184"/>
          </a:xfrm>
          <a:prstGeom prst="roundRect">
            <a:avLst>
              <a:gd name="adj" fmla="val 16667"/>
            </a:avLst>
          </a:prstGeom>
          <a:solidFill>
            <a:srgbClr val="182033"/>
          </a:solidFill>
          <a:ln w="9525">
            <a:solidFill>
              <a:srgbClr val="2A3550"/>
            </a:solidFill>
          </a:ln>
        </p:spPr>
        <p:txBody>
          <a:bodyPr wrap="square" lIns="0" tIns="0" rIns="0" bIns="0" rtlCol="0" anchor="ctr"/>
          <a:lstStyle/>
          <a:p>
            <a:pPr algn="ctr" indent="0" marL="0">
              <a:buNone/>
            </a:pPr>
            <a:r>
              <a:rPr lang="en-US" sz="1000" dirty="0">
                <a:solidFill>
                  <a:srgbClr val="E9EDF5"/>
                </a:solidFill>
                <a:latin typeface="Consolas" pitchFamily="34" charset="0"/>
                <a:ea typeface="Consolas" pitchFamily="34" charset="-122"/>
                <a:cs typeface="Consolas" pitchFamily="34" charset="-120"/>
              </a:rPr>
              <a:t>sleep sleepMS</a:t>
            </a:r>
            <a:endParaRPr lang="en-US" sz="1000" dirty="0"/>
          </a:p>
        </p:txBody>
      </p:sp>
      <p:sp>
        <p:nvSpPr>
          <p:cNvPr id="21" name="Shape 17"/>
          <p:cNvSpPr/>
          <p:nvPr/>
        </p:nvSpPr>
        <p:spPr>
          <a:xfrm>
            <a:off x="3383280" y="2176272"/>
            <a:ext cx="91" cy="155448"/>
          </a:xfrm>
          <a:prstGeom prst="line">
            <a:avLst/>
          </a:prstGeom>
          <a:noFill/>
          <a:ln w="12700">
            <a:solidFill>
              <a:srgbClr val="8A96AD"/>
            </a:solidFill>
            <a:prstDash val="solid"/>
            <a:tailEnd type="triangle"/>
          </a:ln>
        </p:spPr>
      </p:sp>
      <p:sp>
        <p:nvSpPr>
          <p:cNvPr id="22" name="Shape 18"/>
          <p:cNvSpPr/>
          <p:nvPr/>
        </p:nvSpPr>
        <p:spPr>
          <a:xfrm>
            <a:off x="3383280" y="2697480"/>
            <a:ext cx="91" cy="118872"/>
          </a:xfrm>
          <a:prstGeom prst="line">
            <a:avLst/>
          </a:prstGeom>
          <a:noFill/>
          <a:ln w="12700">
            <a:solidFill>
              <a:srgbClr val="8A96AD"/>
            </a:solidFill>
            <a:prstDash val="solid"/>
            <a:tailEnd type="triangle"/>
          </a:ln>
        </p:spPr>
      </p:sp>
      <p:sp>
        <p:nvSpPr>
          <p:cNvPr id="23" name="Shape 19"/>
          <p:cNvSpPr/>
          <p:nvPr/>
        </p:nvSpPr>
        <p:spPr>
          <a:xfrm>
            <a:off x="3383280" y="3182112"/>
            <a:ext cx="91" cy="118872"/>
          </a:xfrm>
          <a:prstGeom prst="line">
            <a:avLst/>
          </a:prstGeom>
          <a:noFill/>
          <a:ln w="12700">
            <a:solidFill>
              <a:srgbClr val="8A96AD"/>
            </a:solidFill>
            <a:prstDash val="solid"/>
            <a:tailEnd type="triangle"/>
          </a:ln>
        </p:spPr>
      </p:sp>
      <p:sp>
        <p:nvSpPr>
          <p:cNvPr id="24" name="Shape 20"/>
          <p:cNvSpPr/>
          <p:nvPr/>
        </p:nvSpPr>
        <p:spPr>
          <a:xfrm>
            <a:off x="3383280" y="3630168"/>
            <a:ext cx="91" cy="155448"/>
          </a:xfrm>
          <a:prstGeom prst="line">
            <a:avLst/>
          </a:prstGeom>
          <a:noFill/>
          <a:ln w="12700">
            <a:solidFill>
              <a:srgbClr val="8A96AD"/>
            </a:solidFill>
            <a:prstDash val="solid"/>
            <a:tailEnd type="triangle"/>
          </a:ln>
        </p:spPr>
      </p:sp>
      <p:sp>
        <p:nvSpPr>
          <p:cNvPr id="25" name="Shape 21"/>
          <p:cNvSpPr/>
          <p:nvPr/>
        </p:nvSpPr>
        <p:spPr>
          <a:xfrm>
            <a:off x="3383280" y="4242816"/>
            <a:ext cx="91" cy="118872"/>
          </a:xfrm>
          <a:prstGeom prst="line">
            <a:avLst/>
          </a:prstGeom>
          <a:noFill/>
          <a:ln w="12700">
            <a:solidFill>
              <a:srgbClr val="8A96AD"/>
            </a:solidFill>
            <a:prstDash val="solid"/>
            <a:tailEnd type="triangle"/>
          </a:ln>
        </p:spPr>
      </p:sp>
      <p:sp>
        <p:nvSpPr>
          <p:cNvPr id="26" name="Shape 22"/>
          <p:cNvSpPr/>
          <p:nvPr/>
        </p:nvSpPr>
        <p:spPr>
          <a:xfrm>
            <a:off x="3383280" y="4690872"/>
            <a:ext cx="91" cy="155448"/>
          </a:xfrm>
          <a:prstGeom prst="line">
            <a:avLst/>
          </a:prstGeom>
          <a:noFill/>
          <a:ln w="12700">
            <a:solidFill>
              <a:srgbClr val="8A96AD"/>
            </a:solidFill>
            <a:prstDash val="solid"/>
            <a:tailEnd type="triangle"/>
          </a:ln>
        </p:spPr>
      </p:sp>
      <p:sp>
        <p:nvSpPr>
          <p:cNvPr id="27" name="Shape 23"/>
          <p:cNvSpPr/>
          <p:nvPr/>
        </p:nvSpPr>
        <p:spPr>
          <a:xfrm>
            <a:off x="3383280" y="5175504"/>
            <a:ext cx="91" cy="155448"/>
          </a:xfrm>
          <a:prstGeom prst="line">
            <a:avLst/>
          </a:prstGeom>
          <a:noFill/>
          <a:ln w="12700">
            <a:solidFill>
              <a:srgbClr val="8A96AD"/>
            </a:solidFill>
            <a:prstDash val="solid"/>
            <a:tailEnd type="triangle"/>
          </a:ln>
        </p:spPr>
      </p:sp>
      <p:sp>
        <p:nvSpPr>
          <p:cNvPr id="28" name="Shape 24"/>
          <p:cNvSpPr/>
          <p:nvPr/>
        </p:nvSpPr>
        <p:spPr>
          <a:xfrm>
            <a:off x="3383280" y="5660136"/>
            <a:ext cx="91" cy="155448"/>
          </a:xfrm>
          <a:prstGeom prst="line">
            <a:avLst/>
          </a:prstGeom>
          <a:noFill/>
          <a:ln w="12700">
            <a:solidFill>
              <a:srgbClr val="8A96AD"/>
            </a:solidFill>
            <a:prstDash val="solid"/>
            <a:tailEnd type="triangle"/>
          </a:ln>
        </p:spPr>
      </p:sp>
      <p:sp>
        <p:nvSpPr>
          <p:cNvPr id="29" name="Shape 25"/>
          <p:cNvSpPr/>
          <p:nvPr/>
        </p:nvSpPr>
        <p:spPr>
          <a:xfrm flipH="1">
            <a:off x="1463040" y="4526280"/>
            <a:ext cx="457200" cy="91"/>
          </a:xfrm>
          <a:prstGeom prst="line">
            <a:avLst/>
          </a:prstGeom>
          <a:noFill/>
          <a:ln w="12700">
            <a:solidFill>
              <a:srgbClr val="4CC38A"/>
            </a:solidFill>
            <a:prstDash val="solid"/>
          </a:ln>
        </p:spPr>
      </p:sp>
      <p:sp>
        <p:nvSpPr>
          <p:cNvPr id="30" name="Shape 26"/>
          <p:cNvSpPr/>
          <p:nvPr/>
        </p:nvSpPr>
        <p:spPr>
          <a:xfrm flipV="1">
            <a:off x="1463040" y="2999232"/>
            <a:ext cx="91" cy="1527048"/>
          </a:xfrm>
          <a:prstGeom prst="line">
            <a:avLst/>
          </a:prstGeom>
          <a:noFill/>
          <a:ln w="12700">
            <a:solidFill>
              <a:srgbClr val="4CC38A"/>
            </a:solidFill>
            <a:prstDash val="solid"/>
          </a:ln>
        </p:spPr>
      </p:sp>
      <p:sp>
        <p:nvSpPr>
          <p:cNvPr id="31" name="Shape 27"/>
          <p:cNvSpPr/>
          <p:nvPr/>
        </p:nvSpPr>
        <p:spPr>
          <a:xfrm>
            <a:off x="1463040" y="2999232"/>
            <a:ext cx="1234440" cy="91"/>
          </a:xfrm>
          <a:prstGeom prst="line">
            <a:avLst/>
          </a:prstGeom>
          <a:noFill/>
          <a:ln w="12700">
            <a:solidFill>
              <a:srgbClr val="4CC38A"/>
            </a:solidFill>
            <a:prstDash val="solid"/>
            <a:tailEnd type="triangle"/>
          </a:ln>
        </p:spPr>
      </p:sp>
      <p:sp>
        <p:nvSpPr>
          <p:cNvPr id="32" name="Text 28"/>
          <p:cNvSpPr txBox="1"/>
          <p:nvPr/>
        </p:nvSpPr>
        <p:spPr>
          <a:xfrm rot="16200000">
            <a:off x="960120" y="3611880"/>
            <a:ext cx="822960" cy="201168"/>
          </a:xfrm>
          <a:prstGeom prst="rect">
            <a:avLst/>
          </a:prstGeom>
          <a:noFill/>
          <a:ln/>
        </p:spPr>
        <p:txBody>
          <a:bodyPr wrap="square" lIns="0" tIns="0" rIns="0" bIns="0" rtlCol="0" anchor="t"/>
          <a:lstStyle/>
          <a:p>
            <a:pPr algn="ctr" indent="0" marL="0">
              <a:buNone/>
            </a:pPr>
            <a:r>
              <a:rPr lang="en-US" sz="900" dirty="0">
                <a:solidFill>
                  <a:srgbClr val="4CC38A"/>
                </a:solidFill>
                <a:latin typeface="Calibri" pitchFamily="34" charset="0"/>
                <a:ea typeface="Calibri" pitchFamily="34" charset="-122"/>
                <a:cs typeface="Calibri" pitchFamily="34" charset="-120"/>
              </a:rPr>
              <a:t>next ant</a:t>
            </a:r>
            <a:endParaRPr lang="en-US" sz="900" dirty="0"/>
          </a:p>
        </p:txBody>
      </p:sp>
      <p:sp>
        <p:nvSpPr>
          <p:cNvPr id="33" name="Shape 29"/>
          <p:cNvSpPr/>
          <p:nvPr/>
        </p:nvSpPr>
        <p:spPr>
          <a:xfrm flipH="1">
            <a:off x="777240" y="5980176"/>
            <a:ext cx="1143000" cy="91"/>
          </a:xfrm>
          <a:prstGeom prst="line">
            <a:avLst/>
          </a:prstGeom>
          <a:noFill/>
          <a:ln w="12700">
            <a:solidFill>
              <a:srgbClr val="F39C34"/>
            </a:solidFill>
            <a:prstDash val="solid"/>
          </a:ln>
        </p:spPr>
      </p:sp>
      <p:sp>
        <p:nvSpPr>
          <p:cNvPr id="34" name="Shape 30"/>
          <p:cNvSpPr/>
          <p:nvPr/>
        </p:nvSpPr>
        <p:spPr>
          <a:xfrm flipV="1">
            <a:off x="777240" y="2514600"/>
            <a:ext cx="91" cy="3465576"/>
          </a:xfrm>
          <a:prstGeom prst="line">
            <a:avLst/>
          </a:prstGeom>
          <a:noFill/>
          <a:ln w="12700">
            <a:solidFill>
              <a:srgbClr val="F39C34"/>
            </a:solidFill>
            <a:prstDash val="solid"/>
          </a:ln>
        </p:spPr>
      </p:sp>
      <p:sp>
        <p:nvSpPr>
          <p:cNvPr id="35" name="Shape 31"/>
          <p:cNvSpPr/>
          <p:nvPr/>
        </p:nvSpPr>
        <p:spPr>
          <a:xfrm>
            <a:off x="777240" y="2514600"/>
            <a:ext cx="1920240" cy="91"/>
          </a:xfrm>
          <a:prstGeom prst="line">
            <a:avLst/>
          </a:prstGeom>
          <a:noFill/>
          <a:ln w="12700">
            <a:solidFill>
              <a:srgbClr val="F39C34"/>
            </a:solidFill>
            <a:prstDash val="solid"/>
            <a:tailEnd type="triangle"/>
          </a:ln>
        </p:spPr>
      </p:sp>
      <p:sp>
        <p:nvSpPr>
          <p:cNvPr id="36" name="Text 32"/>
          <p:cNvSpPr txBox="1"/>
          <p:nvPr/>
        </p:nvSpPr>
        <p:spPr>
          <a:xfrm rot="16200000">
            <a:off x="228600" y="3931920"/>
            <a:ext cx="1005840" cy="201168"/>
          </a:xfrm>
          <a:prstGeom prst="rect">
            <a:avLst/>
          </a:prstGeom>
          <a:noFill/>
          <a:ln/>
        </p:spPr>
        <p:txBody>
          <a:bodyPr wrap="square" lIns="0" tIns="0" rIns="0" bIns="0" rtlCol="0" anchor="t"/>
          <a:lstStyle/>
          <a:p>
            <a:pPr algn="ctr" indent="0" marL="0">
              <a:buNone/>
            </a:pPr>
            <a:r>
              <a:rPr lang="en-US" sz="900" dirty="0">
                <a:solidFill>
                  <a:srgbClr val="F39C34"/>
                </a:solidFill>
                <a:latin typeface="Calibri" pitchFamily="34" charset="0"/>
                <a:ea typeface="Calibri" pitchFamily="34" charset="-122"/>
                <a:cs typeface="Calibri" pitchFamily="34" charset="-120"/>
              </a:rPr>
              <a:t>next iteration</a:t>
            </a:r>
            <a:endParaRPr lang="en-US" sz="900" dirty="0"/>
          </a:p>
        </p:txBody>
      </p:sp>
      <p:sp>
        <p:nvSpPr>
          <p:cNvPr id="37" name="Shape 33"/>
          <p:cNvSpPr/>
          <p:nvPr/>
        </p:nvSpPr>
        <p:spPr>
          <a:xfrm>
            <a:off x="4069080" y="2514600"/>
            <a:ext cx="731520" cy="91"/>
          </a:xfrm>
          <a:prstGeom prst="line">
            <a:avLst/>
          </a:prstGeom>
          <a:noFill/>
          <a:ln w="9525">
            <a:solidFill>
              <a:srgbClr val="8A96AD"/>
            </a:solidFill>
            <a:prstDash val="solid"/>
            <a:tailEnd type="triangle"/>
          </a:ln>
        </p:spPr>
      </p:sp>
      <p:sp>
        <p:nvSpPr>
          <p:cNvPr id="38" name="Text 34"/>
          <p:cNvSpPr txBox="1"/>
          <p:nvPr/>
        </p:nvSpPr>
        <p:spPr>
          <a:xfrm>
            <a:off x="4864608" y="2404872"/>
            <a:ext cx="1645920" cy="219456"/>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yes → end run</a:t>
            </a:r>
            <a:endParaRPr lang="en-US" sz="900" dirty="0"/>
          </a:p>
        </p:txBody>
      </p:sp>
      <p:sp>
        <p:nvSpPr>
          <p:cNvPr id="39" name="Shape 35"/>
          <p:cNvSpPr/>
          <p:nvPr/>
        </p:nvSpPr>
        <p:spPr>
          <a:xfrm>
            <a:off x="4069080" y="2999232"/>
            <a:ext cx="731520" cy="91"/>
          </a:xfrm>
          <a:prstGeom prst="line">
            <a:avLst/>
          </a:prstGeom>
          <a:noFill/>
          <a:ln w="9525">
            <a:solidFill>
              <a:srgbClr val="8A96AD"/>
            </a:solidFill>
            <a:prstDash val="solid"/>
            <a:tailEnd type="triangle"/>
          </a:ln>
        </p:spPr>
      </p:sp>
      <p:sp>
        <p:nvSpPr>
          <p:cNvPr id="40" name="Text 36"/>
          <p:cNvSpPr txBox="1"/>
          <p:nvPr/>
        </p:nvSpPr>
        <p:spPr>
          <a:xfrm>
            <a:off x="4864608" y="2889504"/>
            <a:ext cx="1645920" cy="219456"/>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yes → go to update</a:t>
            </a:r>
            <a:endParaRPr lang="en-US" sz="900" dirty="0"/>
          </a:p>
        </p:txBody>
      </p:sp>
      <p:sp>
        <p:nvSpPr>
          <p:cNvPr id="41" name="Shape 37"/>
          <p:cNvSpPr/>
          <p:nvPr/>
        </p:nvSpPr>
        <p:spPr>
          <a:xfrm>
            <a:off x="4800600" y="4014216"/>
            <a:ext cx="429768" cy="91"/>
          </a:xfrm>
          <a:prstGeom prst="line">
            <a:avLst/>
          </a:prstGeom>
          <a:noFill/>
          <a:ln w="15875">
            <a:solidFill>
              <a:srgbClr val="E5534B"/>
            </a:solidFill>
            <a:prstDash val="solid"/>
            <a:tailEnd type="triangle"/>
          </a:ln>
        </p:spPr>
      </p:sp>
      <p:sp>
        <p:nvSpPr>
          <p:cNvPr id="42" name="Text 38"/>
          <p:cNvSpPr txBox="1"/>
          <p:nvPr/>
        </p:nvSpPr>
        <p:spPr>
          <a:xfrm>
            <a:off x="4846320" y="3767328"/>
            <a:ext cx="320040" cy="201168"/>
          </a:xfrm>
          <a:prstGeom prst="rect">
            <a:avLst/>
          </a:prstGeom>
          <a:noFill/>
          <a:ln/>
        </p:spPr>
        <p:txBody>
          <a:bodyPr wrap="square" lIns="0" tIns="0" rIns="0" bIns="0" rtlCol="0" anchor="t"/>
          <a:lstStyle/>
          <a:p>
            <a:pPr indent="0" marL="0">
              <a:buNone/>
            </a:pPr>
            <a:r>
              <a:rPr lang="en-US" sz="900" b="1" dirty="0">
                <a:solidFill>
                  <a:srgbClr val="E5534B"/>
                </a:solidFill>
                <a:latin typeface="Calibri" pitchFamily="34" charset="0"/>
                <a:ea typeface="Calibri" pitchFamily="34" charset="-122"/>
                <a:cs typeface="Calibri" pitchFamily="34" charset="-120"/>
              </a:rPr>
              <a:t>no</a:t>
            </a:r>
            <a:endParaRPr lang="en-US" sz="900" dirty="0"/>
          </a:p>
        </p:txBody>
      </p:sp>
      <p:sp>
        <p:nvSpPr>
          <p:cNvPr id="43" name="Text 39"/>
          <p:cNvSpPr txBox="1"/>
          <p:nvPr/>
        </p:nvSpPr>
        <p:spPr>
          <a:xfrm>
            <a:off x="5230368" y="3849624"/>
            <a:ext cx="914400" cy="329184"/>
          </a:xfrm>
          <a:prstGeom prst="roundRect">
            <a:avLst>
              <a:gd name="adj" fmla="val 16667"/>
            </a:avLst>
          </a:prstGeom>
          <a:solidFill>
            <a:srgbClr val="3A1D22"/>
          </a:solidFill>
          <a:ln w="12700">
            <a:solidFill>
              <a:srgbClr val="E5534B"/>
            </a:solidFill>
          </a:ln>
        </p:spPr>
        <p:txBody>
          <a:bodyPr wrap="square" lIns="0" tIns="0" rIns="0" bIns="0" rtlCol="0" anchor="ctr"/>
          <a:lstStyle/>
          <a:p>
            <a:pPr algn="ctr" indent="0" marL="0">
              <a:buNone/>
            </a:pPr>
            <a:r>
              <a:rPr lang="en-US" sz="1000" dirty="0">
                <a:solidFill>
                  <a:srgbClr val="F4A6A0"/>
                </a:solidFill>
                <a:latin typeface="Calibri" pitchFamily="34" charset="0"/>
                <a:ea typeface="Calibri" pitchFamily="34" charset="-122"/>
                <a:cs typeface="Calibri" pitchFamily="34" charset="-120"/>
              </a:rPr>
              <a:t>skip ant</a:t>
            </a:r>
            <a:endParaRPr lang="en-US" sz="1000" dirty="0"/>
          </a:p>
        </p:txBody>
      </p:sp>
      <p:sp>
        <p:nvSpPr>
          <p:cNvPr id="44" name="Text 40"/>
          <p:cNvSpPr txBox="1"/>
          <p:nvPr/>
        </p:nvSpPr>
        <p:spPr>
          <a:xfrm>
            <a:off x="5230368" y="4206240"/>
            <a:ext cx="1097280" cy="182880"/>
          </a:xfrm>
          <a:prstGeom prst="rect">
            <a:avLst/>
          </a:prstGeom>
          <a:noFill/>
          <a:ln/>
        </p:spPr>
        <p:txBody>
          <a:bodyPr wrap="square" lIns="0" tIns="0" rIns="0" bIns="0" rtlCol="0" anchor="ctr"/>
          <a:lstStyle/>
          <a:p>
            <a:pPr indent="0" marL="0">
              <a:buNone/>
            </a:pPr>
            <a:r>
              <a:rPr lang="en-US" sz="850" dirty="0">
                <a:solidFill>
                  <a:srgbClr val="E5534B"/>
                </a:solidFill>
                <a:latin typeface="Calibri" pitchFamily="34" charset="0"/>
                <a:ea typeface="Calibri" pitchFamily="34" charset="-122"/>
                <a:cs typeface="Calibri" pitchFamily="34" charset="-120"/>
              </a:rPr>
              <a:t>→ next ant</a:t>
            </a:r>
            <a:endParaRPr lang="en-US" sz="850" dirty="0"/>
          </a:p>
        </p:txBody>
      </p:sp>
      <p:sp>
        <p:nvSpPr>
          <p:cNvPr id="45" name="Text 41"/>
          <p:cNvSpPr txBox="1"/>
          <p:nvPr/>
        </p:nvSpPr>
        <p:spPr>
          <a:xfrm>
            <a:off x="3456432" y="4242816"/>
            <a:ext cx="365760" cy="118872"/>
          </a:xfrm>
          <a:prstGeom prst="rect">
            <a:avLst/>
          </a:prstGeom>
          <a:noFill/>
          <a:ln/>
        </p:spPr>
        <p:txBody>
          <a:bodyPr wrap="square" lIns="0" tIns="0" rIns="0" bIns="0" rtlCol="0" anchor="ctr"/>
          <a:lstStyle/>
          <a:p>
            <a:pPr indent="0" marL="0">
              <a:buNone/>
            </a:pPr>
            <a:r>
              <a:rPr lang="en-US" sz="850" b="1" dirty="0">
                <a:solidFill>
                  <a:srgbClr val="4CC38A"/>
                </a:solidFill>
                <a:latin typeface="Calibri" pitchFamily="34" charset="0"/>
                <a:ea typeface="Calibri" pitchFamily="34" charset="-122"/>
                <a:cs typeface="Calibri" pitchFamily="34" charset="-120"/>
              </a:rPr>
              <a:t>yes</a:t>
            </a:r>
            <a:endParaRPr lang="en-US" sz="850" dirty="0"/>
          </a:p>
        </p:txBody>
      </p:sp>
      <p:sp>
        <p:nvSpPr>
          <p:cNvPr id="46" name="Shape 42"/>
          <p:cNvSpPr/>
          <p:nvPr/>
        </p:nvSpPr>
        <p:spPr>
          <a:xfrm>
            <a:off x="6355080" y="1645920"/>
            <a:ext cx="5303520" cy="3931920"/>
          </a:xfrm>
          <a:prstGeom prst="roundRect">
            <a:avLst>
              <a:gd name="adj" fmla="val 1860"/>
            </a:avLst>
          </a:prstGeom>
          <a:solidFill>
            <a:srgbClr val="0B0F18"/>
          </a:solidFill>
          <a:ln w="9525">
            <a:solidFill>
              <a:srgbClr val="2A3550"/>
            </a:solidFill>
            <a:prstDash val="solid"/>
          </a:ln>
        </p:spPr>
      </p:sp>
      <p:sp>
        <p:nvSpPr>
          <p:cNvPr id="47" name="Shape 43"/>
          <p:cNvSpPr/>
          <p:nvPr/>
        </p:nvSpPr>
        <p:spPr>
          <a:xfrm>
            <a:off x="6519672" y="1764792"/>
            <a:ext cx="109728" cy="109728"/>
          </a:xfrm>
          <a:prstGeom prst="ellipse">
            <a:avLst/>
          </a:prstGeom>
          <a:solidFill>
            <a:srgbClr val="FF5F57"/>
          </a:solidFill>
          <a:ln w="12700">
            <a:solidFill>
              <a:srgbClr val="FF5F57"/>
            </a:solidFill>
            <a:prstDash val="solid"/>
          </a:ln>
        </p:spPr>
      </p:sp>
      <p:sp>
        <p:nvSpPr>
          <p:cNvPr id="48" name="Shape 44"/>
          <p:cNvSpPr/>
          <p:nvPr/>
        </p:nvSpPr>
        <p:spPr>
          <a:xfrm>
            <a:off x="6702552" y="1764792"/>
            <a:ext cx="109728" cy="109728"/>
          </a:xfrm>
          <a:prstGeom prst="ellipse">
            <a:avLst/>
          </a:prstGeom>
          <a:solidFill>
            <a:srgbClr val="FEBC2E"/>
          </a:solidFill>
          <a:ln w="12700">
            <a:solidFill>
              <a:srgbClr val="FEBC2E"/>
            </a:solidFill>
            <a:prstDash val="solid"/>
          </a:ln>
        </p:spPr>
      </p:sp>
      <p:sp>
        <p:nvSpPr>
          <p:cNvPr id="49" name="Shape 45"/>
          <p:cNvSpPr/>
          <p:nvPr/>
        </p:nvSpPr>
        <p:spPr>
          <a:xfrm>
            <a:off x="6885432" y="1764792"/>
            <a:ext cx="109728" cy="109728"/>
          </a:xfrm>
          <a:prstGeom prst="ellipse">
            <a:avLst/>
          </a:prstGeom>
          <a:solidFill>
            <a:srgbClr val="28C840"/>
          </a:solidFill>
          <a:ln w="12700">
            <a:solidFill>
              <a:srgbClr val="28C840"/>
            </a:solidFill>
            <a:prstDash val="solid"/>
          </a:ln>
        </p:spPr>
      </p:sp>
      <p:sp>
        <p:nvSpPr>
          <p:cNvPr id="50" name="Text 46"/>
          <p:cNvSpPr txBox="1"/>
          <p:nvPr/>
        </p:nvSpPr>
        <p:spPr>
          <a:xfrm>
            <a:off x="7178040" y="1709928"/>
            <a:ext cx="429768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MapModel.h</a:t>
            </a:r>
            <a:endParaRPr lang="en-US" sz="900" dirty="0"/>
          </a:p>
        </p:txBody>
      </p:sp>
      <p:sp>
        <p:nvSpPr>
          <p:cNvPr id="51" name="Text 47"/>
          <p:cNvSpPr txBox="1"/>
          <p:nvPr/>
        </p:nvSpPr>
        <p:spPr>
          <a:xfrm>
            <a:off x="6464808" y="2057400"/>
            <a:ext cx="310896" cy="3221990"/>
          </a:xfrm>
          <a:prstGeom prst="rect">
            <a:avLst/>
          </a:prstGeom>
          <a:noFill/>
          <a:ln/>
        </p:spPr>
        <p:txBody>
          <a:bodyPr wrap="square" lIns="0" tIns="0" rIns="0" bIns="0" rtlCol="0" anchor="t"/>
          <a:lstStyle/>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2</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3</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4</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5</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6</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7</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8</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9</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10</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11</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12</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13</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14</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15</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16</a:t>
            </a:r>
            <a:endParaRPr lang="en-US" sz="920" dirty="0"/>
          </a:p>
          <a:p>
            <a:pPr algn="r" indent="0" marL="0">
              <a:lnSpc>
                <a:spcPts val="1450"/>
              </a:lnSpc>
              <a:buNone/>
            </a:pPr>
            <a:r>
              <a:rPr lang="en-US" sz="920" dirty="0">
                <a:solidFill>
                  <a:srgbClr val="4A5570"/>
                </a:solidFill>
                <a:latin typeface="Consolas" pitchFamily="34" charset="0"/>
                <a:ea typeface="Consolas" pitchFamily="34" charset="-122"/>
                <a:cs typeface="Consolas" pitchFamily="34" charset="-120"/>
              </a:rPr>
              <a:t>17</a:t>
            </a:r>
            <a:endParaRPr lang="en-US" sz="920" dirty="0"/>
          </a:p>
        </p:txBody>
      </p:sp>
      <p:sp>
        <p:nvSpPr>
          <p:cNvPr id="52" name="Text 48"/>
          <p:cNvSpPr txBox="1"/>
          <p:nvPr/>
        </p:nvSpPr>
        <p:spPr>
          <a:xfrm>
            <a:off x="6976872" y="2057400"/>
            <a:ext cx="4590288" cy="3221990"/>
          </a:xfrm>
          <a:prstGeom prst="rect">
            <a:avLst/>
          </a:prstGeom>
          <a:noFill/>
          <a:ln/>
        </p:spPr>
        <p:txBody>
          <a:bodyPr wrap="none" lIns="0" tIns="0" rIns="0" bIns="0" rtlCol="0" anchor="t"/>
          <a:lstStyle/>
          <a:p>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bool</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isHamiltonianTour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const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std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vector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GraphType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&gt;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&amp;</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const</a:t>
            </a:r>
            <a:endParaRPr lang="en-US" sz="920" dirty="0"/>
          </a:p>
          <a:p>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size_t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_towns</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size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if</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C9A2F2"/>
                </a:solidFill>
                <a:latin typeface="Consolas" pitchFamily="34" charset="0"/>
                <a:ea typeface="Consolas" pitchFamily="34" charset="-122"/>
                <a:cs typeface="Consolas" pitchFamily="34" charset="-120"/>
              </a:rPr>
              <a:t>2</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size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000000"/>
                </a:solidFill>
                <a:latin typeface="Consolas" pitchFamily="34" charset="0"/>
                <a:ea typeface="Consolas" pitchFamily="34" charset="-122"/>
                <a:cs typeface="Consolas" pitchFamily="34" charset="-120"/>
              </a:rPr>
              <a:t> </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std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vector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bool</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&gt;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F2D08A"/>
                </a:solidFill>
                <a:latin typeface="Consolas" pitchFamily="34" charset="0"/>
                <a:ea typeface="Consolas" pitchFamily="34" charset="-122"/>
                <a:cs typeface="Consolas" pitchFamily="34" charset="-120"/>
              </a:rPr>
              <a:t>seen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C9A2F2"/>
                </a:solidFill>
                <a:latin typeface="Consolas" pitchFamily="34" charset="0"/>
                <a:ea typeface="Consolas" pitchFamily="34" charset="-122"/>
                <a:cs typeface="Consolas" pitchFamily="34" charset="-120"/>
              </a:rPr>
              <a:t>1</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i="1" dirty="0">
                <a:solidFill>
                  <a:srgbClr val="6B7894"/>
                </a:solidFill>
                <a:latin typeface="Consolas" pitchFamily="34" charset="0"/>
                <a:ea typeface="Consolas" pitchFamily="34" charset="-122"/>
                <a:cs typeface="Consolas" pitchFamily="34" charset="-120"/>
              </a:rPr>
              <a:t>// 1-based ids</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for</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GraphType</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tour</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if</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&lt;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C9A2F2"/>
                </a:solidFill>
                <a:latin typeface="Consolas" pitchFamily="34" charset="0"/>
                <a:ea typeface="Consolas" pitchFamily="34" charset="-122"/>
                <a:cs typeface="Consolas" pitchFamily="34" charset="-120"/>
              </a:rPr>
              <a:t>1</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&gt;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5CCFE6"/>
                </a:solidFill>
                <a:latin typeface="Consolas" pitchFamily="34" charset="0"/>
                <a:ea typeface="Consolas" pitchFamily="34" charset="-122"/>
                <a:cs typeface="Consolas" pitchFamily="34" charset="-120"/>
              </a:rPr>
              <a:t>GraphType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if</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seen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false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seen</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id</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true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return</a:t>
            </a:r>
            <a:pPr algn="l" indent="0" marL="0">
              <a:lnSpc>
                <a:spcPts val="1450"/>
              </a:lnSpc>
              <a:buNone/>
            </a:pPr>
            <a:r>
              <a:rPr lang="en-US" sz="920" dirty="0">
                <a:solidFill>
                  <a:srgbClr val="D5DCE8"/>
                </a:solidFill>
                <a:latin typeface="Consolas" pitchFamily="34" charset="0"/>
                <a:ea typeface="Consolas" pitchFamily="34" charset="-122"/>
                <a:cs typeface="Consolas" pitchFamily="34" charset="-120"/>
              </a:rPr>
              <a:t> </a:t>
            </a:r>
            <a:pPr algn="l" indent="0" marL="0">
              <a:lnSpc>
                <a:spcPts val="1450"/>
              </a:lnSpc>
              <a:buNone/>
            </a:pPr>
            <a:r>
              <a:rPr lang="en-US" sz="920" dirty="0">
                <a:solidFill>
                  <a:srgbClr val="7FA7E8"/>
                </a:solidFill>
                <a:latin typeface="Consolas" pitchFamily="34" charset="0"/>
                <a:ea typeface="Consolas" pitchFamily="34" charset="-122"/>
                <a:cs typeface="Consolas" pitchFamily="34" charset="-120"/>
              </a:rPr>
              <a:t>true</a:t>
            </a:r>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a:p>
            <a:pPr algn="l" indent="0" marL="0">
              <a:lnSpc>
                <a:spcPts val="1450"/>
              </a:lnSpc>
              <a:buNone/>
            </a:pPr>
            <a:r>
              <a:rPr lang="en-US" sz="920" dirty="0">
                <a:solidFill>
                  <a:srgbClr val="9AA5B8"/>
                </a:solidFill>
                <a:latin typeface="Consolas" pitchFamily="34" charset="0"/>
                <a:ea typeface="Consolas" pitchFamily="34" charset="-122"/>
                <a:cs typeface="Consolas" pitchFamily="34" charset="-120"/>
              </a:rPr>
              <a:t>}</a:t>
            </a:r>
            <a:endParaRPr lang="en-US" sz="920" dirty="0"/>
          </a:p>
        </p:txBody>
      </p:sp>
      <p:sp>
        <p:nvSpPr>
          <p:cNvPr id="53" name="Shape 49"/>
          <p:cNvSpPr/>
          <p:nvPr/>
        </p:nvSpPr>
        <p:spPr>
          <a:xfrm>
            <a:off x="6903720" y="2641854"/>
            <a:ext cx="4645152" cy="368300"/>
          </a:xfrm>
          <a:prstGeom prst="roundRect">
            <a:avLst>
              <a:gd name="adj" fmla="val 9931"/>
            </a:avLst>
          </a:prstGeom>
          <a:ln w="13970">
            <a:solidFill>
              <a:srgbClr val="F39C34"/>
            </a:solidFill>
            <a:prstDash val="solid"/>
          </a:ln>
        </p:spPr>
      </p:sp>
      <p:sp>
        <p:nvSpPr>
          <p:cNvPr id="54" name="Shape 50"/>
          <p:cNvSpPr/>
          <p:nvPr/>
        </p:nvSpPr>
        <p:spPr>
          <a:xfrm>
            <a:off x="6903720" y="3746754"/>
            <a:ext cx="4645152" cy="736600"/>
          </a:xfrm>
          <a:prstGeom prst="roundRect">
            <a:avLst>
              <a:gd name="adj" fmla="val 4966"/>
            </a:avLst>
          </a:prstGeom>
          <a:ln w="13970">
            <a:solidFill>
              <a:srgbClr val="F39C34"/>
            </a:solidFill>
            <a:prstDash val="solid"/>
          </a:ln>
        </p:spPr>
      </p:sp>
      <p:sp>
        <p:nvSpPr>
          <p:cNvPr id="55" name="Text 51"/>
          <p:cNvSpPr txBox="1"/>
          <p:nvPr/>
        </p:nvSpPr>
        <p:spPr>
          <a:xfrm>
            <a:off x="6537960" y="5715000"/>
            <a:ext cx="5120640" cy="457200"/>
          </a:xfrm>
          <a:prstGeom prst="rect">
            <a:avLst/>
          </a:prstGeom>
          <a:noFill/>
          <a:ln/>
        </p:spPr>
        <p:txBody>
          <a:bodyPr wrap="square" lIns="0" tIns="0" rIns="0" bIns="0" rtlCol="0" anchor="ctr"/>
          <a:lstStyle/>
          <a:p>
            <a:pPr indent="0" marL="0">
              <a:buNone/>
            </a:pPr>
            <a:r>
              <a:rPr lang="en-US" sz="1250" b="1" dirty="0">
                <a:solidFill>
                  <a:srgbClr val="F39C34"/>
                </a:solidFill>
                <a:latin typeface="Calibri" pitchFamily="34" charset="0"/>
                <a:ea typeface="Calibri" pitchFamily="34" charset="-122"/>
                <a:cs typeface="Calibri" pitchFamily="34" charset="-120"/>
              </a:rPr>
              <a:t>Checked twice: </a:t>
            </a:r>
            <a:pPr indent="0" marL="0">
              <a:buNone/>
            </a:pPr>
            <a:r>
              <a:rPr lang="en-US" sz="1250" dirty="0">
                <a:solidFill>
                  <a:srgbClr val="C3CCDC"/>
                </a:solidFill>
                <a:latin typeface="Calibri" pitchFamily="34" charset="0"/>
                <a:ea typeface="Calibri" pitchFamily="34" charset="-122"/>
                <a:cs typeface="Calibri" pitchFamily="34" charset="-120"/>
              </a:rPr>
              <a:t>before costing, and again inside </a:t>
            </a:r>
            <a:pPr indent="0" marL="0">
              <a:buNone/>
            </a:pPr>
            <a:r>
              <a:rPr lang="en-US" sz="1250" dirty="0">
                <a:solidFill>
                  <a:srgbClr val="C3CCDC"/>
                </a:solidFill>
                <a:latin typeface="Consolas" pitchFamily="34" charset="0"/>
                <a:ea typeface="Consolas" pitchFamily="34" charset="-122"/>
                <a:cs typeface="Consolas" pitchFamily="34" charset="-120"/>
              </a:rPr>
              <a:t>depositPheromone</a:t>
            </a:r>
            <a:pPr indent="0" marL="0">
              <a:buNone/>
            </a:pPr>
            <a:r>
              <a:rPr lang="en-US" sz="1250" dirty="0">
                <a:solidFill>
                  <a:srgbClr val="C3CCDC"/>
                </a:solidFill>
                <a:latin typeface="Calibri" pitchFamily="34" charset="0"/>
                <a:ea typeface="Calibri" pitchFamily="34" charset="-122"/>
                <a:cs typeface="Calibri" pitchFamily="34" charset="-120"/>
              </a:rPr>
              <a:t>.</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02 · THE ANT SYSTEM</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Nearest-Neighbour Baseline &amp; Convergence Indicators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A best-so-far curve alone proves little; the baseline and iteration-best do.</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The Ant System</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10 / 23</a:t>
            </a:r>
            <a:endParaRPr lang="en-US" sz="900" dirty="0"/>
          </a:p>
        </p:txBody>
      </p:sp>
      <p:sp>
        <p:nvSpPr>
          <p:cNvPr id="11" name="Shape 7"/>
          <p:cNvSpPr/>
          <p:nvPr/>
        </p:nvSpPr>
        <p:spPr>
          <a:xfrm>
            <a:off x="548640" y="1645920"/>
            <a:ext cx="3931920" cy="804672"/>
          </a:xfrm>
          <a:prstGeom prst="roundRect">
            <a:avLst>
              <a:gd name="adj" fmla="val 9091"/>
            </a:avLst>
          </a:prstGeom>
          <a:solidFill>
            <a:srgbClr val="182033"/>
          </a:solidFill>
          <a:ln w="9525">
            <a:solidFill>
              <a:srgbClr val="2A3550"/>
            </a:solidFill>
            <a:prstDash val="solid"/>
          </a:ln>
        </p:spPr>
      </p:sp>
      <p:sp>
        <p:nvSpPr>
          <p:cNvPr id="12" name="Shape 8"/>
          <p:cNvSpPr/>
          <p:nvPr/>
        </p:nvSpPr>
        <p:spPr>
          <a:xfrm>
            <a:off x="777240" y="2048256"/>
            <a:ext cx="914400" cy="91"/>
          </a:xfrm>
          <a:prstGeom prst="line">
            <a:avLst/>
          </a:prstGeom>
          <a:noFill/>
          <a:ln w="44450">
            <a:solidFill>
              <a:srgbClr val="F39C34"/>
            </a:solidFill>
            <a:prstDash val="solid"/>
          </a:ln>
        </p:spPr>
      </p:sp>
      <p:sp>
        <p:nvSpPr>
          <p:cNvPr id="13" name="Text 9"/>
          <p:cNvSpPr txBox="1"/>
          <p:nvPr/>
        </p:nvSpPr>
        <p:spPr>
          <a:xfrm>
            <a:off x="1920240" y="1755648"/>
            <a:ext cx="2468880" cy="292608"/>
          </a:xfrm>
          <a:prstGeom prst="rect">
            <a:avLst/>
          </a:prstGeom>
          <a:noFill/>
          <a:ln/>
        </p:spPr>
        <p:txBody>
          <a:bodyPr wrap="square" lIns="0" tIns="0" rIns="0" bIns="0" rtlCol="0" anchor="ctr"/>
          <a:lstStyle/>
          <a:p>
            <a:pPr indent="0" marL="0">
              <a:buNone/>
            </a:pPr>
            <a:r>
              <a:rPr lang="en-US" sz="1400" b="1" dirty="0">
                <a:solidFill>
                  <a:srgbClr val="F39C34"/>
                </a:solidFill>
                <a:latin typeface="Calibri" pitchFamily="34" charset="0"/>
                <a:ea typeface="Calibri" pitchFamily="34" charset="-122"/>
                <a:cs typeface="Calibri" pitchFamily="34" charset="-120"/>
              </a:rPr>
              <a:t>Best-so-far</a:t>
            </a:r>
            <a:endParaRPr lang="en-US" sz="1400" dirty="0"/>
          </a:p>
        </p:txBody>
      </p:sp>
      <p:sp>
        <p:nvSpPr>
          <p:cNvPr id="14" name="Text 10"/>
          <p:cNvSpPr txBox="1"/>
          <p:nvPr/>
        </p:nvSpPr>
        <p:spPr>
          <a:xfrm>
            <a:off x="1920240" y="2057400"/>
            <a:ext cx="2468880" cy="274320"/>
          </a:xfrm>
          <a:prstGeom prst="rect">
            <a:avLst/>
          </a:prstGeom>
          <a:noFill/>
          <a:ln/>
        </p:spPr>
        <p:txBody>
          <a:bodyPr wrap="square" lIns="0" tIns="0" rIns="0" bIns="0" rtlCol="0" anchor="ctr"/>
          <a:lstStyle/>
          <a:p>
            <a:pPr indent="0" marL="0">
              <a:buNone/>
            </a:pPr>
            <a:r>
              <a:rPr lang="en-US" sz="1150" dirty="0">
                <a:solidFill>
                  <a:srgbClr val="8A96AD"/>
                </a:solidFill>
                <a:latin typeface="Calibri" pitchFamily="34" charset="0"/>
                <a:ea typeface="Calibri" pitchFamily="34" charset="-122"/>
                <a:cs typeface="Calibri" pitchFamily="34" charset="-120"/>
              </a:rPr>
              <a:t>monotone</a:t>
            </a:r>
            <a:endParaRPr lang="en-US" sz="1150" dirty="0"/>
          </a:p>
        </p:txBody>
      </p:sp>
      <p:sp>
        <p:nvSpPr>
          <p:cNvPr id="15" name="Shape 11"/>
          <p:cNvSpPr/>
          <p:nvPr/>
        </p:nvSpPr>
        <p:spPr>
          <a:xfrm>
            <a:off x="548640" y="2578608"/>
            <a:ext cx="3931920" cy="804672"/>
          </a:xfrm>
          <a:prstGeom prst="roundRect">
            <a:avLst>
              <a:gd name="adj" fmla="val 9091"/>
            </a:avLst>
          </a:prstGeom>
          <a:solidFill>
            <a:srgbClr val="182033"/>
          </a:solidFill>
          <a:ln w="9525">
            <a:solidFill>
              <a:srgbClr val="2A3550"/>
            </a:solidFill>
            <a:prstDash val="solid"/>
          </a:ln>
        </p:spPr>
      </p:sp>
      <p:sp>
        <p:nvSpPr>
          <p:cNvPr id="16" name="Shape 12"/>
          <p:cNvSpPr/>
          <p:nvPr/>
        </p:nvSpPr>
        <p:spPr>
          <a:xfrm flipV="1">
            <a:off x="777240" y="2834640"/>
            <a:ext cx="182880" cy="246888"/>
          </a:xfrm>
          <a:prstGeom prst="line">
            <a:avLst/>
          </a:prstGeom>
          <a:noFill/>
          <a:ln w="15875">
            <a:solidFill>
              <a:srgbClr val="8A96AD"/>
            </a:solidFill>
            <a:prstDash val="solid"/>
          </a:ln>
        </p:spPr>
      </p:sp>
      <p:sp>
        <p:nvSpPr>
          <p:cNvPr id="17" name="Shape 13"/>
          <p:cNvSpPr/>
          <p:nvPr/>
        </p:nvSpPr>
        <p:spPr>
          <a:xfrm>
            <a:off x="960120" y="2834640"/>
            <a:ext cx="182880" cy="292608"/>
          </a:xfrm>
          <a:prstGeom prst="line">
            <a:avLst/>
          </a:prstGeom>
          <a:noFill/>
          <a:ln w="15875">
            <a:solidFill>
              <a:srgbClr val="8A96AD"/>
            </a:solidFill>
            <a:prstDash val="solid"/>
          </a:ln>
        </p:spPr>
      </p:sp>
      <p:sp>
        <p:nvSpPr>
          <p:cNvPr id="18" name="Shape 14"/>
          <p:cNvSpPr/>
          <p:nvPr/>
        </p:nvSpPr>
        <p:spPr>
          <a:xfrm flipV="1">
            <a:off x="1143000" y="2898648"/>
            <a:ext cx="182880" cy="228600"/>
          </a:xfrm>
          <a:prstGeom prst="line">
            <a:avLst/>
          </a:prstGeom>
          <a:noFill/>
          <a:ln w="15875">
            <a:solidFill>
              <a:srgbClr val="8A96AD"/>
            </a:solidFill>
            <a:prstDash val="solid"/>
          </a:ln>
        </p:spPr>
      </p:sp>
      <p:sp>
        <p:nvSpPr>
          <p:cNvPr id="19" name="Shape 15"/>
          <p:cNvSpPr/>
          <p:nvPr/>
        </p:nvSpPr>
        <p:spPr>
          <a:xfrm>
            <a:off x="1325880" y="2898648"/>
            <a:ext cx="182880" cy="155448"/>
          </a:xfrm>
          <a:prstGeom prst="line">
            <a:avLst/>
          </a:prstGeom>
          <a:noFill/>
          <a:ln w="15875">
            <a:solidFill>
              <a:srgbClr val="8A96AD"/>
            </a:solidFill>
            <a:prstDash val="solid"/>
          </a:ln>
        </p:spPr>
      </p:sp>
      <p:sp>
        <p:nvSpPr>
          <p:cNvPr id="20" name="Shape 16"/>
          <p:cNvSpPr/>
          <p:nvPr/>
        </p:nvSpPr>
        <p:spPr>
          <a:xfrm flipV="1">
            <a:off x="1508760" y="2962656"/>
            <a:ext cx="182880" cy="91440"/>
          </a:xfrm>
          <a:prstGeom prst="line">
            <a:avLst/>
          </a:prstGeom>
          <a:noFill/>
          <a:ln w="15875">
            <a:solidFill>
              <a:srgbClr val="8A96AD"/>
            </a:solidFill>
            <a:prstDash val="solid"/>
          </a:ln>
        </p:spPr>
      </p:sp>
      <p:sp>
        <p:nvSpPr>
          <p:cNvPr id="21" name="Text 17"/>
          <p:cNvSpPr txBox="1"/>
          <p:nvPr/>
        </p:nvSpPr>
        <p:spPr>
          <a:xfrm>
            <a:off x="1920240" y="2688336"/>
            <a:ext cx="2468880" cy="292608"/>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Iteration best</a:t>
            </a:r>
            <a:endParaRPr lang="en-US" sz="1400" dirty="0"/>
          </a:p>
        </p:txBody>
      </p:sp>
      <p:sp>
        <p:nvSpPr>
          <p:cNvPr id="22" name="Text 18"/>
          <p:cNvSpPr txBox="1"/>
          <p:nvPr/>
        </p:nvSpPr>
        <p:spPr>
          <a:xfrm>
            <a:off x="1920240" y="2990088"/>
            <a:ext cx="2468880" cy="274320"/>
          </a:xfrm>
          <a:prstGeom prst="rect">
            <a:avLst/>
          </a:prstGeom>
          <a:noFill/>
          <a:ln/>
        </p:spPr>
        <p:txBody>
          <a:bodyPr wrap="square" lIns="0" tIns="0" rIns="0" bIns="0" rtlCol="0" anchor="ctr"/>
          <a:lstStyle/>
          <a:p>
            <a:pPr indent="0" marL="0">
              <a:buNone/>
            </a:pPr>
            <a:r>
              <a:rPr lang="en-US" sz="1150" dirty="0">
                <a:solidFill>
                  <a:srgbClr val="8A96AD"/>
                </a:solidFill>
                <a:latin typeface="Calibri" pitchFamily="34" charset="0"/>
                <a:ea typeface="Calibri" pitchFamily="34" charset="-122"/>
                <a:cs typeface="Calibri" pitchFamily="34" charset="-120"/>
              </a:rPr>
              <a:t>noisy, settles toward best-so-far</a:t>
            </a:r>
            <a:endParaRPr lang="en-US" sz="1150" dirty="0"/>
          </a:p>
        </p:txBody>
      </p:sp>
      <p:sp>
        <p:nvSpPr>
          <p:cNvPr id="23" name="Shape 19"/>
          <p:cNvSpPr/>
          <p:nvPr/>
        </p:nvSpPr>
        <p:spPr>
          <a:xfrm>
            <a:off x="548640" y="3511296"/>
            <a:ext cx="3931920" cy="804672"/>
          </a:xfrm>
          <a:prstGeom prst="roundRect">
            <a:avLst>
              <a:gd name="adj" fmla="val 9091"/>
            </a:avLst>
          </a:prstGeom>
          <a:solidFill>
            <a:srgbClr val="182033"/>
          </a:solidFill>
          <a:ln w="9525">
            <a:solidFill>
              <a:srgbClr val="2A3550"/>
            </a:solidFill>
            <a:prstDash val="solid"/>
          </a:ln>
        </p:spPr>
      </p:sp>
      <p:sp>
        <p:nvSpPr>
          <p:cNvPr id="24" name="Shape 20"/>
          <p:cNvSpPr/>
          <p:nvPr/>
        </p:nvSpPr>
        <p:spPr>
          <a:xfrm>
            <a:off x="777240" y="3913632"/>
            <a:ext cx="914400" cy="91"/>
          </a:xfrm>
          <a:prstGeom prst="line">
            <a:avLst/>
          </a:prstGeom>
          <a:noFill/>
          <a:ln w="19050">
            <a:solidFill>
              <a:srgbClr val="4CC38A"/>
            </a:solidFill>
            <a:prstDash val="dash"/>
          </a:ln>
        </p:spPr>
      </p:sp>
      <p:sp>
        <p:nvSpPr>
          <p:cNvPr id="25" name="Text 21"/>
          <p:cNvSpPr txBox="1"/>
          <p:nvPr/>
        </p:nvSpPr>
        <p:spPr>
          <a:xfrm>
            <a:off x="1920240" y="3621024"/>
            <a:ext cx="2468880" cy="292608"/>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Pheromone L1 norm</a:t>
            </a:r>
            <a:endParaRPr lang="en-US" sz="1400" dirty="0"/>
          </a:p>
        </p:txBody>
      </p:sp>
      <p:sp>
        <p:nvSpPr>
          <p:cNvPr id="26" name="Text 22"/>
          <p:cNvSpPr txBox="1"/>
          <p:nvPr/>
        </p:nvSpPr>
        <p:spPr>
          <a:xfrm>
            <a:off x="1920240" y="3922776"/>
            <a:ext cx="2468880" cy="274320"/>
          </a:xfrm>
          <a:prstGeom prst="rect">
            <a:avLst/>
          </a:prstGeom>
          <a:noFill/>
          <a:ln/>
        </p:spPr>
        <p:txBody>
          <a:bodyPr wrap="square" lIns="0" tIns="0" rIns="0" bIns="0" rtlCol="0" anchor="ctr"/>
          <a:lstStyle/>
          <a:p>
            <a:pPr indent="0" marL="0">
              <a:buNone/>
            </a:pPr>
            <a:r>
              <a:rPr lang="en-US" sz="1150" dirty="0">
                <a:solidFill>
                  <a:srgbClr val="8A96AD"/>
                </a:solidFill>
                <a:latin typeface="Calibri" pitchFamily="34" charset="0"/>
                <a:ea typeface="Calibri" pitchFamily="34" charset="-122"/>
                <a:cs typeface="Calibri" pitchFamily="34" charset="-120"/>
              </a:rPr>
              <a:t>exported only</a:t>
            </a:r>
            <a:endParaRPr lang="en-US" sz="1150" dirty="0"/>
          </a:p>
        </p:txBody>
      </p:sp>
      <p:sp>
        <p:nvSpPr>
          <p:cNvPr id="27" name="Shape 23"/>
          <p:cNvSpPr/>
          <p:nvPr/>
        </p:nvSpPr>
        <p:spPr>
          <a:xfrm>
            <a:off x="4709160" y="1645920"/>
            <a:ext cx="6949440" cy="2670048"/>
          </a:xfrm>
          <a:prstGeom prst="roundRect">
            <a:avLst>
              <a:gd name="adj" fmla="val 2740"/>
            </a:avLst>
          </a:prstGeom>
          <a:solidFill>
            <a:srgbClr val="182033"/>
          </a:solidFill>
          <a:ln w="9525">
            <a:solidFill>
              <a:srgbClr val="2A3550"/>
            </a:solidFill>
            <a:prstDash val="solid"/>
          </a:ln>
        </p:spPr>
      </p:sp>
      <p:sp>
        <p:nvSpPr>
          <p:cNvPr id="28" name="Text 24"/>
          <p:cNvSpPr txBox="1"/>
          <p:nvPr/>
        </p:nvSpPr>
        <p:spPr>
          <a:xfrm>
            <a:off x="4983480" y="1801368"/>
            <a:ext cx="5486400" cy="320040"/>
          </a:xfrm>
          <a:prstGeom prst="rect">
            <a:avLst/>
          </a:prstGeom>
          <a:noFill/>
          <a:ln/>
        </p:spPr>
        <p:txBody>
          <a:bodyPr wrap="square" lIns="0" tIns="0" rIns="0" bIns="0" rtlCol="0" anchor="ctr"/>
          <a:lstStyle/>
          <a:p>
            <a:pPr indent="0" marL="0">
              <a:buNone/>
            </a:pPr>
            <a:r>
              <a:rPr lang="en-US" sz="1600" b="1" dirty="0">
                <a:solidFill>
                  <a:srgbClr val="E9EDF5"/>
                </a:solidFill>
                <a:latin typeface="Calibri" pitchFamily="34" charset="0"/>
                <a:ea typeface="Calibri" pitchFamily="34" charset="-122"/>
                <a:cs typeface="Calibri" pitchFamily="34" charset="-120"/>
              </a:rPr>
              <a:t>Repetitive nearest neighbour</a:t>
            </a:r>
            <a:endParaRPr lang="en-US" sz="1600" dirty="0"/>
          </a:p>
        </p:txBody>
      </p:sp>
      <p:sp>
        <p:nvSpPr>
          <p:cNvPr id="29" name="Text 25"/>
          <p:cNvSpPr txBox="1"/>
          <p:nvPr/>
        </p:nvSpPr>
        <p:spPr>
          <a:xfrm>
            <a:off x="4983480" y="2176272"/>
            <a:ext cx="6492240" cy="566928"/>
          </a:xfrm>
          <a:prstGeom prst="rect">
            <a:avLst/>
          </a:prstGeom>
          <a:noFill/>
          <a:ln/>
        </p:spPr>
        <p:txBody>
          <a:bodyPr wrap="square" lIns="0" tIns="0" rIns="0" bIns="0" rtlCol="0" anchor="ctr"/>
          <a:lstStyle/>
          <a:p>
            <a:pPr indent="0" marL="0">
              <a:buNone/>
            </a:pPr>
            <a:r>
              <a:rPr lang="en-US" sz="1300" dirty="0">
                <a:solidFill>
                  <a:srgbClr val="C3CCDC"/>
                </a:solidFill>
                <a:latin typeface="Calibri" pitchFamily="34" charset="0"/>
                <a:ea typeface="Calibri" pitchFamily="34" charset="-122"/>
                <a:cs typeface="Calibri" pitchFamily="34" charset="-120"/>
              </a:rPr>
              <a:t>Greedy tour from </a:t>
            </a:r>
            <a:pPr indent="0" marL="0">
              <a:buNone/>
            </a:pPr>
            <a:r>
              <a:rPr lang="en-US" sz="1300" b="1" i="1" dirty="0">
                <a:solidFill>
                  <a:srgbClr val="C3CCDC"/>
                </a:solidFill>
                <a:latin typeface="Calibri" pitchFamily="34" charset="0"/>
                <a:ea typeface="Calibri" pitchFamily="34" charset="-122"/>
                <a:cs typeface="Calibri" pitchFamily="34" charset="-120"/>
              </a:rPr>
              <a:t>every</a:t>
            </a:r>
            <a:pPr indent="0" marL="0">
              <a:buNone/>
            </a:pPr>
            <a:r>
              <a:rPr lang="en-US" sz="1300" dirty="0">
                <a:solidFill>
                  <a:srgbClr val="C3CCDC"/>
                </a:solidFill>
                <a:latin typeface="Calibri" pitchFamily="34" charset="0"/>
                <a:ea typeface="Calibri" pitchFamily="34" charset="-122"/>
                <a:cs typeface="Calibri" pitchFamily="34" charset="-120"/>
              </a:rPr>
              <a:t> start city, shortest kept · O(n</a:t>
            </a:r>
            <a:pPr indent="0" marL="0">
              <a:buNone/>
            </a:pPr>
            <a:r>
              <a:rPr lang="en-US" sz="1300" baseline="30000" dirty="0">
                <a:solidFill>
                  <a:srgbClr val="C3CCDC"/>
                </a:solidFill>
                <a:latin typeface="Calibri" pitchFamily="34" charset="0"/>
                <a:ea typeface="Calibri" pitchFamily="34" charset="-122"/>
                <a:cs typeface="Calibri" pitchFamily="34" charset="-120"/>
              </a:rPr>
              <a:t>3</a:t>
            </a:r>
            <a:pPr indent="0" marL="0">
              <a:buNone/>
            </a:pPr>
            <a:r>
              <a:rPr lang="en-US" sz="1300" dirty="0">
                <a:solidFill>
                  <a:srgbClr val="C3CCDC"/>
                </a:solidFill>
                <a:latin typeface="Calibri" pitchFamily="34" charset="0"/>
                <a:ea typeface="Calibri" pitchFamily="34" charset="-122"/>
                <a:cs typeface="Calibri" pitchFamily="34" charset="-120"/>
              </a:rPr>
              <a:t>), once per instance · </a:t>
            </a:r>
            <a:pPr indent="0" marL="0">
              <a:buNone/>
            </a:pPr>
            <a:r>
              <a:rPr lang="en-US" sz="1300" b="1" dirty="0">
                <a:solidFill>
                  <a:srgbClr val="F39C34"/>
                </a:solidFill>
                <a:latin typeface="Calibri" pitchFamily="34" charset="0"/>
                <a:ea typeface="Calibri" pitchFamily="34" charset="-122"/>
                <a:cs typeface="Calibri" pitchFamily="34" charset="-120"/>
              </a:rPr>
              <a:t>never seeds the colony</a:t>
            </a:r>
            <a:endParaRPr lang="en-US" sz="1300" dirty="0"/>
          </a:p>
        </p:txBody>
      </p:sp>
      <p:pic>
        <p:nvPicPr>
          <p:cNvPr id="30" name="Image 1" descr="impr">    </p:cNvPr>
          <p:cNvPicPr>
            <a:picLocks noChangeAspect="1"/>
          </p:cNvPicPr>
          <p:nvPr/>
        </p:nvPicPr>
        <p:blipFill>
          <a:blip r:embed="rId2"/>
          <a:stretch>
            <a:fillRect/>
          </a:stretch>
        </p:blipFill>
        <p:spPr>
          <a:xfrm>
            <a:off x="4983480" y="2852928"/>
            <a:ext cx="3345534" cy="566928"/>
          </a:xfrm>
          <a:prstGeom prst="rect">
            <a:avLst/>
          </a:prstGeom>
        </p:spPr>
      </p:pic>
      <p:sp>
        <p:nvSpPr>
          <p:cNvPr id="31" name="Text 26"/>
          <p:cNvSpPr txBox="1"/>
          <p:nvPr/>
        </p:nvSpPr>
        <p:spPr>
          <a:xfrm>
            <a:off x="9418320" y="2971800"/>
            <a:ext cx="2011680" cy="347472"/>
          </a:xfrm>
          <a:prstGeom prst="roundRect">
            <a:avLst>
              <a:gd name="adj" fmla="val 50000"/>
            </a:avLst>
          </a:prstGeom>
          <a:solidFill>
            <a:srgbClr val="182033"/>
          </a:solidFill>
          <a:ln w="9525">
            <a:solidFill>
              <a:srgbClr val="5A4424"/>
            </a:solidFill>
          </a:ln>
        </p:spPr>
        <p:txBody>
          <a:bodyPr wrap="square" lIns="0" tIns="101600" rIns="101600" bIns="0" rtlCol="0" anchor="ctr"/>
          <a:lstStyle/>
          <a:p>
            <a:pPr algn="ctr" indent="0" marL="0">
              <a:buNone/>
            </a:pPr>
            <a:r>
              <a:rPr lang="en-US" sz="1100" dirty="0">
                <a:solidFill>
                  <a:srgbClr val="F39C34"/>
                </a:solidFill>
                <a:latin typeface="Calibri" pitchFamily="34" charset="0"/>
                <a:ea typeface="Calibri" pitchFamily="34" charset="-122"/>
                <a:cs typeface="Calibri" pitchFamily="34" charset="-120"/>
              </a:rPr>
              <a:t>signed · unclamped</a:t>
            </a:r>
            <a:endParaRPr lang="en-US" sz="1100" dirty="0"/>
          </a:p>
        </p:txBody>
      </p:sp>
      <p:sp>
        <p:nvSpPr>
          <p:cNvPr id="32" name="Shape 27"/>
          <p:cNvSpPr/>
          <p:nvPr/>
        </p:nvSpPr>
        <p:spPr>
          <a:xfrm>
            <a:off x="548640" y="4526280"/>
            <a:ext cx="11109960" cy="1691640"/>
          </a:xfrm>
          <a:prstGeom prst="roundRect">
            <a:avLst>
              <a:gd name="adj" fmla="val 4324"/>
            </a:avLst>
          </a:prstGeom>
          <a:solidFill>
            <a:srgbClr val="141B2B"/>
          </a:solidFill>
          <a:ln w="9525">
            <a:solidFill>
              <a:srgbClr val="5A4424"/>
            </a:solidFill>
            <a:prstDash val="solid"/>
          </a:ln>
        </p:spPr>
      </p:sp>
      <p:pic>
        <p:nvPicPr>
          <p:cNvPr id="33" name="Image 2" descr="preencoded.png">    </p:cNvPr>
          <p:cNvPicPr>
            <a:picLocks noChangeAspect="1"/>
          </p:cNvPicPr>
          <p:nvPr/>
        </p:nvPicPr>
        <p:blipFill>
          <a:blip r:embed="rId3"/>
          <a:stretch>
            <a:fillRect/>
          </a:stretch>
        </p:blipFill>
        <p:spPr>
          <a:xfrm>
            <a:off x="777240" y="4709160"/>
            <a:ext cx="274320" cy="274320"/>
          </a:xfrm>
          <a:prstGeom prst="rect">
            <a:avLst/>
          </a:prstGeom>
        </p:spPr>
      </p:pic>
      <p:sp>
        <p:nvSpPr>
          <p:cNvPr id="34" name="Text 28"/>
          <p:cNvSpPr txBox="1"/>
          <p:nvPr/>
        </p:nvSpPr>
        <p:spPr>
          <a:xfrm>
            <a:off x="1170432" y="4681728"/>
            <a:ext cx="3657600"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The L1-norm trap</a:t>
            </a:r>
            <a:endParaRPr lang="en-US" sz="1500" dirty="0"/>
          </a:p>
        </p:txBody>
      </p:sp>
      <p:sp>
        <p:nvSpPr>
          <p:cNvPr id="35" name="Text 29"/>
          <p:cNvSpPr txBox="1"/>
          <p:nvPr/>
        </p:nvSpPr>
        <p:spPr>
          <a:xfrm>
            <a:off x="777240" y="5120640"/>
            <a:ext cx="4846320" cy="868680"/>
          </a:xfrm>
          <a:prstGeom prst="rect">
            <a:avLst/>
          </a:prstGeom>
          <a:noFill/>
          <a:ln/>
        </p:spPr>
        <p:txBody>
          <a:bodyPr wrap="square" lIns="0" tIns="0" rIns="0" bIns="0" rtlCol="0" anchor="t"/>
          <a:lstStyle/>
          <a:p>
            <a:pPr indent="0" marL="0">
              <a:buNone/>
            </a:pPr>
            <a:r>
              <a:rPr lang="en-US" sz="1250" dirty="0">
                <a:solidFill>
                  <a:srgbClr val="C3CCDC"/>
                </a:solidFill>
                <a:latin typeface="Calibri" pitchFamily="34" charset="0"/>
                <a:ea typeface="Calibri" pitchFamily="34" charset="-122"/>
                <a:cs typeface="Calibri" pitchFamily="34" charset="-120"/>
              </a:rPr>
              <a:t>Every tour enters and leaves each city once ⇒ all column sums stay equal. It measures trail mass, not concentration.</a:t>
            </a:r>
            <a:endParaRPr lang="en-US" sz="1250" dirty="0"/>
          </a:p>
        </p:txBody>
      </p:sp>
      <p:pic>
        <p:nvPicPr>
          <p:cNvPr id="36" name="Image 3" descr="l1">    </p:cNvPr>
          <p:cNvPicPr>
            <a:picLocks noChangeAspect="1"/>
          </p:cNvPicPr>
          <p:nvPr/>
        </p:nvPicPr>
        <p:blipFill>
          <a:blip r:embed="rId4"/>
          <a:stretch>
            <a:fillRect/>
          </a:stretch>
        </p:blipFill>
        <p:spPr>
          <a:xfrm>
            <a:off x="5897880" y="4892040"/>
            <a:ext cx="4012624" cy="603504"/>
          </a:xfrm>
          <a:prstGeom prst="rect">
            <a:avLst/>
          </a:prstGeom>
        </p:spPr>
      </p:pic>
      <p:sp>
        <p:nvSpPr>
          <p:cNvPr id="37" name="Text 30"/>
          <p:cNvSpPr txBox="1"/>
          <p:nvPr/>
        </p:nvSpPr>
        <p:spPr>
          <a:xfrm>
            <a:off x="5897880" y="5650992"/>
            <a:ext cx="4572000" cy="274320"/>
          </a:xfrm>
          <a:prstGeom prst="rect">
            <a:avLst/>
          </a:prstGeom>
          <a:noFill/>
          <a:ln/>
        </p:spPr>
        <p:txBody>
          <a:bodyPr wrap="square" lIns="0" tIns="0" rIns="0" bIns="0" rtlCol="0" anchor="ctr"/>
          <a:lstStyle/>
          <a:p>
            <a:pPr indent="0" marL="0">
              <a:buNone/>
            </a:pPr>
            <a:r>
              <a:rPr lang="en-US" sz="1100" i="1" dirty="0">
                <a:solidFill>
                  <a:srgbClr val="8A96AD"/>
                </a:solidFill>
                <a:latin typeface="Calibri" pitchFamily="34" charset="0"/>
                <a:ea typeface="Calibri" pitchFamily="34" charset="-122"/>
                <a:cs typeface="Calibri" pitchFamily="34" charset="-120"/>
              </a:rPr>
              <a:t>verified to nine decimal places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03</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03</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Real-Time GUI Application</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A natID desktop app for watching and measuring the colony</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Interface overview</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Threading model</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Experiments: parameters, compare, export</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11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03 · REAL-TIME GUI APPLICATION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Interface Overview</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Map, pheromone trail, chart and statistics all update live.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Real-Time GUI Application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12 / 23</a:t>
            </a:r>
            <a:endParaRPr lang="en-US" sz="900" dirty="0"/>
          </a:p>
        </p:txBody>
      </p:sp>
      <p:sp>
        <p:nvSpPr>
          <p:cNvPr id="11" name="Shape 7"/>
          <p:cNvSpPr/>
          <p:nvPr/>
        </p:nvSpPr>
        <p:spPr>
          <a:xfrm>
            <a:off x="502920" y="1527048"/>
            <a:ext cx="7767383" cy="4407408"/>
          </a:xfrm>
          <a:prstGeom prst="roundRect">
            <a:avLst>
              <a:gd name="adj" fmla="val 1037"/>
            </a:avLst>
          </a:prstGeom>
          <a:solidFill>
            <a:srgbClr val="2A3550"/>
          </a:solidFill>
          <a:ln w="9525">
            <a:solidFill>
              <a:srgbClr val="2A3550"/>
            </a:solidFill>
            <a:prstDash val="solid"/>
          </a:ln>
        </p:spPr>
      </p:sp>
      <p:pic>
        <p:nvPicPr>
          <p:cNvPr id="12" name="Image 1" descr="Main window during a run">    </p:cNvPr>
          <p:cNvPicPr>
            <a:picLocks noChangeAspect="1"/>
          </p:cNvPicPr>
          <p:nvPr/>
        </p:nvPicPr>
        <p:blipFill>
          <a:blip r:embed="rId2"/>
          <a:stretch>
            <a:fillRect/>
          </a:stretch>
        </p:blipFill>
        <p:spPr>
          <a:xfrm>
            <a:off x="548640" y="1572768"/>
            <a:ext cx="7675943" cy="4315968"/>
          </a:xfrm>
          <a:prstGeom prst="rect">
            <a:avLst/>
          </a:prstGeom>
        </p:spPr>
      </p:pic>
      <p:sp>
        <p:nvSpPr>
          <p:cNvPr id="13" name="Shape 8"/>
          <p:cNvSpPr/>
          <p:nvPr/>
        </p:nvSpPr>
        <p:spPr>
          <a:xfrm>
            <a:off x="3104729" y="1861938"/>
            <a:ext cx="40478" cy="486241"/>
          </a:xfrm>
          <a:prstGeom prst="line">
            <a:avLst/>
          </a:prstGeom>
          <a:noFill/>
          <a:ln w="12700">
            <a:solidFill>
              <a:srgbClr val="F39C34"/>
            </a:solidFill>
            <a:prstDash val="solid"/>
          </a:ln>
        </p:spPr>
      </p:sp>
      <p:sp>
        <p:nvSpPr>
          <p:cNvPr id="14" name="Text 9"/>
          <p:cNvSpPr txBox="1"/>
          <p:nvPr/>
        </p:nvSpPr>
        <p:spPr>
          <a:xfrm>
            <a:off x="3145208" y="2220163"/>
            <a:ext cx="1408176"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1  </a:t>
            </a:r>
            <a:pPr algn="ctr" indent="0" marL="0">
              <a:buNone/>
            </a:pPr>
            <a:r>
              <a:rPr lang="en-US" sz="1000" dirty="0">
                <a:solidFill>
                  <a:srgbClr val="E9EDF5"/>
                </a:solidFill>
                <a:latin typeface="Calibri" pitchFamily="34" charset="0"/>
                <a:ea typeface="Calibri" pitchFamily="34" charset="-122"/>
                <a:cs typeface="Calibri" pitchFamily="34" charset="-120"/>
              </a:rPr>
              <a:t>parameter bar</a:t>
            </a:r>
            <a:endParaRPr lang="en-US" sz="1000" dirty="0"/>
          </a:p>
        </p:txBody>
      </p:sp>
      <p:sp>
        <p:nvSpPr>
          <p:cNvPr id="15" name="Text 10"/>
          <p:cNvSpPr txBox="1"/>
          <p:nvPr/>
        </p:nvSpPr>
        <p:spPr>
          <a:xfrm>
            <a:off x="2985857" y="1743066"/>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1</a:t>
            </a:r>
            <a:endParaRPr lang="en-US" sz="950" dirty="0"/>
          </a:p>
        </p:txBody>
      </p:sp>
      <p:sp>
        <p:nvSpPr>
          <p:cNvPr id="16" name="Shape 11"/>
          <p:cNvSpPr/>
          <p:nvPr/>
        </p:nvSpPr>
        <p:spPr>
          <a:xfrm>
            <a:off x="3150785" y="3139464"/>
            <a:ext cx="91" cy="848783"/>
          </a:xfrm>
          <a:prstGeom prst="line">
            <a:avLst/>
          </a:prstGeom>
          <a:noFill/>
          <a:ln w="12700">
            <a:solidFill>
              <a:srgbClr val="F39C34"/>
            </a:solidFill>
            <a:prstDash val="solid"/>
          </a:ln>
        </p:spPr>
      </p:sp>
      <p:sp>
        <p:nvSpPr>
          <p:cNvPr id="17" name="Text 12"/>
          <p:cNvSpPr txBox="1"/>
          <p:nvPr/>
        </p:nvSpPr>
        <p:spPr>
          <a:xfrm>
            <a:off x="2694972" y="3860231"/>
            <a:ext cx="3383280"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2  </a:t>
            </a:r>
            <a:pPr algn="ctr" indent="0" marL="0">
              <a:buNone/>
            </a:pPr>
            <a:r>
              <a:rPr lang="en-US" sz="1000" dirty="0">
                <a:solidFill>
                  <a:srgbClr val="E9EDF5"/>
                </a:solidFill>
                <a:latin typeface="Calibri" pitchFamily="34" charset="0"/>
                <a:ea typeface="Calibri" pitchFamily="34" charset="-122"/>
                <a:cs typeface="Calibri" pitchFamily="34" charset="-120"/>
              </a:rPr>
              <a:t>pheromone edges (Threshold: &gt; 1.5× mean)</a:t>
            </a:r>
            <a:endParaRPr lang="en-US" sz="1000" dirty="0"/>
          </a:p>
        </p:txBody>
      </p:sp>
      <p:sp>
        <p:nvSpPr>
          <p:cNvPr id="18" name="Text 13"/>
          <p:cNvSpPr txBox="1"/>
          <p:nvPr/>
        </p:nvSpPr>
        <p:spPr>
          <a:xfrm>
            <a:off x="3031913" y="3020592"/>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2</a:t>
            </a:r>
            <a:endParaRPr lang="en-US" sz="950" dirty="0"/>
          </a:p>
        </p:txBody>
      </p:sp>
      <p:sp>
        <p:nvSpPr>
          <p:cNvPr id="19" name="Shape 14"/>
          <p:cNvSpPr/>
          <p:nvPr/>
        </p:nvSpPr>
        <p:spPr>
          <a:xfrm flipH="1">
            <a:off x="1874018" y="2945246"/>
            <a:ext cx="455440" cy="352446"/>
          </a:xfrm>
          <a:prstGeom prst="line">
            <a:avLst/>
          </a:prstGeom>
          <a:noFill/>
          <a:ln w="12700">
            <a:solidFill>
              <a:srgbClr val="F39C34"/>
            </a:solidFill>
            <a:prstDash val="solid"/>
          </a:ln>
        </p:spPr>
      </p:sp>
      <p:sp>
        <p:nvSpPr>
          <p:cNvPr id="20" name="Text 15"/>
          <p:cNvSpPr txBox="1"/>
          <p:nvPr/>
        </p:nvSpPr>
        <p:spPr>
          <a:xfrm>
            <a:off x="758450" y="3169676"/>
            <a:ext cx="1115568"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3  </a:t>
            </a:r>
            <a:pPr algn="ctr" indent="0" marL="0">
              <a:buNone/>
            </a:pPr>
            <a:r>
              <a:rPr lang="en-US" sz="1000" dirty="0">
                <a:solidFill>
                  <a:srgbClr val="E9EDF5"/>
                </a:solidFill>
                <a:latin typeface="Calibri" pitchFamily="34" charset="0"/>
                <a:ea typeface="Calibri" pitchFamily="34" charset="-122"/>
                <a:cs typeface="Calibri" pitchFamily="34" charset="-120"/>
              </a:rPr>
              <a:t>best tour</a:t>
            </a:r>
            <a:endParaRPr lang="en-US" sz="1000" dirty="0"/>
          </a:p>
        </p:txBody>
      </p:sp>
      <p:sp>
        <p:nvSpPr>
          <p:cNvPr id="21" name="Text 16"/>
          <p:cNvSpPr txBox="1"/>
          <p:nvPr/>
        </p:nvSpPr>
        <p:spPr>
          <a:xfrm>
            <a:off x="2210587" y="2826374"/>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3</a:t>
            </a:r>
            <a:endParaRPr lang="en-US" sz="950" dirty="0"/>
          </a:p>
        </p:txBody>
      </p:sp>
      <p:sp>
        <p:nvSpPr>
          <p:cNvPr id="22" name="Shape 17"/>
          <p:cNvSpPr/>
          <p:nvPr/>
        </p:nvSpPr>
        <p:spPr>
          <a:xfrm>
            <a:off x="7303470" y="2414382"/>
            <a:ext cx="91" cy="840151"/>
          </a:xfrm>
          <a:prstGeom prst="line">
            <a:avLst/>
          </a:prstGeom>
          <a:noFill/>
          <a:ln w="12700">
            <a:solidFill>
              <a:srgbClr val="F39C34"/>
            </a:solidFill>
            <a:prstDash val="solid"/>
          </a:ln>
        </p:spPr>
      </p:sp>
      <p:sp>
        <p:nvSpPr>
          <p:cNvPr id="23" name="Text 18"/>
          <p:cNvSpPr txBox="1"/>
          <p:nvPr/>
        </p:nvSpPr>
        <p:spPr>
          <a:xfrm>
            <a:off x="6262983" y="3126516"/>
            <a:ext cx="1773936"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4  </a:t>
            </a:r>
            <a:pPr algn="ctr" indent="0" marL="0">
              <a:buNone/>
            </a:pPr>
            <a:r>
              <a:rPr lang="en-US" sz="1000" dirty="0">
                <a:solidFill>
                  <a:srgbClr val="E9EDF5"/>
                </a:solidFill>
                <a:latin typeface="Calibri" pitchFamily="34" charset="0"/>
                <a:ea typeface="Calibri" pitchFamily="34" charset="-122"/>
                <a:cs typeface="Calibri" pitchFamily="34" charset="-120"/>
              </a:rPr>
              <a:t>statistics sidebar</a:t>
            </a:r>
            <a:endParaRPr lang="en-US" sz="1000" dirty="0"/>
          </a:p>
        </p:txBody>
      </p:sp>
      <p:sp>
        <p:nvSpPr>
          <p:cNvPr id="24" name="Text 19"/>
          <p:cNvSpPr txBox="1"/>
          <p:nvPr/>
        </p:nvSpPr>
        <p:spPr>
          <a:xfrm>
            <a:off x="7184598" y="2295510"/>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4</a:t>
            </a:r>
            <a:endParaRPr lang="en-US" sz="950" dirty="0"/>
          </a:p>
        </p:txBody>
      </p:sp>
      <p:sp>
        <p:nvSpPr>
          <p:cNvPr id="25" name="Shape 20"/>
          <p:cNvSpPr/>
          <p:nvPr/>
        </p:nvSpPr>
        <p:spPr>
          <a:xfrm flipV="1">
            <a:off x="6551227" y="4851441"/>
            <a:ext cx="91" cy="441692"/>
          </a:xfrm>
          <a:prstGeom prst="line">
            <a:avLst/>
          </a:prstGeom>
          <a:noFill/>
          <a:ln w="12700">
            <a:solidFill>
              <a:srgbClr val="F39C34"/>
            </a:solidFill>
            <a:prstDash val="solid"/>
          </a:ln>
        </p:spPr>
      </p:sp>
      <p:sp>
        <p:nvSpPr>
          <p:cNvPr id="26" name="Text 21"/>
          <p:cNvSpPr txBox="1"/>
          <p:nvPr/>
        </p:nvSpPr>
        <p:spPr>
          <a:xfrm>
            <a:off x="4859167" y="4723425"/>
            <a:ext cx="2432304" cy="256032"/>
          </a:xfrm>
          <a:prstGeom prst="roundRect">
            <a:avLst>
              <a:gd name="adj" fmla="val 50000"/>
            </a:avLst>
          </a:prstGeom>
          <a:solidFill>
            <a:srgbClr val="0F1420"/>
          </a:solidFill>
          <a:ln w="9525">
            <a:solidFill>
              <a:srgbClr val="F39C34"/>
            </a:solidFill>
          </a:ln>
        </p:spPr>
        <p:txBody>
          <a:bodyPr wrap="square" lIns="0" tIns="0" rIns="0" bIns="0" rtlCol="0" anchor="ctr"/>
          <a:lstStyle/>
          <a:p>
            <a:pPr algn="ctr" indent="0" marL="0">
              <a:buNone/>
            </a:pPr>
            <a:r>
              <a:rPr lang="en-US" sz="1000" b="1" dirty="0">
                <a:solidFill>
                  <a:srgbClr val="F39C34"/>
                </a:solidFill>
                <a:latin typeface="Calibri" pitchFamily="34" charset="0"/>
                <a:ea typeface="Calibri" pitchFamily="34" charset="-122"/>
                <a:cs typeface="Calibri" pitchFamily="34" charset="-120"/>
              </a:rPr>
              <a:t>5  </a:t>
            </a:r>
            <a:pPr algn="ctr" indent="0" marL="0">
              <a:buNone/>
            </a:pPr>
            <a:r>
              <a:rPr lang="en-US" sz="1000" dirty="0">
                <a:solidFill>
                  <a:srgbClr val="E9EDF5"/>
                </a:solidFill>
                <a:latin typeface="Calibri" pitchFamily="34" charset="0"/>
                <a:ea typeface="Calibri" pitchFamily="34" charset="-122"/>
                <a:cs typeface="Calibri" pitchFamily="34" charset="-120"/>
              </a:rPr>
              <a:t>convergence chart + NN line</a:t>
            </a:r>
            <a:endParaRPr lang="en-US" sz="1000" dirty="0"/>
          </a:p>
        </p:txBody>
      </p:sp>
      <p:sp>
        <p:nvSpPr>
          <p:cNvPr id="27" name="Text 22"/>
          <p:cNvSpPr txBox="1"/>
          <p:nvPr/>
        </p:nvSpPr>
        <p:spPr>
          <a:xfrm>
            <a:off x="6432355" y="5174260"/>
            <a:ext cx="237744" cy="237744"/>
          </a:xfrm>
          <a:prstGeom prst="ellipse">
            <a:avLst/>
          </a:prstGeom>
          <a:solidFill>
            <a:srgbClr val="F39C34"/>
          </a:solidFill>
          <a:ln w="12700">
            <a:solidFill>
              <a:srgbClr val="0F1420"/>
            </a:solidFill>
          </a:ln>
        </p:spPr>
        <p:txBody>
          <a:bodyPr wrap="square" lIns="0" tIns="0" rIns="0" bIns="0" rtlCol="0" anchor="ctr"/>
          <a:lstStyle/>
          <a:p>
            <a:pPr algn="ctr" indent="0" marL="0">
              <a:buNone/>
            </a:pPr>
            <a:r>
              <a:rPr lang="en-US" sz="950" b="1" dirty="0">
                <a:solidFill>
                  <a:srgbClr val="0F1420"/>
                </a:solidFill>
                <a:latin typeface="Calibri" pitchFamily="34" charset="0"/>
                <a:ea typeface="Calibri" pitchFamily="34" charset="-122"/>
                <a:cs typeface="Calibri" pitchFamily="34" charset="-120"/>
              </a:rPr>
              <a:t>5</a:t>
            </a:r>
            <a:endParaRPr lang="en-US" sz="950" dirty="0"/>
          </a:p>
        </p:txBody>
      </p:sp>
      <p:sp>
        <p:nvSpPr>
          <p:cNvPr id="28" name="Text 23"/>
          <p:cNvSpPr txBox="1"/>
          <p:nvPr/>
        </p:nvSpPr>
        <p:spPr>
          <a:xfrm>
            <a:off x="548640" y="5961888"/>
            <a:ext cx="7675943" cy="365760"/>
          </a:xfrm>
          <a:prstGeom prst="rect">
            <a:avLst/>
          </a:prstGeom>
          <a:noFill/>
          <a:ln/>
        </p:spPr>
        <p:txBody>
          <a:bodyPr wrap="square" lIns="0" tIns="0" rIns="0" bIns="0" rtlCol="0" anchor="ctr"/>
          <a:lstStyle/>
          <a:p>
            <a:pPr indent="0" marL="0">
              <a:buNone/>
            </a:pPr>
            <a:r>
              <a:rPr lang="en-US" sz="1050" i="1" dirty="0">
                <a:solidFill>
                  <a:srgbClr val="8A96AD"/>
                </a:solidFill>
                <a:latin typeface="Calibri" pitchFamily="34" charset="0"/>
                <a:ea typeface="Calibri" pitchFamily="34" charset="-122"/>
                <a:cs typeface="Calibri" pitchFamily="34" charset="-120"/>
              </a:rPr>
              <a:t>16 cities, 20 ants, 40 iterations, α=1, β=3, ρ=0.5, at iteration 25: best tour 888.3 km (found at iter 21), 3.7% shorter than NN 922.6 km.</a:t>
            </a:r>
            <a:endParaRPr lang="en-US" sz="1050" dirty="0"/>
          </a:p>
        </p:txBody>
      </p:sp>
      <p:sp>
        <p:nvSpPr>
          <p:cNvPr id="29" name="Shape 24"/>
          <p:cNvSpPr/>
          <p:nvPr/>
        </p:nvSpPr>
        <p:spPr>
          <a:xfrm>
            <a:off x="8544623" y="1572768"/>
            <a:ext cx="3113977" cy="1078992"/>
          </a:xfrm>
          <a:prstGeom prst="roundRect">
            <a:avLst>
              <a:gd name="adj" fmla="val 6780"/>
            </a:avLst>
          </a:prstGeom>
          <a:solidFill>
            <a:srgbClr val="182033"/>
          </a:solidFill>
          <a:ln w="9525">
            <a:solidFill>
              <a:srgbClr val="2A3550"/>
            </a:solidFill>
            <a:prstDash val="solid"/>
          </a:ln>
        </p:spPr>
      </p:sp>
      <p:pic>
        <p:nvPicPr>
          <p:cNvPr id="30" name="Image 2" descr="preencoded.png">    </p:cNvPr>
          <p:cNvPicPr>
            <a:picLocks noChangeAspect="1"/>
          </p:cNvPicPr>
          <p:nvPr/>
        </p:nvPicPr>
        <p:blipFill>
          <a:blip r:embed="rId3"/>
          <a:stretch>
            <a:fillRect/>
          </a:stretch>
        </p:blipFill>
        <p:spPr>
          <a:xfrm>
            <a:off x="8727503" y="1755648"/>
            <a:ext cx="274320" cy="274320"/>
          </a:xfrm>
          <a:prstGeom prst="rect">
            <a:avLst/>
          </a:prstGeom>
        </p:spPr>
      </p:pic>
      <p:sp>
        <p:nvSpPr>
          <p:cNvPr id="31" name="Text 25"/>
          <p:cNvSpPr txBox="1"/>
          <p:nvPr/>
        </p:nvSpPr>
        <p:spPr>
          <a:xfrm>
            <a:off x="9111551" y="1719072"/>
            <a:ext cx="2428177" cy="329184"/>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Map canvas</a:t>
            </a:r>
            <a:endParaRPr lang="en-US" sz="1400" dirty="0"/>
          </a:p>
        </p:txBody>
      </p:sp>
      <p:sp>
        <p:nvSpPr>
          <p:cNvPr id="32" name="Text 26"/>
          <p:cNvSpPr txBox="1"/>
          <p:nvPr/>
        </p:nvSpPr>
        <p:spPr>
          <a:xfrm>
            <a:off x="8727503" y="2103120"/>
            <a:ext cx="2793937" cy="45720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animation loop requests 60 fps</a:t>
            </a:r>
            <a:endParaRPr lang="en-US" sz="1200" dirty="0"/>
          </a:p>
        </p:txBody>
      </p:sp>
      <p:sp>
        <p:nvSpPr>
          <p:cNvPr id="33" name="Shape 27"/>
          <p:cNvSpPr/>
          <p:nvPr/>
        </p:nvSpPr>
        <p:spPr>
          <a:xfrm>
            <a:off x="8544623" y="2807208"/>
            <a:ext cx="3113977" cy="1078992"/>
          </a:xfrm>
          <a:prstGeom prst="roundRect">
            <a:avLst>
              <a:gd name="adj" fmla="val 6780"/>
            </a:avLst>
          </a:prstGeom>
          <a:solidFill>
            <a:srgbClr val="182033"/>
          </a:solidFill>
          <a:ln w="9525">
            <a:solidFill>
              <a:srgbClr val="2A3550"/>
            </a:solidFill>
            <a:prstDash val="solid"/>
          </a:ln>
        </p:spPr>
      </p:sp>
      <p:pic>
        <p:nvPicPr>
          <p:cNvPr id="34" name="Image 3" descr="preencoded.png">    </p:cNvPr>
          <p:cNvPicPr>
            <a:picLocks noChangeAspect="1"/>
          </p:cNvPicPr>
          <p:nvPr/>
        </p:nvPicPr>
        <p:blipFill>
          <a:blip r:embed="rId4"/>
          <a:stretch>
            <a:fillRect/>
          </a:stretch>
        </p:blipFill>
        <p:spPr>
          <a:xfrm>
            <a:off x="8727503" y="2990088"/>
            <a:ext cx="274320" cy="274320"/>
          </a:xfrm>
          <a:prstGeom prst="rect">
            <a:avLst/>
          </a:prstGeom>
        </p:spPr>
      </p:pic>
      <p:sp>
        <p:nvSpPr>
          <p:cNvPr id="35" name="Text 28"/>
          <p:cNvSpPr txBox="1"/>
          <p:nvPr/>
        </p:nvSpPr>
        <p:spPr>
          <a:xfrm>
            <a:off x="9111551" y="2953512"/>
            <a:ext cx="2428177" cy="329184"/>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Chart &amp; sidebar</a:t>
            </a:r>
            <a:endParaRPr lang="en-US" sz="1400" dirty="0"/>
          </a:p>
        </p:txBody>
      </p:sp>
      <p:sp>
        <p:nvSpPr>
          <p:cNvPr id="36" name="Text 29"/>
          <p:cNvSpPr txBox="1"/>
          <p:nvPr/>
        </p:nvSpPr>
        <p:spPr>
          <a:xfrm>
            <a:off x="8727503" y="3337560"/>
            <a:ext cx="2793937" cy="45720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request 10 fps, drawn from thread-safe snapshots</a:t>
            </a:r>
            <a:endParaRPr lang="en-US" sz="1200" dirty="0"/>
          </a:p>
        </p:txBody>
      </p:sp>
      <p:sp>
        <p:nvSpPr>
          <p:cNvPr id="37" name="Shape 30"/>
          <p:cNvSpPr/>
          <p:nvPr/>
        </p:nvSpPr>
        <p:spPr>
          <a:xfrm>
            <a:off x="8544623" y="4041648"/>
            <a:ext cx="3113977" cy="1078992"/>
          </a:xfrm>
          <a:prstGeom prst="roundRect">
            <a:avLst>
              <a:gd name="adj" fmla="val 6780"/>
            </a:avLst>
          </a:prstGeom>
          <a:solidFill>
            <a:srgbClr val="182033"/>
          </a:solidFill>
          <a:ln w="9525">
            <a:solidFill>
              <a:srgbClr val="2A3550"/>
            </a:solidFill>
            <a:prstDash val="solid"/>
          </a:ln>
        </p:spPr>
      </p:sp>
      <p:pic>
        <p:nvPicPr>
          <p:cNvPr id="38" name="Image 4" descr="preencoded.png">    </p:cNvPr>
          <p:cNvPicPr>
            <a:picLocks noChangeAspect="1"/>
          </p:cNvPicPr>
          <p:nvPr/>
        </p:nvPicPr>
        <p:blipFill>
          <a:blip r:embed="rId5"/>
          <a:stretch>
            <a:fillRect/>
          </a:stretch>
        </p:blipFill>
        <p:spPr>
          <a:xfrm>
            <a:off x="8727503" y="4224528"/>
            <a:ext cx="274320" cy="274320"/>
          </a:xfrm>
          <a:prstGeom prst="rect">
            <a:avLst/>
          </a:prstGeom>
        </p:spPr>
      </p:pic>
      <p:sp>
        <p:nvSpPr>
          <p:cNvPr id="39" name="Text 31"/>
          <p:cNvSpPr txBox="1"/>
          <p:nvPr/>
        </p:nvSpPr>
        <p:spPr>
          <a:xfrm>
            <a:off x="9111551" y="4187952"/>
            <a:ext cx="2428177" cy="329184"/>
          </a:xfrm>
          <a:prstGeom prst="rect">
            <a:avLst/>
          </a:prstGeom>
          <a:noFill/>
          <a:ln/>
        </p:spPr>
        <p:txBody>
          <a:bodyPr wrap="square" lIns="0" tIns="0" rIns="0" bIns="0" rtlCol="0" anchor="ctr"/>
          <a:lstStyle/>
          <a:p>
            <a:pPr indent="0" marL="0">
              <a:buNone/>
            </a:pPr>
            <a:r>
              <a:rPr lang="en-US" sz="1400" b="1" dirty="0">
                <a:solidFill>
                  <a:srgbClr val="E9EDF5"/>
                </a:solidFill>
                <a:latin typeface="Calibri" pitchFamily="34" charset="0"/>
                <a:ea typeface="Calibri" pitchFamily="34" charset="-122"/>
                <a:cs typeface="Calibri" pitchFamily="34" charset="-120"/>
              </a:rPr>
              <a:t>Edge thickness</a:t>
            </a:r>
            <a:endParaRPr lang="en-US" sz="1400" dirty="0"/>
          </a:p>
        </p:txBody>
      </p:sp>
      <p:sp>
        <p:nvSpPr>
          <p:cNvPr id="40" name="Text 32"/>
          <p:cNvSpPr txBox="1"/>
          <p:nvPr/>
        </p:nvSpPr>
        <p:spPr>
          <a:xfrm>
            <a:off x="8727503" y="4572000"/>
            <a:ext cx="2793937" cy="45720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0.5–4.0 px, scaled to trail</a:t>
            </a:r>
            <a:endParaRPr lang="en-US" sz="1200" dirty="0"/>
          </a:p>
        </p:txBody>
      </p:sp>
      <p:sp>
        <p:nvSpPr>
          <p:cNvPr id="41" name="Text 33"/>
          <p:cNvSpPr txBox="1"/>
          <p:nvPr/>
        </p:nvSpPr>
        <p:spPr>
          <a:xfrm>
            <a:off x="8544623" y="5303520"/>
            <a:ext cx="3113977" cy="594360"/>
          </a:xfrm>
          <a:prstGeom prst="rect">
            <a:avLst/>
          </a:prstGeom>
          <a:noFill/>
          <a:ln/>
        </p:spPr>
        <p:txBody>
          <a:bodyPr wrap="square" lIns="0" tIns="0" rIns="0" bIns="0" rtlCol="0" anchor="t"/>
          <a:lstStyle/>
          <a:p>
            <a:pPr indent="0" marL="0">
              <a:buNone/>
            </a:pPr>
            <a:r>
              <a:rPr lang="en-US" sz="1100" dirty="0">
                <a:solidFill>
                  <a:srgbClr val="8A96AD"/>
                </a:solidFill>
                <a:latin typeface="Calibri" pitchFamily="34" charset="0"/>
                <a:ea typeface="Calibri" pitchFamily="34" charset="-122"/>
                <a:cs typeface="Calibri" pitchFamily="34" charset="-120"/>
              </a:rPr>
              <a:t>Grid: parameter bar · map (15/20 cols) + sidebar (5/20) · full-width chart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03 · REAL-TIME GUI APPLICATION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Threading Model</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The worker owns the matrices; the UI only ever sees complete snapshots.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Real-Time GUI Application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13 / 23</a:t>
            </a:r>
            <a:endParaRPr lang="en-US" sz="900" dirty="0"/>
          </a:p>
        </p:txBody>
      </p:sp>
      <p:sp>
        <p:nvSpPr>
          <p:cNvPr id="11" name="Shape 7"/>
          <p:cNvSpPr/>
          <p:nvPr/>
        </p:nvSpPr>
        <p:spPr>
          <a:xfrm>
            <a:off x="548640" y="1783080"/>
            <a:ext cx="2926080" cy="1325880"/>
          </a:xfrm>
          <a:prstGeom prst="roundRect">
            <a:avLst>
              <a:gd name="adj" fmla="val 5517"/>
            </a:avLst>
          </a:prstGeom>
          <a:solidFill>
            <a:srgbClr val="182033"/>
          </a:solidFill>
          <a:ln w="9525">
            <a:solidFill>
              <a:srgbClr val="2A3550"/>
            </a:solidFill>
            <a:prstDash val="solid"/>
          </a:ln>
        </p:spPr>
      </p:sp>
      <p:sp>
        <p:nvSpPr>
          <p:cNvPr id="12" name="Text 8"/>
          <p:cNvSpPr txBox="1"/>
          <p:nvPr/>
        </p:nvSpPr>
        <p:spPr>
          <a:xfrm>
            <a:off x="731520" y="1920240"/>
            <a:ext cx="2560320" cy="329184"/>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Main (UI) thread</a:t>
            </a:r>
            <a:endParaRPr lang="en-US" sz="1450" dirty="0"/>
          </a:p>
        </p:txBody>
      </p:sp>
      <p:sp>
        <p:nvSpPr>
          <p:cNvPr id="13" name="Text 9"/>
          <p:cNvSpPr txBox="1"/>
          <p:nvPr/>
        </p:nvSpPr>
        <p:spPr>
          <a:xfrm>
            <a:off x="731520" y="2286000"/>
            <a:ext cx="2560320" cy="73152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map canvas, chart and sidebar (polling)</a:t>
            </a:r>
            <a:endParaRPr lang="en-US" sz="1200" dirty="0"/>
          </a:p>
        </p:txBody>
      </p:sp>
      <p:sp>
        <p:nvSpPr>
          <p:cNvPr id="14" name="Shape 10"/>
          <p:cNvSpPr/>
          <p:nvPr/>
        </p:nvSpPr>
        <p:spPr>
          <a:xfrm>
            <a:off x="5074920" y="1783080"/>
            <a:ext cx="3108960" cy="1325880"/>
          </a:xfrm>
          <a:prstGeom prst="roundRect">
            <a:avLst>
              <a:gd name="adj" fmla="val 5517"/>
            </a:avLst>
          </a:prstGeom>
          <a:solidFill>
            <a:srgbClr val="231C12"/>
          </a:solidFill>
          <a:ln w="9525">
            <a:solidFill>
              <a:srgbClr val="6B4E22"/>
            </a:solidFill>
            <a:prstDash val="solid"/>
          </a:ln>
        </p:spPr>
      </p:sp>
      <p:sp>
        <p:nvSpPr>
          <p:cNvPr id="15" name="Text 11"/>
          <p:cNvSpPr txBox="1"/>
          <p:nvPr/>
        </p:nvSpPr>
        <p:spPr>
          <a:xfrm>
            <a:off x="5257800" y="1920240"/>
            <a:ext cx="2743200" cy="329184"/>
          </a:xfrm>
          <a:prstGeom prst="rect">
            <a:avLst/>
          </a:prstGeom>
          <a:noFill/>
          <a:ln/>
        </p:spPr>
        <p:txBody>
          <a:bodyPr wrap="square" lIns="0" tIns="0" rIns="0" bIns="0" rtlCol="0" anchor="ctr"/>
          <a:lstStyle/>
          <a:p>
            <a:pPr indent="0" marL="0">
              <a:buNone/>
            </a:pPr>
            <a:r>
              <a:rPr lang="en-US" sz="1450" b="1" dirty="0">
                <a:solidFill>
                  <a:srgbClr val="F39C34"/>
                </a:solidFill>
                <a:latin typeface="Calibri" pitchFamily="34" charset="0"/>
                <a:ea typeface="Calibri" pitchFamily="34" charset="-122"/>
                <a:cs typeface="Calibri" pitchFamily="34" charset="-120"/>
              </a:rPr>
              <a:t>Worker thread</a:t>
            </a:r>
            <a:endParaRPr lang="en-US" sz="1450" dirty="0"/>
          </a:p>
        </p:txBody>
      </p:sp>
      <p:sp>
        <p:nvSpPr>
          <p:cNvPr id="16" name="Text 12"/>
          <p:cNvSpPr txBox="1"/>
          <p:nvPr/>
        </p:nvSpPr>
        <p:spPr>
          <a:xfrm>
            <a:off x="5257800" y="2304288"/>
            <a:ext cx="2743200" cy="292608"/>
          </a:xfrm>
          <a:prstGeom prst="rect">
            <a:avLst/>
          </a:prstGeom>
          <a:noFill/>
          <a:ln/>
        </p:spPr>
        <p:txBody>
          <a:bodyPr wrap="square" lIns="0" tIns="0" rIns="0" bIns="0" rtlCol="0" anchor="ctr"/>
          <a:lstStyle/>
          <a:p>
            <a:pPr indent="0" marL="0">
              <a:buNone/>
            </a:pPr>
            <a:r>
              <a:rPr lang="en-US" sz="1250" dirty="0">
                <a:solidFill>
                  <a:srgbClr val="F2D08A"/>
                </a:solidFill>
                <a:latin typeface="Consolas" pitchFamily="34" charset="0"/>
                <a:ea typeface="Consolas" pitchFamily="34" charset="-122"/>
                <a:cs typeface="Consolas" pitchFamily="34" charset="-120"/>
              </a:rPr>
              <a:t>Model::runACO()</a:t>
            </a:r>
            <a:endParaRPr lang="en-US" sz="1250" dirty="0"/>
          </a:p>
        </p:txBody>
      </p:sp>
      <p:sp>
        <p:nvSpPr>
          <p:cNvPr id="17" name="Shape 13"/>
          <p:cNvSpPr/>
          <p:nvPr/>
        </p:nvSpPr>
        <p:spPr>
          <a:xfrm>
            <a:off x="3520440" y="2103120"/>
            <a:ext cx="1508760" cy="91"/>
          </a:xfrm>
          <a:prstGeom prst="line">
            <a:avLst/>
          </a:prstGeom>
          <a:noFill/>
          <a:ln w="19050">
            <a:solidFill>
              <a:srgbClr val="E9EDF5"/>
            </a:solidFill>
            <a:prstDash val="solid"/>
            <a:tailEnd type="triangle"/>
          </a:ln>
        </p:spPr>
      </p:sp>
      <p:sp>
        <p:nvSpPr>
          <p:cNvPr id="18" name="Text 14"/>
          <p:cNvSpPr txBox="1"/>
          <p:nvPr/>
        </p:nvSpPr>
        <p:spPr>
          <a:xfrm>
            <a:off x="3474720" y="1783080"/>
            <a:ext cx="1645920" cy="256032"/>
          </a:xfrm>
          <a:prstGeom prst="rect">
            <a:avLst/>
          </a:prstGeom>
          <a:noFill/>
          <a:ln/>
        </p:spPr>
        <p:txBody>
          <a:bodyPr wrap="square" lIns="0" tIns="0" rIns="0" bIns="0" rtlCol="0" anchor="ctr"/>
          <a:lstStyle/>
          <a:p>
            <a:pPr algn="ctr" indent="0" marL="0">
              <a:buNone/>
            </a:pPr>
            <a:r>
              <a:rPr lang="en-US" sz="1050" dirty="0">
                <a:solidFill>
                  <a:srgbClr val="C3CCDC"/>
                </a:solidFill>
                <a:latin typeface="Calibri" pitchFamily="34" charset="0"/>
                <a:ea typeface="Calibri" pitchFamily="34" charset="-122"/>
                <a:cs typeface="Calibri" pitchFamily="34" charset="-120"/>
              </a:rPr>
              <a:t>Start: </a:t>
            </a:r>
            <a:pPr algn="ctr" indent="0" marL="0">
              <a:buNone/>
            </a:pPr>
            <a:r>
              <a:rPr lang="en-US" sz="1050" dirty="0">
                <a:solidFill>
                  <a:srgbClr val="F2D08A"/>
                </a:solidFill>
                <a:latin typeface="Consolas" pitchFamily="34" charset="0"/>
                <a:ea typeface="Consolas" pitchFamily="34" charset="-122"/>
                <a:cs typeface="Consolas" pitchFamily="34" charset="-120"/>
              </a:rPr>
              <a:t>findPath()</a:t>
            </a:r>
            <a:endParaRPr lang="en-US" sz="1050" dirty="0"/>
          </a:p>
        </p:txBody>
      </p:sp>
      <p:sp>
        <p:nvSpPr>
          <p:cNvPr id="19" name="Shape 15"/>
          <p:cNvSpPr/>
          <p:nvPr/>
        </p:nvSpPr>
        <p:spPr>
          <a:xfrm flipH="1">
            <a:off x="3520440" y="2788920"/>
            <a:ext cx="1508760" cy="91"/>
          </a:xfrm>
          <a:prstGeom prst="line">
            <a:avLst/>
          </a:prstGeom>
          <a:noFill/>
          <a:ln w="15875">
            <a:solidFill>
              <a:srgbClr val="8A96AD"/>
            </a:solidFill>
            <a:prstDash val="dash"/>
            <a:tailEnd type="triangle"/>
          </a:ln>
        </p:spPr>
      </p:sp>
      <p:sp>
        <p:nvSpPr>
          <p:cNvPr id="20" name="Text 16"/>
          <p:cNvSpPr txBox="1"/>
          <p:nvPr/>
        </p:nvSpPr>
        <p:spPr>
          <a:xfrm>
            <a:off x="3429000" y="2852928"/>
            <a:ext cx="1600200" cy="457200"/>
          </a:xfrm>
          <a:prstGeom prst="rect">
            <a:avLst/>
          </a:prstGeom>
          <a:noFill/>
          <a:ln/>
        </p:spPr>
        <p:txBody>
          <a:bodyPr wrap="square" lIns="0" tIns="0" rIns="0" bIns="0" rtlCol="0" anchor="t"/>
          <a:lstStyle/>
          <a:p>
            <a:pPr algn="ctr" indent="0" marL="0">
              <a:buNone/>
            </a:pPr>
            <a:r>
              <a:rPr lang="en-US" sz="850" dirty="0">
                <a:solidFill>
                  <a:srgbClr val="8A96AD"/>
                </a:solidFill>
                <a:latin typeface="Consolas" pitchFamily="34" charset="0"/>
                <a:ea typeface="Consolas" pitchFamily="34" charset="-122"/>
                <a:cs typeface="Consolas" pitchFamily="34" charset="-120"/>
              </a:rPr>
              <a:t>asyncExecInMainThread</a:t>
            </a:r>
            <a:endParaRPr lang="en-US" sz="850" dirty="0"/>
          </a:p>
          <a:p>
            <a:pPr algn="ctr" indent="0" marL="0">
              <a:buNone/>
            </a:pPr>
            <a:r>
              <a:rPr lang="en-US" sz="850" dirty="0">
                <a:solidFill>
                  <a:srgbClr val="8A96AD"/>
                </a:solidFill>
                <a:latin typeface="Consolas" pitchFamily="34" charset="0"/>
                <a:ea typeface="Consolas" pitchFamily="34" charset="-122"/>
                <a:cs typeface="Consolas" pitchFamily="34" charset="-120"/>
              </a:rPr>
              <a:t>→ threadCompleted()</a:t>
            </a:r>
            <a:endParaRPr lang="en-US" sz="850" dirty="0"/>
          </a:p>
        </p:txBody>
      </p:sp>
      <p:sp>
        <p:nvSpPr>
          <p:cNvPr id="21" name="Shape 17"/>
          <p:cNvSpPr/>
          <p:nvPr/>
        </p:nvSpPr>
        <p:spPr>
          <a:xfrm>
            <a:off x="5897880" y="3794760"/>
            <a:ext cx="2286000" cy="1097280"/>
          </a:xfrm>
          <a:prstGeom prst="roundRect">
            <a:avLst>
              <a:gd name="adj" fmla="val 6667"/>
            </a:avLst>
          </a:prstGeom>
          <a:solidFill>
            <a:srgbClr val="182033"/>
          </a:solidFill>
          <a:ln w="9525">
            <a:solidFill>
              <a:srgbClr val="2F5A48"/>
            </a:solidFill>
            <a:prstDash val="solid"/>
          </a:ln>
        </p:spPr>
      </p:sp>
      <p:sp>
        <p:nvSpPr>
          <p:cNvPr id="22" name="Text 18"/>
          <p:cNvSpPr txBox="1"/>
          <p:nvPr/>
        </p:nvSpPr>
        <p:spPr>
          <a:xfrm>
            <a:off x="6080760" y="3931920"/>
            <a:ext cx="1920240" cy="329184"/>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Worker-owned</a:t>
            </a:r>
            <a:endParaRPr lang="en-US" sz="1450" dirty="0"/>
          </a:p>
        </p:txBody>
      </p:sp>
      <p:sp>
        <p:nvSpPr>
          <p:cNvPr id="23" name="Text 19"/>
          <p:cNvSpPr txBox="1"/>
          <p:nvPr/>
        </p:nvSpPr>
        <p:spPr>
          <a:xfrm>
            <a:off x="6080760" y="4297680"/>
            <a:ext cx="2011680" cy="365760"/>
          </a:xfrm>
          <a:prstGeom prst="rect">
            <a:avLst/>
          </a:prstGeom>
          <a:noFill/>
          <a:ln/>
        </p:spPr>
        <p:txBody>
          <a:bodyPr wrap="square" lIns="0" tIns="0" rIns="0" bIns="0" rtlCol="0" anchor="ctr"/>
          <a:lstStyle/>
          <a:p>
            <a:pPr indent="0" marL="0">
              <a:buNone/>
            </a:pPr>
            <a:r>
              <a:rPr lang="en-US" sz="1300" dirty="0">
                <a:solidFill>
                  <a:srgbClr val="C3CCDC"/>
                </a:solidFill>
                <a:latin typeface="Calibri" pitchFamily="34" charset="0"/>
                <a:ea typeface="Calibri" pitchFamily="34" charset="-122"/>
                <a:cs typeface="Calibri" pitchFamily="34" charset="-120"/>
              </a:rPr>
              <a:t>no lock: </a:t>
            </a:r>
            <a:pPr indent="0" marL="0">
              <a:buNone/>
            </a:pPr>
            <a:r>
              <a:rPr lang="en-US" sz="1300" b="1" dirty="0">
                <a:solidFill>
                  <a:srgbClr val="4CC38A"/>
                </a:solidFill>
                <a:latin typeface="Calibri" pitchFamily="34" charset="0"/>
                <a:ea typeface="Calibri" pitchFamily="34" charset="-122"/>
                <a:cs typeface="Calibri" pitchFamily="34" charset="-120"/>
              </a:rPr>
              <a:t>τ, Δτ</a:t>
            </a:r>
            <a:endParaRPr lang="en-US" sz="1300" dirty="0"/>
          </a:p>
        </p:txBody>
      </p:sp>
      <p:sp>
        <p:nvSpPr>
          <p:cNvPr id="24" name="Shape 20"/>
          <p:cNvSpPr/>
          <p:nvPr/>
        </p:nvSpPr>
        <p:spPr>
          <a:xfrm>
            <a:off x="7040880" y="3154680"/>
            <a:ext cx="91" cy="594360"/>
          </a:xfrm>
          <a:prstGeom prst="line">
            <a:avLst/>
          </a:prstGeom>
          <a:noFill/>
          <a:ln w="15875">
            <a:solidFill>
              <a:srgbClr val="4CC38A"/>
            </a:solidFill>
            <a:prstDash val="solid"/>
            <a:tailEnd type="triangle"/>
          </a:ln>
        </p:spPr>
      </p:sp>
      <p:sp>
        <p:nvSpPr>
          <p:cNvPr id="25" name="Text 21"/>
          <p:cNvSpPr txBox="1"/>
          <p:nvPr/>
        </p:nvSpPr>
        <p:spPr>
          <a:xfrm>
            <a:off x="7132320" y="3319272"/>
            <a:ext cx="914400" cy="228600"/>
          </a:xfrm>
          <a:prstGeom prst="rect">
            <a:avLst/>
          </a:prstGeom>
          <a:noFill/>
          <a:ln/>
        </p:spPr>
        <p:txBody>
          <a:bodyPr wrap="square" lIns="0" tIns="0" rIns="0" bIns="0" rtlCol="0" anchor="ctr"/>
          <a:lstStyle/>
          <a:p>
            <a:pPr indent="0" marL="0">
              <a:buNone/>
            </a:pPr>
            <a:r>
              <a:rPr lang="en-US" sz="950" dirty="0">
                <a:solidFill>
                  <a:srgbClr val="4CC38A"/>
                </a:solidFill>
                <a:latin typeface="Calibri" pitchFamily="34" charset="0"/>
                <a:ea typeface="Calibri" pitchFamily="34" charset="-122"/>
                <a:cs typeface="Calibri" pitchFamily="34" charset="-120"/>
              </a:rPr>
              <a:t>updates</a:t>
            </a:r>
            <a:endParaRPr lang="en-US" sz="950" dirty="0"/>
          </a:p>
        </p:txBody>
      </p:sp>
      <p:sp>
        <p:nvSpPr>
          <p:cNvPr id="26" name="Shape 22"/>
          <p:cNvSpPr/>
          <p:nvPr/>
        </p:nvSpPr>
        <p:spPr>
          <a:xfrm>
            <a:off x="1737360" y="5074920"/>
            <a:ext cx="3886200" cy="1143000"/>
          </a:xfrm>
          <a:prstGeom prst="roundRect">
            <a:avLst>
              <a:gd name="adj" fmla="val 6400"/>
            </a:avLst>
          </a:prstGeom>
          <a:solidFill>
            <a:srgbClr val="141B2B"/>
          </a:solidFill>
          <a:ln w="9525">
            <a:solidFill>
              <a:srgbClr val="F39C34"/>
            </a:solidFill>
            <a:prstDash val="dash"/>
          </a:ln>
        </p:spPr>
      </p:sp>
      <p:sp>
        <p:nvSpPr>
          <p:cNvPr id="27" name="Text 23"/>
          <p:cNvSpPr txBox="1"/>
          <p:nvPr/>
        </p:nvSpPr>
        <p:spPr>
          <a:xfrm>
            <a:off x="1920240" y="5193792"/>
            <a:ext cx="3566160" cy="310896"/>
          </a:xfrm>
          <a:prstGeom prst="rect">
            <a:avLst/>
          </a:prstGeom>
          <a:noFill/>
          <a:ln/>
        </p:spPr>
        <p:txBody>
          <a:bodyPr wrap="square" lIns="0" tIns="0" rIns="0" bIns="0" rtlCol="0" anchor="ctr"/>
          <a:lstStyle/>
          <a:p>
            <a:pPr indent="0" marL="0">
              <a:buNone/>
            </a:pPr>
            <a:r>
              <a:rPr lang="en-US" sz="1450" b="1" dirty="0">
                <a:solidFill>
                  <a:srgbClr val="E9EDF5"/>
                </a:solidFill>
                <a:latin typeface="Calibri" pitchFamily="34" charset="0"/>
                <a:ea typeface="Calibri" pitchFamily="34" charset="-122"/>
                <a:cs typeface="Calibri" pitchFamily="34" charset="-120"/>
              </a:rPr>
              <a:t>Shared state </a:t>
            </a:r>
            <a:pPr indent="0" marL="0">
              <a:buNone/>
            </a:pPr>
            <a:r>
              <a:rPr lang="en-US" sz="1450" dirty="0">
                <a:solidFill>
                  <a:srgbClr val="F39C34"/>
                </a:solidFill>
                <a:latin typeface="Consolas" pitchFamily="34" charset="0"/>
                <a:ea typeface="Consolas" pitchFamily="34" charset="-122"/>
                <a:cs typeface="Consolas" pitchFamily="34" charset="-120"/>
              </a:rPr>
              <a:t>(mutex)</a:t>
            </a:r>
            <a:endParaRPr lang="en-US" sz="1450" dirty="0"/>
          </a:p>
        </p:txBody>
      </p:sp>
      <p:sp>
        <p:nvSpPr>
          <p:cNvPr id="28" name="Text 24"/>
          <p:cNvSpPr txBox="1"/>
          <p:nvPr/>
        </p:nvSpPr>
        <p:spPr>
          <a:xfrm>
            <a:off x="1920240" y="5559552"/>
            <a:ext cx="3611880" cy="502920"/>
          </a:xfrm>
          <a:prstGeom prst="rect">
            <a:avLst/>
          </a:prstGeom>
          <a:noFill/>
          <a:ln/>
        </p:spPr>
        <p:txBody>
          <a:bodyPr wrap="square" lIns="0" tIns="0" rIns="0" bIns="0" rtlCol="0" anchor="t"/>
          <a:lstStyle/>
          <a:p>
            <a:pPr indent="0" marL="0">
              <a:buNone/>
            </a:pPr>
            <a:r>
              <a:rPr lang="en-US" sz="1200" dirty="0">
                <a:solidFill>
                  <a:srgbClr val="C3CCDC"/>
                </a:solidFill>
                <a:latin typeface="Calibri" pitchFamily="34" charset="0"/>
                <a:ea typeface="Calibri" pitchFamily="34" charset="-122"/>
                <a:cs typeface="Calibri" pitchFamily="34" charset="-120"/>
              </a:rPr>
              <a:t>best tour/length, 3 series, τ snapshot</a:t>
            </a:r>
            <a:endParaRPr lang="en-US" sz="1200" dirty="0"/>
          </a:p>
        </p:txBody>
      </p:sp>
      <p:sp>
        <p:nvSpPr>
          <p:cNvPr id="29" name="Shape 25"/>
          <p:cNvSpPr/>
          <p:nvPr/>
        </p:nvSpPr>
        <p:spPr>
          <a:xfrm>
            <a:off x="5349240" y="3154680"/>
            <a:ext cx="91" cy="1874520"/>
          </a:xfrm>
          <a:prstGeom prst="line">
            <a:avLst/>
          </a:prstGeom>
          <a:noFill/>
          <a:ln w="15875">
            <a:solidFill>
              <a:srgbClr val="F39C34"/>
            </a:solidFill>
            <a:prstDash val="solid"/>
            <a:tailEnd type="triangle"/>
          </a:ln>
        </p:spPr>
      </p:sp>
      <p:sp>
        <p:nvSpPr>
          <p:cNvPr id="30" name="Text 26"/>
          <p:cNvSpPr txBox="1"/>
          <p:nvPr/>
        </p:nvSpPr>
        <p:spPr>
          <a:xfrm>
            <a:off x="3977640" y="3840480"/>
            <a:ext cx="1298448" cy="457200"/>
          </a:xfrm>
          <a:prstGeom prst="rect">
            <a:avLst/>
          </a:prstGeom>
          <a:noFill/>
          <a:ln/>
        </p:spPr>
        <p:txBody>
          <a:bodyPr wrap="square" lIns="0" tIns="0" rIns="0" bIns="0" rtlCol="0" anchor="ctr"/>
          <a:lstStyle/>
          <a:p>
            <a:pPr algn="r" indent="0" marL="0">
              <a:buNone/>
            </a:pPr>
            <a:r>
              <a:rPr lang="en-US" sz="950" dirty="0">
                <a:solidFill>
                  <a:srgbClr val="F39C34"/>
                </a:solidFill>
                <a:latin typeface="Calibri" pitchFamily="34" charset="0"/>
                <a:ea typeface="Calibri" pitchFamily="34" charset="-122"/>
                <a:cs typeface="Calibri" pitchFamily="34" charset="-120"/>
              </a:rPr>
              <a:t>publishes after each iteration</a:t>
            </a:r>
            <a:endParaRPr lang="en-US" sz="950" dirty="0"/>
          </a:p>
        </p:txBody>
      </p:sp>
      <p:sp>
        <p:nvSpPr>
          <p:cNvPr id="31" name="Shape 27"/>
          <p:cNvSpPr/>
          <p:nvPr/>
        </p:nvSpPr>
        <p:spPr>
          <a:xfrm flipV="1">
            <a:off x="2194560" y="3154680"/>
            <a:ext cx="91" cy="1874520"/>
          </a:xfrm>
          <a:prstGeom prst="line">
            <a:avLst/>
          </a:prstGeom>
          <a:noFill/>
          <a:ln w="15875">
            <a:solidFill>
              <a:srgbClr val="7FA7E8"/>
            </a:solidFill>
            <a:prstDash val="solid"/>
            <a:tailEnd type="triangle"/>
          </a:ln>
        </p:spPr>
      </p:sp>
      <p:sp>
        <p:nvSpPr>
          <p:cNvPr id="32" name="Text 28"/>
          <p:cNvSpPr txBox="1"/>
          <p:nvPr/>
        </p:nvSpPr>
        <p:spPr>
          <a:xfrm>
            <a:off x="2286000" y="3840480"/>
            <a:ext cx="1280160" cy="457200"/>
          </a:xfrm>
          <a:prstGeom prst="rect">
            <a:avLst/>
          </a:prstGeom>
          <a:noFill/>
          <a:ln/>
        </p:spPr>
        <p:txBody>
          <a:bodyPr wrap="square" lIns="0" tIns="0" rIns="0" bIns="0" rtlCol="0" anchor="ctr"/>
          <a:lstStyle/>
          <a:p>
            <a:pPr indent="0" marL="0">
              <a:buNone/>
            </a:pPr>
            <a:r>
              <a:rPr lang="en-US" sz="950" dirty="0">
                <a:solidFill>
                  <a:srgbClr val="7FA7E8"/>
                </a:solidFill>
                <a:latin typeface="Calibri" pitchFamily="34" charset="0"/>
                <a:ea typeface="Calibri" pitchFamily="34" charset="-122"/>
                <a:cs typeface="Calibri" pitchFamily="34" charset="-120"/>
              </a:rPr>
              <a:t>polled once per frame</a:t>
            </a:r>
            <a:endParaRPr lang="en-US" sz="950" dirty="0"/>
          </a:p>
        </p:txBody>
      </p:sp>
      <p:sp>
        <p:nvSpPr>
          <p:cNvPr id="33" name="Text 29"/>
          <p:cNvSpPr txBox="1"/>
          <p:nvPr/>
        </p:nvSpPr>
        <p:spPr>
          <a:xfrm>
            <a:off x="8641080" y="1783080"/>
            <a:ext cx="1828800" cy="228600"/>
          </a:xfrm>
          <a:prstGeom prst="rect">
            <a:avLst/>
          </a:prstGeom>
          <a:noFill/>
          <a:ln/>
        </p:spPr>
        <p:txBody>
          <a:bodyPr wrap="square" lIns="0" tIns="0" rIns="0" bIns="0" rtlCol="0" anchor="t"/>
          <a:lstStyle/>
          <a:p>
            <a:pPr indent="0" marL="0">
              <a:buNone/>
            </a:pPr>
            <a:r>
              <a:rPr lang="en-US" sz="1000" b="1" spc="250" kern="0" dirty="0">
                <a:solidFill>
                  <a:srgbClr val="8A96AD"/>
                </a:solidFill>
                <a:latin typeface="Calibri" pitchFamily="34" charset="0"/>
                <a:ea typeface="Calibri" pitchFamily="34" charset="-122"/>
                <a:cs typeface="Calibri" pitchFamily="34" charset="-120"/>
              </a:rPr>
              <a:t>LEGEND</a:t>
            </a:r>
            <a:endParaRPr lang="en-US" sz="1000" dirty="0"/>
          </a:p>
        </p:txBody>
      </p:sp>
      <p:sp>
        <p:nvSpPr>
          <p:cNvPr id="34" name="Shape 30"/>
          <p:cNvSpPr/>
          <p:nvPr/>
        </p:nvSpPr>
        <p:spPr>
          <a:xfrm>
            <a:off x="8641080" y="2103120"/>
            <a:ext cx="3017520" cy="914400"/>
          </a:xfrm>
          <a:prstGeom prst="roundRect">
            <a:avLst>
              <a:gd name="adj" fmla="val 8000"/>
            </a:avLst>
          </a:prstGeom>
          <a:solidFill>
            <a:srgbClr val="182033"/>
          </a:solidFill>
          <a:ln w="9525">
            <a:solidFill>
              <a:srgbClr val="2A3550"/>
            </a:solidFill>
            <a:prstDash val="solid"/>
          </a:ln>
        </p:spPr>
      </p:sp>
      <p:pic>
        <p:nvPicPr>
          <p:cNvPr id="35" name="Image 1" descr="preencoded.png">    </p:cNvPr>
          <p:cNvPicPr>
            <a:picLocks noChangeAspect="1"/>
          </p:cNvPicPr>
          <p:nvPr/>
        </p:nvPicPr>
        <p:blipFill>
          <a:blip r:embed="rId2"/>
          <a:stretch>
            <a:fillRect/>
          </a:stretch>
        </p:blipFill>
        <p:spPr>
          <a:xfrm>
            <a:off x="8823960" y="2267712"/>
            <a:ext cx="256032" cy="256032"/>
          </a:xfrm>
          <a:prstGeom prst="rect">
            <a:avLst/>
          </a:prstGeom>
        </p:spPr>
      </p:pic>
      <p:sp>
        <p:nvSpPr>
          <p:cNvPr id="36" name="Text 31"/>
          <p:cNvSpPr txBox="1"/>
          <p:nvPr/>
        </p:nvSpPr>
        <p:spPr>
          <a:xfrm>
            <a:off x="9217152" y="2194560"/>
            <a:ext cx="2331720" cy="731520"/>
          </a:xfrm>
          <a:prstGeom prst="rect">
            <a:avLst/>
          </a:prstGeom>
          <a:noFill/>
          <a:ln/>
        </p:spPr>
        <p:txBody>
          <a:bodyPr wrap="square" lIns="0" tIns="0" rIns="0" bIns="0" rtlCol="0" anchor="ctr"/>
          <a:lstStyle/>
          <a:p>
            <a:pPr indent="0" marL="0">
              <a:buNone/>
            </a:pPr>
            <a:r>
              <a:rPr lang="en-US" sz="1200" dirty="0">
                <a:solidFill>
                  <a:srgbClr val="F2D08A"/>
                </a:solidFill>
                <a:latin typeface="Consolas" pitchFamily="34" charset="0"/>
                <a:ea typeface="Consolas" pitchFamily="34" charset="-122"/>
                <a:cs typeface="Consolas" pitchFamily="34" charset="-120"/>
              </a:rPr>
              <a:t>std::atomic</a:t>
            </a:r>
            <a:pPr indent="0" marL="0">
              <a:buNone/>
            </a:pPr>
            <a:r>
              <a:rPr lang="en-US" sz="1200" dirty="0">
                <a:solidFill>
                  <a:srgbClr val="E9EDF5"/>
                </a:solidFill>
                <a:latin typeface="Calibri" pitchFamily="34" charset="0"/>
                <a:ea typeface="Calibri" pitchFamily="34" charset="-122"/>
                <a:cs typeface="Calibri" pitchFamily="34" charset="-120"/>
              </a:rPr>
              <a:t> flags &amp; counters</a:t>
            </a:r>
            <a:endParaRPr lang="en-US" sz="1200" dirty="0"/>
          </a:p>
        </p:txBody>
      </p:sp>
      <p:sp>
        <p:nvSpPr>
          <p:cNvPr id="37" name="Shape 32"/>
          <p:cNvSpPr/>
          <p:nvPr/>
        </p:nvSpPr>
        <p:spPr>
          <a:xfrm>
            <a:off x="8641080" y="3182112"/>
            <a:ext cx="3017520" cy="914400"/>
          </a:xfrm>
          <a:prstGeom prst="roundRect">
            <a:avLst>
              <a:gd name="adj" fmla="val 8000"/>
            </a:avLst>
          </a:prstGeom>
          <a:solidFill>
            <a:srgbClr val="182033"/>
          </a:solidFill>
          <a:ln w="9525">
            <a:solidFill>
              <a:srgbClr val="2A3550"/>
            </a:solidFill>
            <a:prstDash val="solid"/>
          </a:ln>
        </p:spPr>
      </p:sp>
      <p:pic>
        <p:nvPicPr>
          <p:cNvPr id="38" name="Image 2" descr="preencoded.png">    </p:cNvPr>
          <p:cNvPicPr>
            <a:picLocks noChangeAspect="1"/>
          </p:cNvPicPr>
          <p:nvPr/>
        </p:nvPicPr>
        <p:blipFill>
          <a:blip r:embed="rId3"/>
          <a:stretch>
            <a:fillRect/>
          </a:stretch>
        </p:blipFill>
        <p:spPr>
          <a:xfrm>
            <a:off x="8823960" y="3346704"/>
            <a:ext cx="256032" cy="256032"/>
          </a:xfrm>
          <a:prstGeom prst="rect">
            <a:avLst/>
          </a:prstGeom>
        </p:spPr>
      </p:pic>
      <p:sp>
        <p:nvSpPr>
          <p:cNvPr id="39" name="Text 33"/>
          <p:cNvSpPr txBox="1"/>
          <p:nvPr/>
        </p:nvSpPr>
        <p:spPr>
          <a:xfrm>
            <a:off x="9217152" y="3273552"/>
            <a:ext cx="2331720" cy="731520"/>
          </a:xfrm>
          <a:prstGeom prst="rect">
            <a:avLst/>
          </a:prstGeom>
          <a:noFill/>
          <a:ln/>
        </p:spPr>
        <p:txBody>
          <a:bodyPr wrap="square" lIns="0" tIns="0" rIns="0" bIns="0" rtlCol="0" anchor="ctr"/>
          <a:lstStyle/>
          <a:p>
            <a:pPr indent="0" marL="0">
              <a:buNone/>
            </a:pPr>
            <a:r>
              <a:rPr lang="en-US" sz="1200" dirty="0">
                <a:solidFill>
                  <a:srgbClr val="F2D08A"/>
                </a:solidFill>
                <a:latin typeface="Consolas" pitchFamily="34" charset="0"/>
                <a:ea typeface="Consolas" pitchFamily="34" charset="-122"/>
                <a:cs typeface="Consolas" pitchFamily="34" charset="-120"/>
              </a:rPr>
              <a:t>gui::Shape</a:t>
            </a:r>
            <a:pPr indent="0" marL="0">
              <a:buNone/>
            </a:pPr>
            <a:r>
              <a:rPr lang="en-US" sz="1200" dirty="0">
                <a:solidFill>
                  <a:srgbClr val="E9EDF5"/>
                </a:solidFill>
                <a:latin typeface="Calibri" pitchFamily="34" charset="0"/>
                <a:ea typeface="Calibri" pitchFamily="34" charset="-122"/>
                <a:cs typeface="Calibri" pitchFamily="34" charset="-120"/>
              </a:rPr>
              <a:t> main-thread only (</a:t>
            </a:r>
            <a:pPr indent="0" marL="0">
              <a:buNone/>
            </a:pPr>
            <a:r>
              <a:rPr lang="en-US" sz="1200" dirty="0">
                <a:solidFill>
                  <a:srgbClr val="F2D08A"/>
                </a:solidFill>
                <a:latin typeface="Consolas" pitchFamily="34" charset="0"/>
                <a:ea typeface="Consolas" pitchFamily="34" charset="-122"/>
                <a:cs typeface="Consolas" pitchFamily="34" charset="-120"/>
              </a:rPr>
              <a:t>_tourShapeDirty</a:t>
            </a:r>
            <a:pPr indent="0" marL="0">
              <a:buNone/>
            </a:pPr>
            <a:r>
              <a:rPr lang="en-US" sz="1200" dirty="0">
                <a:solidFill>
                  <a:srgbClr val="E9EDF5"/>
                </a:solidFill>
                <a:latin typeface="Calibri" pitchFamily="34" charset="0"/>
                <a:ea typeface="Calibri" pitchFamily="34" charset="-122"/>
                <a:cs typeface="Calibri" pitchFamily="34" charset="-120"/>
              </a:rPr>
              <a:t>)</a:t>
            </a:r>
            <a:endParaRPr lang="en-US" sz="1200" dirty="0"/>
          </a:p>
        </p:txBody>
      </p:sp>
      <p:sp>
        <p:nvSpPr>
          <p:cNvPr id="40" name="Shape 34"/>
          <p:cNvSpPr/>
          <p:nvPr/>
        </p:nvSpPr>
        <p:spPr>
          <a:xfrm>
            <a:off x="8641080" y="4261104"/>
            <a:ext cx="3017520" cy="914400"/>
          </a:xfrm>
          <a:prstGeom prst="roundRect">
            <a:avLst>
              <a:gd name="adj" fmla="val 8000"/>
            </a:avLst>
          </a:prstGeom>
          <a:solidFill>
            <a:srgbClr val="182033"/>
          </a:solidFill>
          <a:ln w="9525">
            <a:solidFill>
              <a:srgbClr val="2A3550"/>
            </a:solidFill>
            <a:prstDash val="solid"/>
          </a:ln>
        </p:spPr>
      </p:sp>
      <p:pic>
        <p:nvPicPr>
          <p:cNvPr id="41" name="Image 3" descr="preencoded.png">    </p:cNvPr>
          <p:cNvPicPr>
            <a:picLocks noChangeAspect="1"/>
          </p:cNvPicPr>
          <p:nvPr/>
        </p:nvPicPr>
        <p:blipFill>
          <a:blip r:embed="rId4"/>
          <a:stretch>
            <a:fillRect/>
          </a:stretch>
        </p:blipFill>
        <p:spPr>
          <a:xfrm>
            <a:off x="8823960" y="4425696"/>
            <a:ext cx="256032" cy="256032"/>
          </a:xfrm>
          <a:prstGeom prst="rect">
            <a:avLst/>
          </a:prstGeom>
        </p:spPr>
      </p:pic>
      <p:sp>
        <p:nvSpPr>
          <p:cNvPr id="42" name="Text 35"/>
          <p:cNvSpPr txBox="1"/>
          <p:nvPr/>
        </p:nvSpPr>
        <p:spPr>
          <a:xfrm>
            <a:off x="9217152" y="4352544"/>
            <a:ext cx="2331720" cy="731520"/>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Stop = flag, checked per iteration &amp; per ant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03 · REAL-TIME GUI APPLICATION</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Built for Experiments — Parameters, Compare, Export</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Change one parameter, rerun on the same cities, compare with numbers.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Real-Time GUI Application</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14 / 23</a:t>
            </a:r>
            <a:endParaRPr lang="en-US" sz="900" dirty="0"/>
          </a:p>
        </p:txBody>
      </p:sp>
      <p:sp>
        <p:nvSpPr>
          <p:cNvPr id="11" name="Shape 7"/>
          <p:cNvSpPr/>
          <p:nvPr/>
        </p:nvSpPr>
        <p:spPr>
          <a:xfrm>
            <a:off x="502920" y="1600200"/>
            <a:ext cx="5128116" cy="3977640"/>
          </a:xfrm>
          <a:prstGeom prst="roundRect">
            <a:avLst>
              <a:gd name="adj" fmla="val 1149"/>
            </a:avLst>
          </a:prstGeom>
          <a:solidFill>
            <a:srgbClr val="2A3550"/>
          </a:solidFill>
          <a:ln w="6350">
            <a:solidFill>
              <a:srgbClr val="2A3550"/>
            </a:solidFill>
            <a:prstDash val="solid"/>
          </a:ln>
        </p:spPr>
      </p:sp>
      <p:pic>
        <p:nvPicPr>
          <p:cNvPr id="12" name="Image 1" descr="Compare dialog">    </p:cNvPr>
          <p:cNvPicPr>
            <a:picLocks noChangeAspect="1"/>
          </p:cNvPicPr>
          <p:nvPr/>
        </p:nvPicPr>
        <p:blipFill>
          <a:blip r:embed="rId2"/>
          <a:stretch>
            <a:fillRect/>
          </a:stretch>
        </p:blipFill>
        <p:spPr>
          <a:xfrm>
            <a:off x="548640" y="1645920"/>
            <a:ext cx="5036676" cy="3886200"/>
          </a:xfrm>
          <a:prstGeom prst="rect">
            <a:avLst/>
          </a:prstGeom>
        </p:spPr>
      </p:pic>
      <p:sp>
        <p:nvSpPr>
          <p:cNvPr id="13" name="Text 8"/>
          <p:cNvSpPr txBox="1"/>
          <p:nvPr/>
        </p:nvSpPr>
        <p:spPr>
          <a:xfrm>
            <a:off x="548640" y="5623560"/>
            <a:ext cx="5036676" cy="621792"/>
          </a:xfrm>
          <a:prstGeom prst="rect">
            <a:avLst/>
          </a:prstGeom>
          <a:noFill/>
          <a:ln/>
        </p:spPr>
        <p:txBody>
          <a:bodyPr wrap="square" lIns="0" tIns="0" rIns="0" bIns="0" rtlCol="0" anchor="t"/>
          <a:lstStyle/>
          <a:p>
            <a:pPr indent="0" marL="0">
              <a:buNone/>
            </a:pPr>
            <a:r>
              <a:rPr lang="en-US" sz="1050" i="1" dirty="0">
                <a:solidFill>
                  <a:srgbClr val="8A96AD"/>
                </a:solidFill>
                <a:latin typeface="Calibri" pitchFamily="34" charset="0"/>
                <a:ea typeface="Calibri" pitchFamily="34" charset="-122"/>
                <a:cs typeface="Calibri" pitchFamily="34" charset="-120"/>
              </a:rPr>
              <a:t>Same 16 cities, only β differs (5 vs 3): both reach 863.5 km (2.4% below NN); β=5 finds it 2 iterations later, mean iteration best 3.7 km higher.</a:t>
            </a:r>
            <a:endParaRPr lang="en-US" sz="1050" dirty="0"/>
          </a:p>
        </p:txBody>
      </p:sp>
      <p:sp>
        <p:nvSpPr>
          <p:cNvPr id="14" name="Shape 9"/>
          <p:cNvSpPr/>
          <p:nvPr/>
        </p:nvSpPr>
        <p:spPr>
          <a:xfrm>
            <a:off x="5897880" y="1645920"/>
            <a:ext cx="5760720" cy="3063240"/>
          </a:xfrm>
          <a:prstGeom prst="roundRect">
            <a:avLst>
              <a:gd name="adj" fmla="val 1791"/>
            </a:avLst>
          </a:prstGeom>
          <a:solidFill>
            <a:srgbClr val="182033"/>
          </a:solidFill>
          <a:ln w="9525">
            <a:solidFill>
              <a:srgbClr val="2A3550"/>
            </a:solidFill>
            <a:prstDash val="solid"/>
          </a:ln>
        </p:spPr>
      </p:sp>
      <p:sp>
        <p:nvSpPr>
          <p:cNvPr id="15" name="Shape 10"/>
          <p:cNvSpPr/>
          <p:nvPr/>
        </p:nvSpPr>
        <p:spPr>
          <a:xfrm>
            <a:off x="5916168" y="1655064"/>
            <a:ext cx="5724144" cy="338328"/>
          </a:xfrm>
          <a:prstGeom prst="rect">
            <a:avLst/>
          </a:prstGeom>
          <a:solidFill>
            <a:srgbClr val="141B2B"/>
          </a:solidFill>
          <a:ln w="12700">
            <a:solidFill>
              <a:srgbClr val="141B2B"/>
            </a:solidFill>
            <a:prstDash val="solid"/>
          </a:ln>
        </p:spPr>
      </p:sp>
      <p:sp>
        <p:nvSpPr>
          <p:cNvPr id="16" name="Text 11"/>
          <p:cNvSpPr txBox="1"/>
          <p:nvPr/>
        </p:nvSpPr>
        <p:spPr>
          <a:xfrm>
            <a:off x="6035040" y="1655064"/>
            <a:ext cx="141732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Parameter</a:t>
            </a:r>
            <a:endParaRPr lang="en-US" sz="1050" dirty="0"/>
          </a:p>
        </p:txBody>
      </p:sp>
      <p:sp>
        <p:nvSpPr>
          <p:cNvPr id="17" name="Text 12"/>
          <p:cNvSpPr txBox="1"/>
          <p:nvPr/>
        </p:nvSpPr>
        <p:spPr>
          <a:xfrm>
            <a:off x="7635240" y="1655064"/>
            <a:ext cx="77724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Symbol</a:t>
            </a:r>
            <a:endParaRPr lang="en-US" sz="1050" dirty="0"/>
          </a:p>
        </p:txBody>
      </p:sp>
      <p:sp>
        <p:nvSpPr>
          <p:cNvPr id="18" name="Text 13"/>
          <p:cNvSpPr txBox="1"/>
          <p:nvPr/>
        </p:nvSpPr>
        <p:spPr>
          <a:xfrm>
            <a:off x="8595360" y="1655064"/>
            <a:ext cx="128016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Default</a:t>
            </a:r>
            <a:endParaRPr lang="en-US" sz="1050" dirty="0"/>
          </a:p>
        </p:txBody>
      </p:sp>
      <p:sp>
        <p:nvSpPr>
          <p:cNvPr id="19" name="Text 14"/>
          <p:cNvSpPr txBox="1"/>
          <p:nvPr/>
        </p:nvSpPr>
        <p:spPr>
          <a:xfrm>
            <a:off x="10058400" y="1655064"/>
            <a:ext cx="1554480" cy="338328"/>
          </a:xfrm>
          <a:prstGeom prst="rect">
            <a:avLst/>
          </a:prstGeom>
          <a:noFill/>
          <a:ln/>
        </p:spPr>
        <p:txBody>
          <a:bodyPr wrap="square" lIns="0" tIns="0" rIns="0" bIns="0" rtlCol="0" anchor="ctr"/>
          <a:lstStyle/>
          <a:p>
            <a:pPr indent="0" marL="0">
              <a:buNone/>
            </a:pPr>
            <a:r>
              <a:rPr lang="en-US" sz="1050" b="1" dirty="0">
                <a:solidFill>
                  <a:srgbClr val="8A96AD"/>
                </a:solidFill>
                <a:latin typeface="Calibri" pitchFamily="34" charset="0"/>
                <a:ea typeface="Calibri" pitchFamily="34" charset="-122"/>
                <a:cs typeface="Calibri" pitchFamily="34" charset="-120"/>
              </a:rPr>
              <a:t>Range</a:t>
            </a:r>
            <a:endParaRPr lang="en-US" sz="1050" dirty="0"/>
          </a:p>
        </p:txBody>
      </p:sp>
      <p:sp>
        <p:nvSpPr>
          <p:cNvPr id="20" name="Shape 15"/>
          <p:cNvSpPr/>
          <p:nvPr/>
        </p:nvSpPr>
        <p:spPr>
          <a:xfrm>
            <a:off x="5989320" y="1993392"/>
            <a:ext cx="5577840" cy="0"/>
          </a:xfrm>
          <a:prstGeom prst="line">
            <a:avLst/>
          </a:prstGeom>
          <a:noFill/>
          <a:ln w="6350">
            <a:solidFill>
              <a:srgbClr val="2A3550"/>
            </a:solidFill>
            <a:prstDash val="solid"/>
          </a:ln>
        </p:spPr>
      </p:sp>
      <p:sp>
        <p:nvSpPr>
          <p:cNvPr id="21" name="Text 16"/>
          <p:cNvSpPr txBox="1"/>
          <p:nvPr/>
        </p:nvSpPr>
        <p:spPr>
          <a:xfrm>
            <a:off x="6035040" y="1993392"/>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Ants</a:t>
            </a:r>
            <a:endParaRPr lang="en-US" sz="1200" dirty="0"/>
          </a:p>
        </p:txBody>
      </p:sp>
      <p:sp>
        <p:nvSpPr>
          <p:cNvPr id="22" name="Text 17"/>
          <p:cNvSpPr txBox="1"/>
          <p:nvPr/>
        </p:nvSpPr>
        <p:spPr>
          <a:xfrm>
            <a:off x="7635240" y="1993392"/>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m</a:t>
            </a:r>
            <a:endParaRPr lang="en-US" sz="1200" dirty="0"/>
          </a:p>
        </p:txBody>
      </p:sp>
      <p:sp>
        <p:nvSpPr>
          <p:cNvPr id="23" name="Text 18"/>
          <p:cNvSpPr txBox="1"/>
          <p:nvPr/>
        </p:nvSpPr>
        <p:spPr>
          <a:xfrm>
            <a:off x="8595360" y="1993392"/>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20</a:t>
            </a:r>
            <a:endParaRPr lang="en-US" sz="1200" dirty="0"/>
          </a:p>
        </p:txBody>
      </p:sp>
      <p:sp>
        <p:nvSpPr>
          <p:cNvPr id="24" name="Text 19"/>
          <p:cNvSpPr txBox="1"/>
          <p:nvPr/>
        </p:nvSpPr>
        <p:spPr>
          <a:xfrm>
            <a:off x="10058400" y="1993392"/>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1–500</a:t>
            </a:r>
            <a:endParaRPr lang="en-US" sz="1200" dirty="0"/>
          </a:p>
        </p:txBody>
      </p:sp>
      <p:sp>
        <p:nvSpPr>
          <p:cNvPr id="25" name="Shape 20"/>
          <p:cNvSpPr/>
          <p:nvPr/>
        </p:nvSpPr>
        <p:spPr>
          <a:xfrm>
            <a:off x="5989320" y="2331720"/>
            <a:ext cx="5577840" cy="0"/>
          </a:xfrm>
          <a:prstGeom prst="line">
            <a:avLst/>
          </a:prstGeom>
          <a:noFill/>
          <a:ln w="6350">
            <a:solidFill>
              <a:srgbClr val="2A3550"/>
            </a:solidFill>
            <a:prstDash val="solid"/>
          </a:ln>
        </p:spPr>
      </p:sp>
      <p:sp>
        <p:nvSpPr>
          <p:cNvPr id="26" name="Text 21"/>
          <p:cNvSpPr txBox="1"/>
          <p:nvPr/>
        </p:nvSpPr>
        <p:spPr>
          <a:xfrm>
            <a:off x="6035040" y="2331720"/>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Iterations</a:t>
            </a:r>
            <a:endParaRPr lang="en-US" sz="1200" dirty="0"/>
          </a:p>
        </p:txBody>
      </p:sp>
      <p:sp>
        <p:nvSpPr>
          <p:cNvPr id="27" name="Text 22"/>
          <p:cNvSpPr txBox="1"/>
          <p:nvPr/>
        </p:nvSpPr>
        <p:spPr>
          <a:xfrm>
            <a:off x="7635240" y="2331720"/>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N</a:t>
            </a:r>
            <a:pPr indent="0" marL="0">
              <a:buNone/>
            </a:pPr>
            <a:r>
              <a:rPr lang="en-US" sz="1200" i="1" baseline="-40000" dirty="0">
                <a:solidFill>
                  <a:srgbClr val="F39C34"/>
                </a:solidFill>
                <a:latin typeface="Calibri" pitchFamily="34" charset="0"/>
                <a:ea typeface="Calibri" pitchFamily="34" charset="-122"/>
                <a:cs typeface="Calibri" pitchFamily="34" charset="-120"/>
              </a:rPr>
              <a:t>iter</a:t>
            </a:r>
            <a:endParaRPr lang="en-US" sz="1200" dirty="0"/>
          </a:p>
        </p:txBody>
      </p:sp>
      <p:sp>
        <p:nvSpPr>
          <p:cNvPr id="28" name="Text 23"/>
          <p:cNvSpPr txBox="1"/>
          <p:nvPr/>
        </p:nvSpPr>
        <p:spPr>
          <a:xfrm>
            <a:off x="8595360" y="2331720"/>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100</a:t>
            </a:r>
            <a:endParaRPr lang="en-US" sz="1200" dirty="0"/>
          </a:p>
        </p:txBody>
      </p:sp>
      <p:sp>
        <p:nvSpPr>
          <p:cNvPr id="29" name="Text 24"/>
          <p:cNvSpPr txBox="1"/>
          <p:nvPr/>
        </p:nvSpPr>
        <p:spPr>
          <a:xfrm>
            <a:off x="10058400" y="2331720"/>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1–100,000</a:t>
            </a:r>
            <a:endParaRPr lang="en-US" sz="1200" dirty="0"/>
          </a:p>
        </p:txBody>
      </p:sp>
      <p:sp>
        <p:nvSpPr>
          <p:cNvPr id="30" name="Shape 25"/>
          <p:cNvSpPr/>
          <p:nvPr/>
        </p:nvSpPr>
        <p:spPr>
          <a:xfrm>
            <a:off x="5989320" y="2670048"/>
            <a:ext cx="5577840" cy="0"/>
          </a:xfrm>
          <a:prstGeom prst="line">
            <a:avLst/>
          </a:prstGeom>
          <a:noFill/>
          <a:ln w="6350">
            <a:solidFill>
              <a:srgbClr val="2A3550"/>
            </a:solidFill>
            <a:prstDash val="solid"/>
          </a:ln>
        </p:spPr>
      </p:sp>
      <p:sp>
        <p:nvSpPr>
          <p:cNvPr id="31" name="Text 26"/>
          <p:cNvSpPr txBox="1"/>
          <p:nvPr/>
        </p:nvSpPr>
        <p:spPr>
          <a:xfrm>
            <a:off x="6035040" y="2670048"/>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Alpha</a:t>
            </a:r>
            <a:endParaRPr lang="en-US" sz="1200" dirty="0"/>
          </a:p>
        </p:txBody>
      </p:sp>
      <p:sp>
        <p:nvSpPr>
          <p:cNvPr id="32" name="Text 27"/>
          <p:cNvSpPr txBox="1"/>
          <p:nvPr/>
        </p:nvSpPr>
        <p:spPr>
          <a:xfrm>
            <a:off x="7635240" y="2670048"/>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α</a:t>
            </a:r>
            <a:endParaRPr lang="en-US" sz="1200" dirty="0"/>
          </a:p>
        </p:txBody>
      </p:sp>
      <p:sp>
        <p:nvSpPr>
          <p:cNvPr id="33" name="Text 28"/>
          <p:cNvSpPr txBox="1"/>
          <p:nvPr/>
        </p:nvSpPr>
        <p:spPr>
          <a:xfrm>
            <a:off x="8595360" y="2670048"/>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a:t>
            </a:r>
            <a:endParaRPr lang="en-US" sz="1200" dirty="0"/>
          </a:p>
        </p:txBody>
      </p:sp>
      <p:sp>
        <p:nvSpPr>
          <p:cNvPr id="34" name="Text 29"/>
          <p:cNvSpPr txBox="1"/>
          <p:nvPr/>
        </p:nvSpPr>
        <p:spPr>
          <a:xfrm>
            <a:off x="10058400" y="2670048"/>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0–10</a:t>
            </a:r>
            <a:endParaRPr lang="en-US" sz="1200" dirty="0"/>
          </a:p>
        </p:txBody>
      </p:sp>
      <p:sp>
        <p:nvSpPr>
          <p:cNvPr id="35" name="Shape 30"/>
          <p:cNvSpPr/>
          <p:nvPr/>
        </p:nvSpPr>
        <p:spPr>
          <a:xfrm>
            <a:off x="5989320" y="3008376"/>
            <a:ext cx="5577840" cy="0"/>
          </a:xfrm>
          <a:prstGeom prst="line">
            <a:avLst/>
          </a:prstGeom>
          <a:noFill/>
          <a:ln w="6350">
            <a:solidFill>
              <a:srgbClr val="2A3550"/>
            </a:solidFill>
            <a:prstDash val="solid"/>
          </a:ln>
        </p:spPr>
      </p:sp>
      <p:sp>
        <p:nvSpPr>
          <p:cNvPr id="36" name="Text 31"/>
          <p:cNvSpPr txBox="1"/>
          <p:nvPr/>
        </p:nvSpPr>
        <p:spPr>
          <a:xfrm>
            <a:off x="6035040" y="3008376"/>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Beta</a:t>
            </a:r>
            <a:endParaRPr lang="en-US" sz="1200" dirty="0"/>
          </a:p>
        </p:txBody>
      </p:sp>
      <p:sp>
        <p:nvSpPr>
          <p:cNvPr id="37" name="Text 32"/>
          <p:cNvSpPr txBox="1"/>
          <p:nvPr/>
        </p:nvSpPr>
        <p:spPr>
          <a:xfrm>
            <a:off x="7635240" y="3008376"/>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β</a:t>
            </a:r>
            <a:endParaRPr lang="en-US" sz="1200" dirty="0"/>
          </a:p>
        </p:txBody>
      </p:sp>
      <p:sp>
        <p:nvSpPr>
          <p:cNvPr id="38" name="Text 33"/>
          <p:cNvSpPr txBox="1"/>
          <p:nvPr/>
        </p:nvSpPr>
        <p:spPr>
          <a:xfrm>
            <a:off x="8595360" y="3008376"/>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3.0</a:t>
            </a:r>
            <a:endParaRPr lang="en-US" sz="1200" dirty="0"/>
          </a:p>
        </p:txBody>
      </p:sp>
      <p:sp>
        <p:nvSpPr>
          <p:cNvPr id="39" name="Text 34"/>
          <p:cNvSpPr txBox="1"/>
          <p:nvPr/>
        </p:nvSpPr>
        <p:spPr>
          <a:xfrm>
            <a:off x="10058400" y="3008376"/>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0–10</a:t>
            </a:r>
            <a:endParaRPr lang="en-US" sz="1200" dirty="0"/>
          </a:p>
        </p:txBody>
      </p:sp>
      <p:sp>
        <p:nvSpPr>
          <p:cNvPr id="40" name="Shape 35"/>
          <p:cNvSpPr/>
          <p:nvPr/>
        </p:nvSpPr>
        <p:spPr>
          <a:xfrm>
            <a:off x="5989320" y="3346704"/>
            <a:ext cx="5577840" cy="0"/>
          </a:xfrm>
          <a:prstGeom prst="line">
            <a:avLst/>
          </a:prstGeom>
          <a:noFill/>
          <a:ln w="6350">
            <a:solidFill>
              <a:srgbClr val="2A3550"/>
            </a:solidFill>
            <a:prstDash val="solid"/>
          </a:ln>
        </p:spPr>
      </p:sp>
      <p:sp>
        <p:nvSpPr>
          <p:cNvPr id="41" name="Text 36"/>
          <p:cNvSpPr txBox="1"/>
          <p:nvPr/>
        </p:nvSpPr>
        <p:spPr>
          <a:xfrm>
            <a:off x="6035040" y="3346704"/>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Evaporation</a:t>
            </a:r>
            <a:endParaRPr lang="en-US" sz="1200" dirty="0"/>
          </a:p>
        </p:txBody>
      </p:sp>
      <p:sp>
        <p:nvSpPr>
          <p:cNvPr id="42" name="Text 37"/>
          <p:cNvSpPr txBox="1"/>
          <p:nvPr/>
        </p:nvSpPr>
        <p:spPr>
          <a:xfrm>
            <a:off x="7635240" y="3346704"/>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ρ</a:t>
            </a:r>
            <a:endParaRPr lang="en-US" sz="1200" dirty="0"/>
          </a:p>
        </p:txBody>
      </p:sp>
      <p:sp>
        <p:nvSpPr>
          <p:cNvPr id="43" name="Text 38"/>
          <p:cNvSpPr txBox="1"/>
          <p:nvPr/>
        </p:nvSpPr>
        <p:spPr>
          <a:xfrm>
            <a:off x="8595360" y="3346704"/>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0.5</a:t>
            </a:r>
            <a:endParaRPr lang="en-US" sz="1200" dirty="0"/>
          </a:p>
        </p:txBody>
      </p:sp>
      <p:sp>
        <p:nvSpPr>
          <p:cNvPr id="44" name="Text 39"/>
          <p:cNvSpPr txBox="1"/>
          <p:nvPr/>
        </p:nvSpPr>
        <p:spPr>
          <a:xfrm>
            <a:off x="10058400" y="3346704"/>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0.01–0.99</a:t>
            </a:r>
            <a:endParaRPr lang="en-US" sz="1200" dirty="0"/>
          </a:p>
        </p:txBody>
      </p:sp>
      <p:sp>
        <p:nvSpPr>
          <p:cNvPr id="45" name="Shape 40"/>
          <p:cNvSpPr/>
          <p:nvPr/>
        </p:nvSpPr>
        <p:spPr>
          <a:xfrm>
            <a:off x="5989320" y="3685032"/>
            <a:ext cx="5577840" cy="0"/>
          </a:xfrm>
          <a:prstGeom prst="line">
            <a:avLst/>
          </a:prstGeom>
          <a:noFill/>
          <a:ln w="6350">
            <a:solidFill>
              <a:srgbClr val="2A3550"/>
            </a:solidFill>
            <a:prstDash val="solid"/>
          </a:ln>
        </p:spPr>
      </p:sp>
      <p:sp>
        <p:nvSpPr>
          <p:cNvPr id="46" name="Text 41"/>
          <p:cNvSpPr txBox="1"/>
          <p:nvPr/>
        </p:nvSpPr>
        <p:spPr>
          <a:xfrm>
            <a:off x="6035040" y="3685032"/>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Q</a:t>
            </a:r>
            <a:endParaRPr lang="en-US" sz="1200" dirty="0"/>
          </a:p>
        </p:txBody>
      </p:sp>
      <p:sp>
        <p:nvSpPr>
          <p:cNvPr id="47" name="Text 42"/>
          <p:cNvSpPr txBox="1"/>
          <p:nvPr/>
        </p:nvSpPr>
        <p:spPr>
          <a:xfrm>
            <a:off x="7635240" y="3685032"/>
            <a:ext cx="777240" cy="338328"/>
          </a:xfrm>
          <a:prstGeom prst="rect">
            <a:avLst/>
          </a:prstGeom>
          <a:noFill/>
          <a:ln/>
        </p:spPr>
        <p:txBody>
          <a:bodyPr wrap="square" lIns="0" tIns="0" rIns="0" bIns="0" rtlCol="0" anchor="ctr"/>
          <a:lstStyle/>
          <a:p>
            <a:pPr indent="0" marL="0">
              <a:buNone/>
            </a:pPr>
            <a:r>
              <a:rPr lang="en-US" sz="1200" i="1" dirty="0">
                <a:solidFill>
                  <a:srgbClr val="F39C34"/>
                </a:solidFill>
                <a:latin typeface="Calibri" pitchFamily="34" charset="0"/>
                <a:ea typeface="Calibri" pitchFamily="34" charset="-122"/>
                <a:cs typeface="Calibri" pitchFamily="34" charset="-120"/>
              </a:rPr>
              <a:t>Q</a:t>
            </a:r>
            <a:endParaRPr lang="en-US" sz="1200" dirty="0"/>
          </a:p>
        </p:txBody>
      </p:sp>
      <p:sp>
        <p:nvSpPr>
          <p:cNvPr id="48" name="Text 43"/>
          <p:cNvSpPr txBox="1"/>
          <p:nvPr/>
        </p:nvSpPr>
        <p:spPr>
          <a:xfrm>
            <a:off x="8595360" y="3685032"/>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100</a:t>
            </a:r>
            <a:endParaRPr lang="en-US" sz="1200" dirty="0"/>
          </a:p>
        </p:txBody>
      </p:sp>
      <p:sp>
        <p:nvSpPr>
          <p:cNvPr id="49" name="Text 44"/>
          <p:cNvSpPr txBox="1"/>
          <p:nvPr/>
        </p:nvSpPr>
        <p:spPr>
          <a:xfrm>
            <a:off x="10058400" y="3685032"/>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fixed</a:t>
            </a:r>
            <a:endParaRPr lang="en-US" sz="1200" dirty="0"/>
          </a:p>
        </p:txBody>
      </p:sp>
      <p:sp>
        <p:nvSpPr>
          <p:cNvPr id="50" name="Shape 45"/>
          <p:cNvSpPr/>
          <p:nvPr/>
        </p:nvSpPr>
        <p:spPr>
          <a:xfrm>
            <a:off x="5989320" y="4023360"/>
            <a:ext cx="5577840" cy="0"/>
          </a:xfrm>
          <a:prstGeom prst="line">
            <a:avLst/>
          </a:prstGeom>
          <a:noFill/>
          <a:ln w="6350">
            <a:solidFill>
              <a:srgbClr val="2A3550"/>
            </a:solidFill>
            <a:prstDash val="solid"/>
          </a:ln>
        </p:spPr>
      </p:sp>
      <p:sp>
        <p:nvSpPr>
          <p:cNvPr id="51" name="Text 46"/>
          <p:cNvSpPr txBox="1"/>
          <p:nvPr/>
        </p:nvSpPr>
        <p:spPr>
          <a:xfrm>
            <a:off x="6035040" y="4023360"/>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τ₀</a:t>
            </a:r>
            <a:endParaRPr lang="en-US" sz="1200" dirty="0"/>
          </a:p>
        </p:txBody>
      </p:sp>
      <p:sp>
        <p:nvSpPr>
          <p:cNvPr id="52" name="Text 47"/>
          <p:cNvSpPr txBox="1"/>
          <p:nvPr/>
        </p:nvSpPr>
        <p:spPr>
          <a:xfrm>
            <a:off x="7635240" y="4023360"/>
            <a:ext cx="777240" cy="338328"/>
          </a:xfrm>
          <a:prstGeom prst="rect">
            <a:avLst/>
          </a:prstGeom>
          <a:noFill/>
          <a:ln/>
        </p:spPr>
        <p:txBody>
          <a:bodyPr wrap="square" lIns="0" tIns="0" rIns="0" bIns="0" rtlCol="0" anchor="ctr"/>
          <a:lstStyle/>
          <a:p>
            <a:pPr indent="0" marL="0">
              <a:buNone/>
            </a:pPr>
            <a:r>
              <a:rPr lang="en-US" sz="1200" dirty="0">
                <a:solidFill>
                  <a:srgbClr val="F39C34"/>
                </a:solidFill>
                <a:latin typeface="Calibri" pitchFamily="34" charset="0"/>
                <a:ea typeface="Calibri" pitchFamily="34" charset="-122"/>
                <a:cs typeface="Calibri" pitchFamily="34" charset="-120"/>
              </a:rPr>
              <a:t>τ₀</a:t>
            </a:r>
            <a:endParaRPr lang="en-US" sz="1200" dirty="0"/>
          </a:p>
        </p:txBody>
      </p:sp>
      <p:sp>
        <p:nvSpPr>
          <p:cNvPr id="53" name="Text 48"/>
          <p:cNvSpPr txBox="1"/>
          <p:nvPr/>
        </p:nvSpPr>
        <p:spPr>
          <a:xfrm>
            <a:off x="8595360" y="4023360"/>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1.0</a:t>
            </a:r>
            <a:endParaRPr lang="en-US" sz="1200" dirty="0"/>
          </a:p>
        </p:txBody>
      </p:sp>
      <p:sp>
        <p:nvSpPr>
          <p:cNvPr id="54" name="Text 49"/>
          <p:cNvSpPr txBox="1"/>
          <p:nvPr/>
        </p:nvSpPr>
        <p:spPr>
          <a:xfrm>
            <a:off x="10058400" y="4023360"/>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fixed</a:t>
            </a:r>
            <a:endParaRPr lang="en-US" sz="1200" dirty="0"/>
          </a:p>
        </p:txBody>
      </p:sp>
      <p:sp>
        <p:nvSpPr>
          <p:cNvPr id="55" name="Shape 50"/>
          <p:cNvSpPr/>
          <p:nvPr/>
        </p:nvSpPr>
        <p:spPr>
          <a:xfrm>
            <a:off x="5989320" y="4361688"/>
            <a:ext cx="5577840" cy="0"/>
          </a:xfrm>
          <a:prstGeom prst="line">
            <a:avLst/>
          </a:prstGeom>
          <a:noFill/>
          <a:ln w="6350">
            <a:solidFill>
              <a:srgbClr val="2A3550"/>
            </a:solidFill>
            <a:prstDash val="solid"/>
          </a:ln>
        </p:spPr>
      </p:sp>
      <p:sp>
        <p:nvSpPr>
          <p:cNvPr id="56" name="Text 51"/>
          <p:cNvSpPr txBox="1"/>
          <p:nvPr/>
        </p:nvSpPr>
        <p:spPr>
          <a:xfrm>
            <a:off x="6035040" y="4361688"/>
            <a:ext cx="1417320" cy="338328"/>
          </a:xfrm>
          <a:prstGeom prst="rect">
            <a:avLst/>
          </a:prstGeom>
          <a:noFill/>
          <a:ln/>
        </p:spPr>
        <p:txBody>
          <a:bodyPr wrap="square" lIns="0" tIns="0" rIns="0" bIns="0" rtlCol="0" anchor="ctr"/>
          <a:lstStyle/>
          <a:p>
            <a:pPr indent="0" marL="0">
              <a:buNone/>
            </a:pPr>
            <a:r>
              <a:rPr lang="en-US" sz="1200" dirty="0">
                <a:solidFill>
                  <a:srgbClr val="E9EDF5"/>
                </a:solidFill>
                <a:latin typeface="Calibri" pitchFamily="34" charset="0"/>
                <a:ea typeface="Calibri" pitchFamily="34" charset="-122"/>
                <a:cs typeface="Calibri" pitchFamily="34" charset="-120"/>
              </a:rPr>
              <a:t>Seed</a:t>
            </a:r>
            <a:endParaRPr lang="en-US" sz="1200" dirty="0"/>
          </a:p>
        </p:txBody>
      </p:sp>
      <p:sp>
        <p:nvSpPr>
          <p:cNvPr id="57" name="Text 52"/>
          <p:cNvSpPr txBox="1"/>
          <p:nvPr/>
        </p:nvSpPr>
        <p:spPr>
          <a:xfrm>
            <a:off x="7635240" y="4361688"/>
            <a:ext cx="777240" cy="338328"/>
          </a:xfrm>
          <a:prstGeom prst="rect">
            <a:avLst/>
          </a:prstGeom>
          <a:noFill/>
          <a:ln/>
        </p:spPr>
        <p:txBody>
          <a:bodyPr wrap="square" lIns="0" tIns="0" rIns="0" bIns="0" rtlCol="0" anchor="ctr"/>
          <a:lstStyle/>
          <a:p>
            <a:pPr indent="0" marL="0">
              <a:buNone/>
            </a:pPr>
            <a:r>
              <a:rPr lang="en-US" sz="1200" dirty="0">
                <a:solidFill>
                  <a:srgbClr val="F39C34"/>
                </a:solidFill>
                <a:latin typeface="Calibri" pitchFamily="34" charset="0"/>
                <a:ea typeface="Calibri" pitchFamily="34" charset="-122"/>
                <a:cs typeface="Calibri" pitchFamily="34" charset="-120"/>
              </a:rPr>
              <a:t>—</a:t>
            </a:r>
            <a:endParaRPr lang="en-US" sz="1200" dirty="0"/>
          </a:p>
        </p:txBody>
      </p:sp>
      <p:sp>
        <p:nvSpPr>
          <p:cNvPr id="58" name="Text 53"/>
          <p:cNvSpPr txBox="1"/>
          <p:nvPr/>
        </p:nvSpPr>
        <p:spPr>
          <a:xfrm>
            <a:off x="8595360" y="4361688"/>
            <a:ext cx="128016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0 = random</a:t>
            </a:r>
            <a:endParaRPr lang="en-US" sz="1200" dirty="0"/>
          </a:p>
        </p:txBody>
      </p:sp>
      <p:sp>
        <p:nvSpPr>
          <p:cNvPr id="59" name="Text 54"/>
          <p:cNvSpPr txBox="1"/>
          <p:nvPr/>
        </p:nvSpPr>
        <p:spPr>
          <a:xfrm>
            <a:off x="10058400" y="4361688"/>
            <a:ext cx="1554480" cy="338328"/>
          </a:xfrm>
          <a:prstGeom prst="rect">
            <a:avLst/>
          </a:prstGeom>
          <a:noFill/>
          <a:ln/>
        </p:spPr>
        <p:txBody>
          <a:bodyPr wrap="square" lIns="0" tIns="0" rIns="0" bIns="0" rtlCol="0" anchor="ctr"/>
          <a:lstStyle/>
          <a:p>
            <a:pPr indent="0" marL="0">
              <a:buNone/>
            </a:pPr>
            <a:r>
              <a:rPr lang="en-US" sz="1200" dirty="0">
                <a:solidFill>
                  <a:srgbClr val="C3CCDC"/>
                </a:solidFill>
                <a:latin typeface="Consolas" pitchFamily="34" charset="0"/>
                <a:ea typeface="Consolas" pitchFamily="34" charset="-122"/>
                <a:cs typeface="Consolas" pitchFamily="34" charset="-120"/>
              </a:rPr>
              <a:t>—</a:t>
            </a:r>
            <a:endParaRPr lang="en-US" sz="1200" dirty="0"/>
          </a:p>
        </p:txBody>
      </p:sp>
      <p:sp>
        <p:nvSpPr>
          <p:cNvPr id="60" name="Shape 55"/>
          <p:cNvSpPr/>
          <p:nvPr/>
        </p:nvSpPr>
        <p:spPr>
          <a:xfrm>
            <a:off x="5897880" y="4754880"/>
            <a:ext cx="5760720" cy="640080"/>
          </a:xfrm>
          <a:prstGeom prst="roundRect">
            <a:avLst>
              <a:gd name="adj" fmla="val 17143"/>
            </a:avLst>
          </a:prstGeom>
          <a:solidFill>
            <a:srgbClr val="182033"/>
          </a:solidFill>
          <a:ln w="9525">
            <a:solidFill>
              <a:srgbClr val="2A3550"/>
            </a:solidFill>
            <a:prstDash val="solid"/>
          </a:ln>
        </p:spPr>
      </p:sp>
      <p:pic>
        <p:nvPicPr>
          <p:cNvPr id="61" name="Image 2" descr="preencoded.png">    </p:cNvPr>
          <p:cNvPicPr>
            <a:picLocks noChangeAspect="1"/>
          </p:cNvPicPr>
          <p:nvPr/>
        </p:nvPicPr>
        <p:blipFill>
          <a:blip r:embed="rId3"/>
          <a:stretch>
            <a:fillRect/>
          </a:stretch>
        </p:blipFill>
        <p:spPr>
          <a:xfrm>
            <a:off x="6099048" y="4937760"/>
            <a:ext cx="274320" cy="274320"/>
          </a:xfrm>
          <a:prstGeom prst="rect">
            <a:avLst/>
          </a:prstGeom>
        </p:spPr>
      </p:pic>
      <p:sp>
        <p:nvSpPr>
          <p:cNvPr id="62" name="Text 56"/>
          <p:cNvSpPr txBox="1"/>
          <p:nvPr/>
        </p:nvSpPr>
        <p:spPr>
          <a:xfrm>
            <a:off x="6537960" y="4754880"/>
            <a:ext cx="4983480" cy="640080"/>
          </a:xfrm>
          <a:prstGeom prst="rect">
            <a:avLst/>
          </a:prstGeom>
          <a:noFill/>
          <a:ln/>
        </p:spPr>
        <p:txBody>
          <a:bodyPr wrap="square" lIns="0" tIns="0" rIns="0" bIns="0" rtlCol="0" anchor="ctr"/>
          <a:lstStyle/>
          <a:p>
            <a:pPr indent="0" marL="0">
              <a:buNone/>
            </a:pPr>
            <a:r>
              <a:rPr lang="en-US" sz="1250" dirty="0">
                <a:solidFill>
                  <a:srgbClr val="E9EDF5"/>
                </a:solidFill>
                <a:latin typeface="Calibri" pitchFamily="34" charset="0"/>
                <a:ea typeface="Calibri" pitchFamily="34" charset="-122"/>
                <a:cs typeface="Calibri" pitchFamily="34" charset="-120"/>
              </a:rPr>
              <a:t>CSV: convergence series + full instance (cities, tour legs, n×n distance matrix)</a:t>
            </a:r>
            <a:endParaRPr lang="en-US" sz="1250" dirty="0"/>
          </a:p>
        </p:txBody>
      </p:sp>
      <p:sp>
        <p:nvSpPr>
          <p:cNvPr id="63" name="Shape 57"/>
          <p:cNvSpPr/>
          <p:nvPr/>
        </p:nvSpPr>
        <p:spPr>
          <a:xfrm>
            <a:off x="5897880" y="5513832"/>
            <a:ext cx="5760720" cy="640080"/>
          </a:xfrm>
          <a:prstGeom prst="roundRect">
            <a:avLst>
              <a:gd name="adj" fmla="val 17143"/>
            </a:avLst>
          </a:prstGeom>
          <a:solidFill>
            <a:srgbClr val="182033"/>
          </a:solidFill>
          <a:ln w="9525">
            <a:solidFill>
              <a:srgbClr val="2A3550"/>
            </a:solidFill>
            <a:prstDash val="solid"/>
          </a:ln>
        </p:spPr>
      </p:sp>
      <p:pic>
        <p:nvPicPr>
          <p:cNvPr id="64" name="Image 3" descr="preencoded.png">    </p:cNvPr>
          <p:cNvPicPr>
            <a:picLocks noChangeAspect="1"/>
          </p:cNvPicPr>
          <p:nvPr/>
        </p:nvPicPr>
        <p:blipFill>
          <a:blip r:embed="rId4"/>
          <a:stretch>
            <a:fillRect/>
          </a:stretch>
        </p:blipFill>
        <p:spPr>
          <a:xfrm>
            <a:off x="6099048" y="5696712"/>
            <a:ext cx="274320" cy="274320"/>
          </a:xfrm>
          <a:prstGeom prst="rect">
            <a:avLst/>
          </a:prstGeom>
        </p:spPr>
      </p:pic>
      <p:sp>
        <p:nvSpPr>
          <p:cNvPr id="65" name="Text 58"/>
          <p:cNvSpPr txBox="1"/>
          <p:nvPr/>
        </p:nvSpPr>
        <p:spPr>
          <a:xfrm>
            <a:off x="6537960" y="5513832"/>
            <a:ext cx="4983480" cy="640080"/>
          </a:xfrm>
          <a:prstGeom prst="rect">
            <a:avLst/>
          </a:prstGeom>
          <a:noFill/>
          <a:ln/>
        </p:spPr>
        <p:txBody>
          <a:bodyPr wrap="square" lIns="0" tIns="0" rIns="0" bIns="0" rtlCol="0" anchor="ctr"/>
          <a:lstStyle/>
          <a:p>
            <a:pPr indent="0" marL="0">
              <a:buNone/>
            </a:pPr>
            <a:r>
              <a:rPr lang="en-US" sz="1250" dirty="0">
                <a:solidFill>
                  <a:srgbClr val="E9EDF5"/>
                </a:solidFill>
                <a:latin typeface="Calibri" pitchFamily="34" charset="0"/>
                <a:ea typeface="Calibri" pitchFamily="34" charset="-122"/>
                <a:cs typeface="Calibri" pitchFamily="34" charset="-120"/>
              </a:rPr>
              <a:t>Reproducible run = seed + city_draw_index</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04</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04</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600" b="1" dirty="0">
                <a:solidFill>
                  <a:srgbClr val="E9EDF5"/>
                </a:solidFill>
                <a:latin typeface="Calibri" pitchFamily="34" charset="0"/>
                <a:ea typeface="Calibri" pitchFamily="34" charset="-122"/>
                <a:cs typeface="Calibri" pitchFamily="34" charset="-120"/>
              </a:rPr>
              <a:t>Verification &amp; Results</a:t>
            </a:r>
            <a:endParaRPr lang="en-US" sz="3600" dirty="0"/>
          </a:p>
        </p:txBody>
      </p:sp>
      <p:sp>
        <p:nvSpPr>
          <p:cNvPr id="7" name="Text 3"/>
          <p:cNvSpPr txBox="1"/>
          <p:nvPr/>
        </p:nvSpPr>
        <p:spPr>
          <a:xfrm>
            <a:off x="731520" y="425196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Auditing the implementation and checking it against exact optima</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Control-flow audit — "no cheating"</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Mathematical verification</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Independent numerical check</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15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04 · VERIFICATION &amp; RESULTS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Control-Flow Audit — "No Cheating"</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One control path from Start to every reported tour, with no bypass.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Verification &amp; Results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16 / 23</a:t>
            </a:r>
            <a:endParaRPr lang="en-US" sz="900" dirty="0"/>
          </a:p>
        </p:txBody>
      </p:sp>
      <p:sp>
        <p:nvSpPr>
          <p:cNvPr id="11" name="Shape 7"/>
          <p:cNvSpPr/>
          <p:nvPr/>
        </p:nvSpPr>
        <p:spPr>
          <a:xfrm>
            <a:off x="548640" y="1645920"/>
            <a:ext cx="6492240" cy="4572000"/>
          </a:xfrm>
          <a:prstGeom prst="roundRect">
            <a:avLst>
              <a:gd name="adj" fmla="val 1600"/>
            </a:avLst>
          </a:prstGeom>
          <a:solidFill>
            <a:srgbClr val="0B0F18"/>
          </a:solidFill>
          <a:ln w="9525">
            <a:solidFill>
              <a:srgbClr val="2A3550"/>
            </a:solidFill>
            <a:prstDash val="solid"/>
          </a:ln>
        </p:spPr>
      </p:sp>
      <p:sp>
        <p:nvSpPr>
          <p:cNvPr id="12" name="Shape 8"/>
          <p:cNvSpPr/>
          <p:nvPr/>
        </p:nvSpPr>
        <p:spPr>
          <a:xfrm>
            <a:off x="713232" y="1764792"/>
            <a:ext cx="109728" cy="109728"/>
          </a:xfrm>
          <a:prstGeom prst="ellipse">
            <a:avLst/>
          </a:prstGeom>
          <a:solidFill>
            <a:srgbClr val="FF5F57"/>
          </a:solidFill>
          <a:ln w="12700">
            <a:solidFill>
              <a:srgbClr val="FF5F57"/>
            </a:solidFill>
            <a:prstDash val="solid"/>
          </a:ln>
        </p:spPr>
      </p:sp>
      <p:sp>
        <p:nvSpPr>
          <p:cNvPr id="13" name="Shape 9"/>
          <p:cNvSpPr/>
          <p:nvPr/>
        </p:nvSpPr>
        <p:spPr>
          <a:xfrm>
            <a:off x="896112" y="1764792"/>
            <a:ext cx="109728" cy="109728"/>
          </a:xfrm>
          <a:prstGeom prst="ellipse">
            <a:avLst/>
          </a:prstGeom>
          <a:solidFill>
            <a:srgbClr val="FEBC2E"/>
          </a:solidFill>
          <a:ln w="12700">
            <a:solidFill>
              <a:srgbClr val="FEBC2E"/>
            </a:solidFill>
            <a:prstDash val="solid"/>
          </a:ln>
        </p:spPr>
      </p:sp>
      <p:sp>
        <p:nvSpPr>
          <p:cNvPr id="14" name="Shape 10"/>
          <p:cNvSpPr/>
          <p:nvPr/>
        </p:nvSpPr>
        <p:spPr>
          <a:xfrm>
            <a:off x="1078992" y="1764792"/>
            <a:ext cx="109728" cy="109728"/>
          </a:xfrm>
          <a:prstGeom prst="ellipse">
            <a:avLst/>
          </a:prstGeom>
          <a:solidFill>
            <a:srgbClr val="28C840"/>
          </a:solidFill>
          <a:ln w="12700">
            <a:solidFill>
              <a:srgbClr val="28C840"/>
            </a:solidFill>
            <a:prstDash val="solid"/>
          </a:ln>
        </p:spPr>
      </p:sp>
      <p:sp>
        <p:nvSpPr>
          <p:cNvPr id="15" name="Text 11"/>
          <p:cNvSpPr txBox="1"/>
          <p:nvPr/>
        </p:nvSpPr>
        <p:spPr>
          <a:xfrm>
            <a:off x="1371600" y="1709928"/>
            <a:ext cx="5486400" cy="219456"/>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control flow (condensed)</a:t>
            </a:r>
            <a:endParaRPr lang="en-US" sz="900" dirty="0"/>
          </a:p>
        </p:txBody>
      </p:sp>
      <p:sp>
        <p:nvSpPr>
          <p:cNvPr id="16" name="Text 12"/>
          <p:cNvSpPr txBox="1"/>
          <p:nvPr/>
        </p:nvSpPr>
        <p:spPr>
          <a:xfrm>
            <a:off x="658368" y="2057400"/>
            <a:ext cx="310896" cy="3164840"/>
          </a:xfrm>
          <a:prstGeom prst="rect">
            <a:avLst/>
          </a:prstGeom>
          <a:noFill/>
          <a:ln/>
        </p:spPr>
        <p:txBody>
          <a:bodyPr wrap="square" lIns="0" tIns="0" rIns="0" bIns="0" rtlCol="0" anchor="t"/>
          <a:lstStyle/>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1</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2</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3</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4</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5</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6</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7</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8</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9</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10</a:t>
            </a:r>
            <a:endParaRPr lang="en-US" sz="1200" dirty="0"/>
          </a:p>
          <a:p>
            <a:pPr algn="r" indent="0" marL="0">
              <a:lnSpc>
                <a:spcPts val="2200"/>
              </a:lnSpc>
              <a:buNone/>
            </a:pPr>
            <a:r>
              <a:rPr lang="en-US" sz="1200" dirty="0">
                <a:solidFill>
                  <a:srgbClr val="4A5570"/>
                </a:solidFill>
                <a:latin typeface="Consolas" pitchFamily="34" charset="0"/>
                <a:ea typeface="Consolas" pitchFamily="34" charset="-122"/>
                <a:cs typeface="Consolas" pitchFamily="34" charset="-120"/>
              </a:rPr>
              <a:t>11</a:t>
            </a:r>
            <a:endParaRPr lang="en-US" sz="1200" dirty="0"/>
          </a:p>
        </p:txBody>
      </p:sp>
      <p:sp>
        <p:nvSpPr>
          <p:cNvPr id="17" name="Text 13"/>
          <p:cNvSpPr txBox="1"/>
          <p:nvPr/>
        </p:nvSpPr>
        <p:spPr>
          <a:xfrm>
            <a:off x="1170432" y="2057400"/>
            <a:ext cx="5779008" cy="3164840"/>
          </a:xfrm>
          <a:prstGeom prst="rect">
            <a:avLst/>
          </a:prstGeom>
          <a:noFill/>
          <a:ln/>
        </p:spPr>
        <p:txBody>
          <a:bodyPr wrap="none" lIns="0" tIns="0" rIns="0" bIns="0" rtlCol="0" anchor="t"/>
          <a:lstStyle/>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MainWindow::onActionItem (Start)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MainView::startStop -&gt; readACOParamsFromUI</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ViewMap::start -&gt; Model::findPath -&gt; std::thread</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Model::runACO</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buildDistanceMatrix, initPheromone</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for iter: for ant: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constructTour -&gt; isHamiltonianTour -&gt; tourLength</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evaporatePheromone -&gt; beginPheromoneDeposit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depositPheromone x m -&gt; applyPheromoneDeposit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getL1Norm, publishPheromoneSnapshot</a:t>
            </a:r>
            <a:endParaRPr lang="en-US" sz="1200" dirty="0"/>
          </a:p>
          <a:p>
            <a:pPr algn="l" indent="0" marL="0">
              <a:lnSpc>
                <a:spcPts val="2200"/>
              </a:lnSpc>
              <a:buNone/>
            </a:pPr>
            <a:r>
              <a:rPr lang="en-US" sz="1200" dirty="0">
                <a:solidFill>
                  <a:srgbClr val="D5DCE8"/>
                </a:solidFill>
                <a:latin typeface="Consolas" pitchFamily="34" charset="0"/>
                <a:ea typeface="Consolas" pitchFamily="34" charset="-122"/>
                <a:cs typeface="Consolas" pitchFamily="34" charset="-120"/>
              </a:rPr>
              <a:t>    -&gt; asyncExecInMainThread(ViewMap::threadCompleted)</a:t>
            </a:r>
            <a:endParaRPr lang="en-US" sz="1200" dirty="0"/>
          </a:p>
        </p:txBody>
      </p:sp>
      <p:sp>
        <p:nvSpPr>
          <p:cNvPr id="18" name="Shape 14"/>
          <p:cNvSpPr/>
          <p:nvPr/>
        </p:nvSpPr>
        <p:spPr>
          <a:xfrm>
            <a:off x="1097280" y="3765804"/>
            <a:ext cx="5833872" cy="279400"/>
          </a:xfrm>
          <a:prstGeom prst="roundRect">
            <a:avLst>
              <a:gd name="adj" fmla="val 13091"/>
            </a:avLst>
          </a:prstGeom>
          <a:ln w="13970">
            <a:solidFill>
              <a:srgbClr val="F39C34"/>
            </a:solidFill>
            <a:prstDash val="solid"/>
          </a:ln>
        </p:spPr>
      </p:sp>
      <p:sp>
        <p:nvSpPr>
          <p:cNvPr id="19" name="Shape 15"/>
          <p:cNvSpPr/>
          <p:nvPr/>
        </p:nvSpPr>
        <p:spPr>
          <a:xfrm>
            <a:off x="7315200" y="1645920"/>
            <a:ext cx="4343400" cy="4572000"/>
          </a:xfrm>
          <a:prstGeom prst="roundRect">
            <a:avLst>
              <a:gd name="adj" fmla="val 1684"/>
            </a:avLst>
          </a:prstGeom>
          <a:solidFill>
            <a:srgbClr val="141B2B"/>
          </a:solidFill>
          <a:ln w="9525">
            <a:solidFill>
              <a:srgbClr val="2A3550"/>
            </a:solidFill>
            <a:prstDash val="solid"/>
          </a:ln>
        </p:spPr>
      </p:sp>
      <p:sp>
        <p:nvSpPr>
          <p:cNvPr id="20" name="Text 16"/>
          <p:cNvSpPr txBox="1"/>
          <p:nvPr/>
        </p:nvSpPr>
        <p:spPr>
          <a:xfrm>
            <a:off x="7589520" y="1828800"/>
            <a:ext cx="3931920" cy="256032"/>
          </a:xfrm>
          <a:prstGeom prst="rect">
            <a:avLst/>
          </a:prstGeom>
          <a:noFill/>
          <a:ln/>
        </p:spPr>
        <p:txBody>
          <a:bodyPr wrap="square" lIns="0" tIns="0" rIns="0" bIns="0" rtlCol="0" anchor="t"/>
          <a:lstStyle/>
          <a:p>
            <a:pPr indent="0" marL="0">
              <a:buNone/>
            </a:pPr>
            <a:r>
              <a:rPr lang="en-US" sz="1050" b="1" spc="200" kern="0" dirty="0">
                <a:solidFill>
                  <a:srgbClr val="8A96AD"/>
                </a:solidFill>
                <a:latin typeface="Calibri" pitchFamily="34" charset="0"/>
                <a:ea typeface="Calibri" pitchFamily="34" charset="-122"/>
                <a:cs typeface="Calibri" pitchFamily="34" charset="-120"/>
              </a:rPr>
              <a:t>WHAT 'NO CHEATING' MEANS</a:t>
            </a:r>
            <a:endParaRPr lang="en-US" sz="1050" dirty="0"/>
          </a:p>
        </p:txBody>
      </p:sp>
      <p:sp>
        <p:nvSpPr>
          <p:cNvPr id="21" name="Shape 17"/>
          <p:cNvSpPr/>
          <p:nvPr/>
        </p:nvSpPr>
        <p:spPr>
          <a:xfrm>
            <a:off x="7589520" y="2350008"/>
            <a:ext cx="402336" cy="402336"/>
          </a:xfrm>
          <a:prstGeom prst="ellipse">
            <a:avLst/>
          </a:prstGeom>
          <a:solidFill>
            <a:srgbClr val="1F4A3A"/>
          </a:solidFill>
          <a:ln w="12700">
            <a:solidFill>
              <a:srgbClr val="4CC38A"/>
            </a:solidFill>
            <a:prstDash val="solid"/>
          </a:ln>
        </p:spPr>
      </p:sp>
      <p:pic>
        <p:nvPicPr>
          <p:cNvPr id="22" name="Image 1" descr="preencoded.png">    </p:cNvPr>
          <p:cNvPicPr>
            <a:picLocks noChangeAspect="1"/>
          </p:cNvPicPr>
          <p:nvPr/>
        </p:nvPicPr>
        <p:blipFill>
          <a:blip r:embed="rId2"/>
          <a:stretch>
            <a:fillRect/>
          </a:stretch>
        </p:blipFill>
        <p:spPr>
          <a:xfrm>
            <a:off x="7680960" y="2441448"/>
            <a:ext cx="219456" cy="219456"/>
          </a:xfrm>
          <a:prstGeom prst="rect">
            <a:avLst/>
          </a:prstGeom>
        </p:spPr>
      </p:pic>
      <p:sp>
        <p:nvSpPr>
          <p:cNvPr id="23" name="Text 18"/>
          <p:cNvSpPr txBox="1"/>
          <p:nvPr/>
        </p:nvSpPr>
        <p:spPr>
          <a:xfrm>
            <a:off x="8183880" y="224028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local search (no 2-opt / 3-opt / Or-opt)</a:t>
            </a:r>
            <a:endParaRPr lang="en-US" sz="1350" dirty="0"/>
          </a:p>
        </p:txBody>
      </p:sp>
      <p:sp>
        <p:nvSpPr>
          <p:cNvPr id="24" name="Shape 19"/>
          <p:cNvSpPr/>
          <p:nvPr/>
        </p:nvSpPr>
        <p:spPr>
          <a:xfrm>
            <a:off x="7589520" y="3127248"/>
            <a:ext cx="402336" cy="402336"/>
          </a:xfrm>
          <a:prstGeom prst="ellipse">
            <a:avLst/>
          </a:prstGeom>
          <a:solidFill>
            <a:srgbClr val="1F4A3A"/>
          </a:solidFill>
          <a:ln w="12700">
            <a:solidFill>
              <a:srgbClr val="4CC38A"/>
            </a:solidFill>
            <a:prstDash val="solid"/>
          </a:ln>
        </p:spPr>
      </p:sp>
      <p:pic>
        <p:nvPicPr>
          <p:cNvPr id="25" name="Image 2" descr="preencoded.png">    </p:cNvPr>
          <p:cNvPicPr>
            <a:picLocks noChangeAspect="1"/>
          </p:cNvPicPr>
          <p:nvPr/>
        </p:nvPicPr>
        <p:blipFill>
          <a:blip r:embed="rId3"/>
          <a:stretch>
            <a:fillRect/>
          </a:stretch>
        </p:blipFill>
        <p:spPr>
          <a:xfrm>
            <a:off x="7680960" y="3218688"/>
            <a:ext cx="219456" cy="219456"/>
          </a:xfrm>
          <a:prstGeom prst="rect">
            <a:avLst/>
          </a:prstGeom>
        </p:spPr>
      </p:pic>
      <p:sp>
        <p:nvSpPr>
          <p:cNvPr id="26" name="Text 20"/>
          <p:cNvSpPr txBox="1"/>
          <p:nvPr/>
        </p:nvSpPr>
        <p:spPr>
          <a:xfrm>
            <a:off x="8183880" y="301752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precomputed solutions</a:t>
            </a:r>
            <a:endParaRPr lang="en-US" sz="1350" dirty="0"/>
          </a:p>
        </p:txBody>
      </p:sp>
      <p:sp>
        <p:nvSpPr>
          <p:cNvPr id="27" name="Shape 21"/>
          <p:cNvSpPr/>
          <p:nvPr/>
        </p:nvSpPr>
        <p:spPr>
          <a:xfrm>
            <a:off x="7589520" y="3904488"/>
            <a:ext cx="402336" cy="402336"/>
          </a:xfrm>
          <a:prstGeom prst="ellipse">
            <a:avLst/>
          </a:prstGeom>
          <a:solidFill>
            <a:srgbClr val="1F4A3A"/>
          </a:solidFill>
          <a:ln w="12700">
            <a:solidFill>
              <a:srgbClr val="4CC38A"/>
            </a:solidFill>
            <a:prstDash val="solid"/>
          </a:ln>
        </p:spPr>
      </p:sp>
      <p:pic>
        <p:nvPicPr>
          <p:cNvPr id="28" name="Image 3" descr="preencoded.png">    </p:cNvPr>
          <p:cNvPicPr>
            <a:picLocks noChangeAspect="1"/>
          </p:cNvPicPr>
          <p:nvPr/>
        </p:nvPicPr>
        <p:blipFill>
          <a:blip r:embed="rId4"/>
          <a:stretch>
            <a:fillRect/>
          </a:stretch>
        </p:blipFill>
        <p:spPr>
          <a:xfrm>
            <a:off x="7680960" y="3995928"/>
            <a:ext cx="219456" cy="219456"/>
          </a:xfrm>
          <a:prstGeom prst="rect">
            <a:avLst/>
          </a:prstGeom>
        </p:spPr>
      </p:pic>
      <p:sp>
        <p:nvSpPr>
          <p:cNvPr id="29" name="Text 22"/>
          <p:cNvSpPr txBox="1"/>
          <p:nvPr/>
        </p:nvSpPr>
        <p:spPr>
          <a:xfrm>
            <a:off x="8183880" y="379476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The baseline never seeds the colony</a:t>
            </a:r>
            <a:endParaRPr lang="en-US" sz="1350" dirty="0"/>
          </a:p>
        </p:txBody>
      </p:sp>
      <p:sp>
        <p:nvSpPr>
          <p:cNvPr id="30" name="Shape 23"/>
          <p:cNvSpPr/>
          <p:nvPr/>
        </p:nvSpPr>
        <p:spPr>
          <a:xfrm>
            <a:off x="7589520" y="4681728"/>
            <a:ext cx="402336" cy="402336"/>
          </a:xfrm>
          <a:prstGeom prst="ellipse">
            <a:avLst/>
          </a:prstGeom>
          <a:solidFill>
            <a:srgbClr val="1F4A3A"/>
          </a:solidFill>
          <a:ln w="12700">
            <a:solidFill>
              <a:srgbClr val="4CC38A"/>
            </a:solidFill>
            <a:prstDash val="solid"/>
          </a:ln>
        </p:spPr>
      </p:sp>
      <p:pic>
        <p:nvPicPr>
          <p:cNvPr id="31" name="Image 4" descr="preencoded.png">    </p:cNvPr>
          <p:cNvPicPr>
            <a:picLocks noChangeAspect="1"/>
          </p:cNvPicPr>
          <p:nvPr/>
        </p:nvPicPr>
        <p:blipFill>
          <a:blip r:embed="rId5"/>
          <a:stretch>
            <a:fillRect/>
          </a:stretch>
        </p:blipFill>
        <p:spPr>
          <a:xfrm>
            <a:off x="7680960" y="4773168"/>
            <a:ext cx="219456" cy="219456"/>
          </a:xfrm>
          <a:prstGeom prst="rect">
            <a:avLst/>
          </a:prstGeom>
        </p:spPr>
      </p:pic>
      <p:sp>
        <p:nvSpPr>
          <p:cNvPr id="32" name="Text 24"/>
          <p:cNvSpPr txBox="1"/>
          <p:nvPr/>
        </p:nvSpPr>
        <p:spPr>
          <a:xfrm>
            <a:off x="8183880" y="457200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infeasible tours reported or reinforced</a:t>
            </a:r>
            <a:endParaRPr lang="en-US" sz="1350" dirty="0"/>
          </a:p>
        </p:txBody>
      </p:sp>
      <p:sp>
        <p:nvSpPr>
          <p:cNvPr id="33" name="Shape 25"/>
          <p:cNvSpPr/>
          <p:nvPr/>
        </p:nvSpPr>
        <p:spPr>
          <a:xfrm>
            <a:off x="7589520" y="5458968"/>
            <a:ext cx="402336" cy="402336"/>
          </a:xfrm>
          <a:prstGeom prst="ellipse">
            <a:avLst/>
          </a:prstGeom>
          <a:solidFill>
            <a:srgbClr val="1F4A3A"/>
          </a:solidFill>
          <a:ln w="12700">
            <a:solidFill>
              <a:srgbClr val="4CC38A"/>
            </a:solidFill>
            <a:prstDash val="solid"/>
          </a:ln>
        </p:spPr>
      </p:sp>
      <p:pic>
        <p:nvPicPr>
          <p:cNvPr id="34" name="Image 5" descr="preencoded.png">    </p:cNvPr>
          <p:cNvPicPr>
            <a:picLocks noChangeAspect="1"/>
          </p:cNvPicPr>
          <p:nvPr/>
        </p:nvPicPr>
        <p:blipFill>
          <a:blip r:embed="rId6"/>
          <a:stretch>
            <a:fillRect/>
          </a:stretch>
        </p:blipFill>
        <p:spPr>
          <a:xfrm>
            <a:off x="7680960" y="5550408"/>
            <a:ext cx="219456" cy="219456"/>
          </a:xfrm>
          <a:prstGeom prst="rect">
            <a:avLst/>
          </a:prstGeom>
        </p:spPr>
      </p:pic>
      <p:sp>
        <p:nvSpPr>
          <p:cNvPr id="35" name="Text 26"/>
          <p:cNvSpPr txBox="1"/>
          <p:nvPr/>
        </p:nvSpPr>
        <p:spPr>
          <a:xfrm>
            <a:off x="8183880" y="5349240"/>
            <a:ext cx="333756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No elitism, no τ</a:t>
            </a:r>
            <a:pPr indent="0" marL="0">
              <a:buNone/>
            </a:pPr>
            <a:r>
              <a:rPr lang="en-US" sz="1350" baseline="-40000" dirty="0">
                <a:solidFill>
                  <a:srgbClr val="E9EDF5"/>
                </a:solidFill>
                <a:latin typeface="Calibri" pitchFamily="34" charset="0"/>
                <a:ea typeface="Calibri" pitchFamily="34" charset="-122"/>
                <a:cs typeface="Calibri" pitchFamily="34" charset="-120"/>
              </a:rPr>
              <a:t>min</a:t>
            </a:r>
            <a:pPr indent="0" marL="0">
              <a:buNone/>
            </a:pPr>
            <a:r>
              <a:rPr lang="en-US" sz="1350" dirty="0">
                <a:solidFill>
                  <a:srgbClr val="E9EDF5"/>
                </a:solidFill>
                <a:latin typeface="Calibri" pitchFamily="34" charset="0"/>
                <a:ea typeface="Calibri" pitchFamily="34" charset="-122"/>
                <a:cs typeface="Calibri" pitchFamily="34" charset="-120"/>
              </a:rPr>
              <a:t>/τ</a:t>
            </a:r>
            <a:pPr indent="0" marL="0">
              <a:buNone/>
            </a:pPr>
            <a:r>
              <a:rPr lang="en-US" sz="1350" baseline="-40000" dirty="0">
                <a:solidFill>
                  <a:srgbClr val="E9EDF5"/>
                </a:solidFill>
                <a:latin typeface="Calibri" pitchFamily="34" charset="0"/>
                <a:ea typeface="Calibri" pitchFamily="34" charset="-122"/>
                <a:cs typeface="Calibri" pitchFamily="34" charset="-120"/>
              </a:rPr>
              <a:t>max</a:t>
            </a:r>
            <a:pPr indent="0" marL="0">
              <a:buNone/>
            </a:pPr>
            <a:r>
              <a:rPr lang="en-US" sz="1350" dirty="0">
                <a:solidFill>
                  <a:srgbClr val="E9EDF5"/>
                </a:solidFill>
                <a:latin typeface="Calibri" pitchFamily="34" charset="0"/>
                <a:ea typeface="Calibri" pitchFamily="34" charset="-122"/>
                <a:cs typeface="Calibri" pitchFamily="34" charset="-120"/>
              </a:rPr>
              <a:t> limits</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04 · VERIFICATION &amp; RESULTS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Mathematical Verification</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The src/ and res/ trees were cross-checked against the proposal and against Dorigo &amp; Stützle.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Verification &amp; Results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17 / 23</a:t>
            </a:r>
            <a:endParaRPr lang="en-US" sz="900" dirty="0"/>
          </a:p>
        </p:txBody>
      </p:sp>
      <p:sp>
        <p:nvSpPr>
          <p:cNvPr id="11" name="Shape 7"/>
          <p:cNvSpPr/>
          <p:nvPr/>
        </p:nvSpPr>
        <p:spPr>
          <a:xfrm>
            <a:off x="548640" y="1645920"/>
            <a:ext cx="11109960" cy="786384"/>
          </a:xfrm>
          <a:prstGeom prst="roundRect">
            <a:avLst>
              <a:gd name="adj" fmla="val 9302"/>
            </a:avLst>
          </a:prstGeom>
          <a:solidFill>
            <a:srgbClr val="182033"/>
          </a:solidFill>
          <a:ln w="9525">
            <a:solidFill>
              <a:srgbClr val="2A3550"/>
            </a:solidFill>
            <a:prstDash val="solid"/>
          </a:ln>
        </p:spPr>
      </p:sp>
      <p:sp>
        <p:nvSpPr>
          <p:cNvPr id="12" name="Shape 8"/>
          <p:cNvSpPr/>
          <p:nvPr/>
        </p:nvSpPr>
        <p:spPr>
          <a:xfrm>
            <a:off x="777240" y="1837944"/>
            <a:ext cx="402336" cy="402336"/>
          </a:xfrm>
          <a:prstGeom prst="ellipse">
            <a:avLst/>
          </a:prstGeom>
          <a:solidFill>
            <a:srgbClr val="1F4A3A"/>
          </a:solidFill>
          <a:ln w="12700">
            <a:solidFill>
              <a:srgbClr val="4CC38A"/>
            </a:solidFill>
            <a:prstDash val="solid"/>
          </a:ln>
        </p:spPr>
      </p:sp>
      <p:pic>
        <p:nvPicPr>
          <p:cNvPr id="13" name="Image 1" descr="preencoded.png">    </p:cNvPr>
          <p:cNvPicPr>
            <a:picLocks noChangeAspect="1"/>
          </p:cNvPicPr>
          <p:nvPr/>
        </p:nvPicPr>
        <p:blipFill>
          <a:blip r:embed="rId2"/>
          <a:stretch>
            <a:fillRect/>
          </a:stretch>
        </p:blipFill>
        <p:spPr>
          <a:xfrm>
            <a:off x="868680" y="1929384"/>
            <a:ext cx="219456" cy="219456"/>
          </a:xfrm>
          <a:prstGeom prst="rect">
            <a:avLst/>
          </a:prstGeom>
        </p:spPr>
      </p:pic>
      <p:sp>
        <p:nvSpPr>
          <p:cNvPr id="14" name="Text 9"/>
          <p:cNvSpPr txBox="1"/>
          <p:nvPr/>
        </p:nvSpPr>
        <p:spPr>
          <a:xfrm>
            <a:off x="1417320" y="1645920"/>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Transition rule</a:t>
            </a:r>
            <a:endParaRPr lang="en-US" sz="1500" dirty="0"/>
          </a:p>
        </p:txBody>
      </p:sp>
      <p:sp>
        <p:nvSpPr>
          <p:cNvPr id="15" name="Text 10"/>
          <p:cNvSpPr txBox="1"/>
          <p:nvPr/>
        </p:nvSpPr>
        <p:spPr>
          <a:xfrm>
            <a:off x="3931920" y="1645920"/>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τ</a:t>
            </a:r>
            <a:pPr indent="0" marL="0">
              <a:buNone/>
            </a:pPr>
            <a:r>
              <a:rPr lang="en-US" sz="1400" baseline="30000" dirty="0">
                <a:solidFill>
                  <a:srgbClr val="C3CCDC"/>
                </a:solidFill>
                <a:latin typeface="Calibri" pitchFamily="34" charset="0"/>
                <a:ea typeface="Calibri" pitchFamily="34" charset="-122"/>
                <a:cs typeface="Calibri" pitchFamily="34" charset="-120"/>
              </a:rPr>
              <a:t>α</a:t>
            </a:r>
            <a:pPr indent="0" marL="0">
              <a:buNone/>
            </a:pPr>
            <a:r>
              <a:rPr lang="en-US" sz="1400" dirty="0">
                <a:solidFill>
                  <a:srgbClr val="C3CCDC"/>
                </a:solidFill>
                <a:latin typeface="Calibri" pitchFamily="34" charset="0"/>
                <a:ea typeface="Calibri" pitchFamily="34" charset="-122"/>
                <a:cs typeface="Calibri" pitchFamily="34" charset="-120"/>
              </a:rPr>
              <a:t>η</a:t>
            </a:r>
            <a:pPr indent="0" marL="0">
              <a:buNone/>
            </a:pPr>
            <a:r>
              <a:rPr lang="en-US" sz="1400" baseline="30000" dirty="0">
                <a:solidFill>
                  <a:srgbClr val="C3CCDC"/>
                </a:solidFill>
                <a:latin typeface="Calibri" pitchFamily="34" charset="0"/>
                <a:ea typeface="Calibri" pitchFamily="34" charset="-122"/>
                <a:cs typeface="Calibri" pitchFamily="34" charset="-120"/>
              </a:rPr>
              <a:t>β</a:t>
            </a:r>
            <a:pPr indent="0" marL="0">
              <a:buNone/>
            </a:pPr>
            <a:r>
              <a:rPr lang="en-US" sz="1400" dirty="0">
                <a:solidFill>
                  <a:srgbClr val="C3CCDC"/>
                </a:solidFill>
                <a:latin typeface="Calibri" pitchFamily="34" charset="0"/>
                <a:ea typeface="Calibri" pitchFamily="34" charset="-122"/>
                <a:cs typeface="Calibri" pitchFamily="34" charset="-120"/>
              </a:rPr>
              <a:t> over unvisited cities, sampled in proportion to weight</a:t>
            </a:r>
            <a:endParaRPr lang="en-US" sz="1400" dirty="0"/>
          </a:p>
        </p:txBody>
      </p:sp>
      <p:sp>
        <p:nvSpPr>
          <p:cNvPr id="16" name="Shape 11"/>
          <p:cNvSpPr/>
          <p:nvPr/>
        </p:nvSpPr>
        <p:spPr>
          <a:xfrm>
            <a:off x="548640" y="2551176"/>
            <a:ext cx="11109960" cy="786384"/>
          </a:xfrm>
          <a:prstGeom prst="roundRect">
            <a:avLst>
              <a:gd name="adj" fmla="val 9302"/>
            </a:avLst>
          </a:prstGeom>
          <a:solidFill>
            <a:srgbClr val="182033"/>
          </a:solidFill>
          <a:ln w="9525">
            <a:solidFill>
              <a:srgbClr val="2A3550"/>
            </a:solidFill>
            <a:prstDash val="solid"/>
          </a:ln>
        </p:spPr>
      </p:sp>
      <p:sp>
        <p:nvSpPr>
          <p:cNvPr id="17" name="Shape 12"/>
          <p:cNvSpPr/>
          <p:nvPr/>
        </p:nvSpPr>
        <p:spPr>
          <a:xfrm>
            <a:off x="777240" y="2743200"/>
            <a:ext cx="402336" cy="402336"/>
          </a:xfrm>
          <a:prstGeom prst="ellipse">
            <a:avLst/>
          </a:prstGeom>
          <a:solidFill>
            <a:srgbClr val="1F4A3A"/>
          </a:solidFill>
          <a:ln w="12700">
            <a:solidFill>
              <a:srgbClr val="4CC38A"/>
            </a:solidFill>
            <a:prstDash val="solid"/>
          </a:ln>
        </p:spPr>
      </p:sp>
      <p:pic>
        <p:nvPicPr>
          <p:cNvPr id="18" name="Image 2" descr="preencoded.png">    </p:cNvPr>
          <p:cNvPicPr>
            <a:picLocks noChangeAspect="1"/>
          </p:cNvPicPr>
          <p:nvPr/>
        </p:nvPicPr>
        <p:blipFill>
          <a:blip r:embed="rId3"/>
          <a:stretch>
            <a:fillRect/>
          </a:stretch>
        </p:blipFill>
        <p:spPr>
          <a:xfrm>
            <a:off x="868680" y="2834640"/>
            <a:ext cx="219456" cy="219456"/>
          </a:xfrm>
          <a:prstGeom prst="rect">
            <a:avLst/>
          </a:prstGeom>
        </p:spPr>
      </p:pic>
      <p:sp>
        <p:nvSpPr>
          <p:cNvPr id="19" name="Text 13"/>
          <p:cNvSpPr txBox="1"/>
          <p:nvPr/>
        </p:nvSpPr>
        <p:spPr>
          <a:xfrm>
            <a:off x="1417320" y="2551176"/>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Update rule</a:t>
            </a:r>
            <a:endParaRPr lang="en-US" sz="1500" dirty="0"/>
          </a:p>
        </p:txBody>
      </p:sp>
      <p:sp>
        <p:nvSpPr>
          <p:cNvPr id="20" name="Text 14"/>
          <p:cNvSpPr txBox="1"/>
          <p:nvPr/>
        </p:nvSpPr>
        <p:spPr>
          <a:xfrm>
            <a:off x="3931920" y="2551176"/>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evaporate, accumulate Q/L</a:t>
            </a:r>
            <a:pPr indent="0" marL="0">
              <a:buNone/>
            </a:pPr>
            <a:r>
              <a:rPr lang="en-US" sz="1400" baseline="-40000" dirty="0">
                <a:solidFill>
                  <a:srgbClr val="C3CCDC"/>
                </a:solidFill>
                <a:latin typeface="Calibri" pitchFamily="34" charset="0"/>
                <a:ea typeface="Calibri" pitchFamily="34" charset="-122"/>
                <a:cs typeface="Calibri" pitchFamily="34" charset="-120"/>
              </a:rPr>
              <a:t>k</a:t>
            </a:r>
            <a:pPr indent="0" marL="0">
              <a:buNone/>
            </a:pPr>
            <a:r>
              <a:rPr lang="en-US" sz="1400" dirty="0">
                <a:solidFill>
                  <a:srgbClr val="C3CCDC"/>
                </a:solidFill>
                <a:latin typeface="Calibri" pitchFamily="34" charset="0"/>
                <a:ea typeface="Calibri" pitchFamily="34" charset="-122"/>
                <a:cs typeface="Calibri" pitchFamily="34" charset="-120"/>
              </a:rPr>
              <a:t> from feasible ants, one addition; symmetric, including the closing edge</a:t>
            </a:r>
            <a:endParaRPr lang="en-US" sz="1400" dirty="0"/>
          </a:p>
        </p:txBody>
      </p:sp>
      <p:sp>
        <p:nvSpPr>
          <p:cNvPr id="21" name="Shape 15"/>
          <p:cNvSpPr/>
          <p:nvPr/>
        </p:nvSpPr>
        <p:spPr>
          <a:xfrm>
            <a:off x="548640" y="3456432"/>
            <a:ext cx="11109960" cy="786384"/>
          </a:xfrm>
          <a:prstGeom prst="roundRect">
            <a:avLst>
              <a:gd name="adj" fmla="val 9302"/>
            </a:avLst>
          </a:prstGeom>
          <a:solidFill>
            <a:srgbClr val="182033"/>
          </a:solidFill>
          <a:ln w="9525">
            <a:solidFill>
              <a:srgbClr val="2A3550"/>
            </a:solidFill>
            <a:prstDash val="solid"/>
          </a:ln>
        </p:spPr>
      </p:sp>
      <p:sp>
        <p:nvSpPr>
          <p:cNvPr id="22" name="Shape 16"/>
          <p:cNvSpPr/>
          <p:nvPr/>
        </p:nvSpPr>
        <p:spPr>
          <a:xfrm>
            <a:off x="777240" y="3648456"/>
            <a:ext cx="402336" cy="402336"/>
          </a:xfrm>
          <a:prstGeom prst="ellipse">
            <a:avLst/>
          </a:prstGeom>
          <a:solidFill>
            <a:srgbClr val="1F4A3A"/>
          </a:solidFill>
          <a:ln w="12700">
            <a:solidFill>
              <a:srgbClr val="4CC38A"/>
            </a:solidFill>
            <a:prstDash val="solid"/>
          </a:ln>
        </p:spPr>
      </p:sp>
      <p:pic>
        <p:nvPicPr>
          <p:cNvPr id="23" name="Image 3" descr="preencoded.png">    </p:cNvPr>
          <p:cNvPicPr>
            <a:picLocks noChangeAspect="1"/>
          </p:cNvPicPr>
          <p:nvPr/>
        </p:nvPicPr>
        <p:blipFill>
          <a:blip r:embed="rId4"/>
          <a:stretch>
            <a:fillRect/>
          </a:stretch>
        </p:blipFill>
        <p:spPr>
          <a:xfrm>
            <a:off x="868680" y="3739896"/>
            <a:ext cx="219456" cy="219456"/>
          </a:xfrm>
          <a:prstGeom prst="rect">
            <a:avLst/>
          </a:prstGeom>
        </p:spPr>
      </p:pic>
      <p:sp>
        <p:nvSpPr>
          <p:cNvPr id="24" name="Text 17"/>
          <p:cNvSpPr txBox="1"/>
          <p:nvPr/>
        </p:nvSpPr>
        <p:spPr>
          <a:xfrm>
            <a:off x="1417320" y="3456432"/>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Objective</a:t>
            </a:r>
            <a:endParaRPr lang="en-US" sz="1500" dirty="0"/>
          </a:p>
        </p:txBody>
      </p:sp>
      <p:sp>
        <p:nvSpPr>
          <p:cNvPr id="25" name="Text 18"/>
          <p:cNvSpPr txBox="1"/>
          <p:nvPr/>
        </p:nvSpPr>
        <p:spPr>
          <a:xfrm>
            <a:off x="3931920" y="3456432"/>
            <a:ext cx="7543800" cy="786384"/>
          </a:xfrm>
          <a:prstGeom prst="rect">
            <a:avLst/>
          </a:prstGeom>
          <a:noFill/>
          <a:ln/>
        </p:spPr>
        <p:txBody>
          <a:bodyPr wrap="square" lIns="0" tIns="0" rIns="0" bIns="0" rtlCol="0" anchor="ctr"/>
          <a:lstStyle/>
          <a:p>
            <a:pPr indent="0" marL="0">
              <a:buNone/>
            </a:pPr>
            <a:r>
              <a:rPr lang="en-US" sz="1400" dirty="0">
                <a:solidFill>
                  <a:srgbClr val="F2D08A"/>
                </a:solidFill>
                <a:latin typeface="Consolas" pitchFamily="34" charset="0"/>
                <a:ea typeface="Consolas" pitchFamily="34" charset="-122"/>
                <a:cs typeface="Consolas" pitchFamily="34" charset="-120"/>
              </a:rPr>
              <a:t>tourLength</a:t>
            </a:r>
            <a:pPr indent="0" marL="0">
              <a:buNone/>
            </a:pPr>
            <a:r>
              <a:rPr lang="en-US" sz="1400" dirty="0">
                <a:solidFill>
                  <a:srgbClr val="C3CCDC"/>
                </a:solidFill>
                <a:latin typeface="Calibri" pitchFamily="34" charset="0"/>
                <a:ea typeface="Calibri" pitchFamily="34" charset="-122"/>
                <a:cs typeface="Calibri" pitchFamily="34" charset="-120"/>
              </a:rPr>
              <a:t> includes the return edge; the exported per-leg column sums to the reported cost</a:t>
            </a:r>
            <a:endParaRPr lang="en-US" sz="1400" dirty="0"/>
          </a:p>
        </p:txBody>
      </p:sp>
      <p:sp>
        <p:nvSpPr>
          <p:cNvPr id="26" name="Shape 19"/>
          <p:cNvSpPr/>
          <p:nvPr/>
        </p:nvSpPr>
        <p:spPr>
          <a:xfrm>
            <a:off x="548640" y="4361688"/>
            <a:ext cx="11109960" cy="786384"/>
          </a:xfrm>
          <a:prstGeom prst="roundRect">
            <a:avLst>
              <a:gd name="adj" fmla="val 9302"/>
            </a:avLst>
          </a:prstGeom>
          <a:solidFill>
            <a:srgbClr val="182033"/>
          </a:solidFill>
          <a:ln w="9525">
            <a:solidFill>
              <a:srgbClr val="2A3550"/>
            </a:solidFill>
            <a:prstDash val="solid"/>
          </a:ln>
        </p:spPr>
      </p:sp>
      <p:sp>
        <p:nvSpPr>
          <p:cNvPr id="27" name="Shape 20"/>
          <p:cNvSpPr/>
          <p:nvPr/>
        </p:nvSpPr>
        <p:spPr>
          <a:xfrm>
            <a:off x="777240" y="4553712"/>
            <a:ext cx="402336" cy="402336"/>
          </a:xfrm>
          <a:prstGeom prst="ellipse">
            <a:avLst/>
          </a:prstGeom>
          <a:solidFill>
            <a:srgbClr val="1F4A3A"/>
          </a:solidFill>
          <a:ln w="12700">
            <a:solidFill>
              <a:srgbClr val="4CC38A"/>
            </a:solidFill>
            <a:prstDash val="solid"/>
          </a:ln>
        </p:spPr>
      </p:sp>
      <p:pic>
        <p:nvPicPr>
          <p:cNvPr id="28" name="Image 4" descr="preencoded.png">    </p:cNvPr>
          <p:cNvPicPr>
            <a:picLocks noChangeAspect="1"/>
          </p:cNvPicPr>
          <p:nvPr/>
        </p:nvPicPr>
        <p:blipFill>
          <a:blip r:embed="rId5"/>
          <a:stretch>
            <a:fillRect/>
          </a:stretch>
        </p:blipFill>
        <p:spPr>
          <a:xfrm>
            <a:off x="868680" y="4645152"/>
            <a:ext cx="219456" cy="219456"/>
          </a:xfrm>
          <a:prstGeom prst="rect">
            <a:avLst/>
          </a:prstGeom>
        </p:spPr>
      </p:pic>
      <p:sp>
        <p:nvSpPr>
          <p:cNvPr id="29" name="Text 21"/>
          <p:cNvSpPr txBox="1"/>
          <p:nvPr/>
        </p:nvSpPr>
        <p:spPr>
          <a:xfrm>
            <a:off x="1417320" y="4361688"/>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Parameters constant</a:t>
            </a:r>
            <a:endParaRPr lang="en-US" sz="1500" dirty="0"/>
          </a:p>
        </p:txBody>
      </p:sp>
      <p:sp>
        <p:nvSpPr>
          <p:cNvPr id="30" name="Text 22"/>
          <p:cNvSpPr txBox="1"/>
          <p:nvPr/>
        </p:nvSpPr>
        <p:spPr>
          <a:xfrm>
            <a:off x="3931920" y="4361688"/>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written only on the UI thread when no run is active, only read by the worker</a:t>
            </a:r>
            <a:endParaRPr lang="en-US" sz="1400" dirty="0"/>
          </a:p>
        </p:txBody>
      </p:sp>
      <p:sp>
        <p:nvSpPr>
          <p:cNvPr id="31" name="Shape 23"/>
          <p:cNvSpPr/>
          <p:nvPr/>
        </p:nvSpPr>
        <p:spPr>
          <a:xfrm>
            <a:off x="548640" y="5266944"/>
            <a:ext cx="11109960" cy="786384"/>
          </a:xfrm>
          <a:prstGeom prst="roundRect">
            <a:avLst>
              <a:gd name="adj" fmla="val 9302"/>
            </a:avLst>
          </a:prstGeom>
          <a:solidFill>
            <a:srgbClr val="182033"/>
          </a:solidFill>
          <a:ln w="9525">
            <a:solidFill>
              <a:srgbClr val="2A3550"/>
            </a:solidFill>
            <a:prstDash val="solid"/>
          </a:ln>
        </p:spPr>
      </p:sp>
      <p:sp>
        <p:nvSpPr>
          <p:cNvPr id="32" name="Shape 24"/>
          <p:cNvSpPr/>
          <p:nvPr/>
        </p:nvSpPr>
        <p:spPr>
          <a:xfrm>
            <a:off x="777240" y="5458968"/>
            <a:ext cx="402336" cy="402336"/>
          </a:xfrm>
          <a:prstGeom prst="ellipse">
            <a:avLst/>
          </a:prstGeom>
          <a:solidFill>
            <a:srgbClr val="1F4A3A"/>
          </a:solidFill>
          <a:ln w="12700">
            <a:solidFill>
              <a:srgbClr val="4CC38A"/>
            </a:solidFill>
            <a:prstDash val="solid"/>
          </a:ln>
        </p:spPr>
      </p:sp>
      <p:pic>
        <p:nvPicPr>
          <p:cNvPr id="33" name="Image 5" descr="preencoded.png">    </p:cNvPr>
          <p:cNvPicPr>
            <a:picLocks noChangeAspect="1"/>
          </p:cNvPicPr>
          <p:nvPr/>
        </p:nvPicPr>
        <p:blipFill>
          <a:blip r:embed="rId6"/>
          <a:stretch>
            <a:fillRect/>
          </a:stretch>
        </p:blipFill>
        <p:spPr>
          <a:xfrm>
            <a:off x="868680" y="5550408"/>
            <a:ext cx="219456" cy="219456"/>
          </a:xfrm>
          <a:prstGeom prst="rect">
            <a:avLst/>
          </a:prstGeom>
        </p:spPr>
      </p:pic>
      <p:sp>
        <p:nvSpPr>
          <p:cNvPr id="34" name="Text 25"/>
          <p:cNvSpPr txBox="1"/>
          <p:nvPr/>
        </p:nvSpPr>
        <p:spPr>
          <a:xfrm>
            <a:off x="1417320" y="5266944"/>
            <a:ext cx="2468880" cy="786384"/>
          </a:xfrm>
          <a:prstGeom prst="rect">
            <a:avLst/>
          </a:prstGeom>
          <a:noFill/>
          <a:ln/>
        </p:spPr>
        <p:txBody>
          <a:bodyPr wrap="square" lIns="0" tIns="0" rIns="0" bIns="0" rtlCol="0" anchor="ctr"/>
          <a:lstStyle/>
          <a:p>
            <a:pPr indent="0" marL="0">
              <a:buNone/>
            </a:pPr>
            <a:r>
              <a:rPr lang="en-US" sz="1500" b="1" dirty="0">
                <a:solidFill>
                  <a:srgbClr val="E9EDF5"/>
                </a:solidFill>
                <a:latin typeface="Calibri" pitchFamily="34" charset="0"/>
                <a:ea typeface="Calibri" pitchFamily="34" charset="-122"/>
                <a:cs typeface="Calibri" pitchFamily="34" charset="-120"/>
              </a:rPr>
              <a:t>Matrices</a:t>
            </a:r>
            <a:endParaRPr lang="en-US" sz="1500" dirty="0"/>
          </a:p>
        </p:txBody>
      </p:sp>
      <p:sp>
        <p:nvSpPr>
          <p:cNvPr id="35" name="Text 26"/>
          <p:cNvSpPr txBox="1"/>
          <p:nvPr/>
        </p:nvSpPr>
        <p:spPr>
          <a:xfrm>
            <a:off x="3931920" y="5266944"/>
            <a:ext cx="7543800" cy="786384"/>
          </a:xfrm>
          <a:prstGeom prst="rect">
            <a:avLst/>
          </a:prstGeom>
          <a:noFill/>
          <a:ln/>
        </p:spPr>
        <p:txBody>
          <a:bodyPr wrap="square" lIns="0" tIns="0" rIns="0" bIns="0" rtlCol="0" anchor="ctr"/>
          <a:lstStyle/>
          <a:p>
            <a:pPr indent="0" marL="0">
              <a:buNone/>
            </a:pPr>
            <a:r>
              <a:rPr lang="en-US" sz="1400" dirty="0">
                <a:solidFill>
                  <a:srgbClr val="C3CCDC"/>
                </a:solidFill>
                <a:latin typeface="Calibri" pitchFamily="34" charset="0"/>
                <a:ea typeface="Calibri" pitchFamily="34" charset="-122"/>
                <a:cs typeface="Calibri" pitchFamily="34" charset="-120"/>
              </a:rPr>
              <a:t>D, τ, Δτ are </a:t>
            </a:r>
            <a:pPr indent="0" marL="0">
              <a:buNone/>
            </a:pPr>
            <a:r>
              <a:rPr lang="en-US" sz="1400" dirty="0">
                <a:solidFill>
                  <a:srgbClr val="F2D08A"/>
                </a:solidFill>
                <a:latin typeface="Consolas" pitchFamily="34" charset="0"/>
                <a:ea typeface="Consolas" pitchFamily="34" charset="-122"/>
                <a:cs typeface="Consolas" pitchFamily="34" charset="-120"/>
              </a:rPr>
              <a:t>dense::DblMatrix</a:t>
            </a:r>
            <a:pPr indent="0" marL="0">
              <a:buNone/>
            </a:pPr>
            <a:r>
              <a:rPr lang="en-US" sz="1400" dirty="0">
                <a:solidFill>
                  <a:srgbClr val="C3CCDC"/>
                </a:solidFill>
                <a:latin typeface="Calibri" pitchFamily="34" charset="0"/>
                <a:ea typeface="Calibri" pitchFamily="34" charset="-122"/>
                <a:cs typeface="Calibri" pitchFamily="34" charset="-120"/>
              </a:rPr>
              <a:t>; evaporation and apply are library operators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04 · VERIFICATION &amp; RESULTS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Independent Numerical Check — Results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Within 0.68% of the true optimum on average, and never worse than the greedy baseline.</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Verification &amp; Results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18 / 23</a:t>
            </a:r>
            <a:endParaRPr lang="en-US" sz="900" dirty="0"/>
          </a:p>
        </p:txBody>
      </p:sp>
      <p:sp>
        <p:nvSpPr>
          <p:cNvPr id="11" name="Shape 7"/>
          <p:cNvSpPr/>
          <p:nvPr/>
        </p:nvSpPr>
        <p:spPr>
          <a:xfrm>
            <a:off x="548640" y="1572768"/>
            <a:ext cx="11109960" cy="512064"/>
          </a:xfrm>
          <a:prstGeom prst="roundRect">
            <a:avLst>
              <a:gd name="adj" fmla="val 14286"/>
            </a:avLst>
          </a:prstGeom>
          <a:solidFill>
            <a:srgbClr val="141B2B"/>
          </a:solidFill>
          <a:ln w="9525">
            <a:solidFill>
              <a:srgbClr val="2A3550"/>
            </a:solidFill>
            <a:prstDash val="solid"/>
          </a:ln>
        </p:spPr>
      </p:sp>
      <p:sp>
        <p:nvSpPr>
          <p:cNvPr id="12" name="Text 8"/>
          <p:cNvSpPr txBox="1"/>
          <p:nvPr/>
        </p:nvSpPr>
        <p:spPr>
          <a:xfrm>
            <a:off x="731520" y="1572768"/>
            <a:ext cx="10789920" cy="512064"/>
          </a:xfrm>
          <a:prstGeom prst="rect">
            <a:avLst/>
          </a:prstGeom>
          <a:noFill/>
          <a:ln/>
        </p:spPr>
        <p:txBody>
          <a:bodyPr wrap="square" lIns="0" tIns="0" rIns="0" bIns="0" rtlCol="0" anchor="ctr"/>
          <a:lstStyle/>
          <a:p>
            <a:pPr indent="0" marL="0">
              <a:buNone/>
            </a:pPr>
            <a:r>
              <a:rPr lang="en-US" sz="1050" b="1" spc="200" kern="0" dirty="0">
                <a:solidFill>
                  <a:srgbClr val="F39C34"/>
                </a:solidFill>
                <a:latin typeface="Calibri" pitchFamily="34" charset="0"/>
                <a:ea typeface="Calibri" pitchFamily="34" charset="-122"/>
                <a:cs typeface="Calibri" pitchFamily="34" charset="-120"/>
              </a:rPr>
              <a:t>SETUP  </a:t>
            </a:r>
            <a:pPr indent="0" marL="0">
              <a:buNone/>
            </a:pPr>
            <a:r>
              <a:rPr lang="en-US" sz="1050" dirty="0">
                <a:solidFill>
                  <a:srgbClr val="C3CCDC"/>
                </a:solidFill>
                <a:latin typeface="Calibri" pitchFamily="34" charset="0"/>
                <a:ea typeface="Calibri" pitchFamily="34" charset="-122"/>
                <a:cs typeface="Calibri" pitchFamily="34" charset="-120"/>
              </a:rPr>
              <a:t>Faithful C++ re-implementation (same RNG streams, same float/double types) · real Bosnia.xml · defaults m=20, 100 iter, α=1, β=3, ρ=0.5, Q=100, τ₀=1 · 30 instances (seeds 1–30) · Held–Karp optimum for n ≤ 20 (18 instances)</a:t>
            </a:r>
            <a:endParaRPr lang="en-US" sz="1050" dirty="0"/>
          </a:p>
        </p:txBody>
      </p:sp>
      <p:sp>
        <p:nvSpPr>
          <p:cNvPr id="13" name="Shape 9"/>
          <p:cNvSpPr/>
          <p:nvPr/>
        </p:nvSpPr>
        <p:spPr>
          <a:xfrm>
            <a:off x="548640" y="2212848"/>
            <a:ext cx="5440680" cy="3246120"/>
          </a:xfrm>
          <a:prstGeom prst="roundRect">
            <a:avLst>
              <a:gd name="adj" fmla="val 2254"/>
            </a:avLst>
          </a:prstGeom>
          <a:solidFill>
            <a:srgbClr val="182033"/>
          </a:solidFill>
          <a:ln w="9525">
            <a:solidFill>
              <a:srgbClr val="2A3550"/>
            </a:solidFill>
            <a:prstDash val="solid"/>
          </a:ln>
        </p:spPr>
      </p:sp>
      <p:graphicFrame>
        <p:nvGraphicFramePr>
          <p:cNvPr id="14" name="Chart 0" descr=""/>
          <p:cNvGraphicFramePr/>
          <p:nvPr/>
        </p:nvGraphicFramePr>
        <p:xfrm>
          <a:off x="640080" y="2286000"/>
          <a:ext cx="5257800" cy="3108960"/>
        </p:xfrm>
        <a:graphic xmlns:a="http://schemas.openxmlformats.org/drawingml/2006/main">
          <a:graphicData uri="http://schemas.openxmlformats.org/drawingml/2006/chart">
            <c:chart xmlns:c="http://schemas.openxmlformats.org/drawingml/2006/chart" r:id="rId2"/>
          </a:graphicData>
        </a:graphic>
      </p:graphicFrame>
      <p:sp>
        <p:nvSpPr>
          <p:cNvPr id="15" name="Shape 10"/>
          <p:cNvSpPr/>
          <p:nvPr/>
        </p:nvSpPr>
        <p:spPr>
          <a:xfrm>
            <a:off x="548640" y="5577840"/>
            <a:ext cx="1463040" cy="658368"/>
          </a:xfrm>
          <a:prstGeom prst="roundRect">
            <a:avLst>
              <a:gd name="adj" fmla="val 11111"/>
            </a:avLst>
          </a:prstGeom>
          <a:solidFill>
            <a:srgbClr val="182033"/>
          </a:solidFill>
          <a:ln w="9525">
            <a:solidFill>
              <a:srgbClr val="2A3550"/>
            </a:solidFill>
            <a:prstDash val="solid"/>
          </a:ln>
        </p:spPr>
      </p:sp>
      <p:sp>
        <p:nvSpPr>
          <p:cNvPr id="16" name="Text 11"/>
          <p:cNvSpPr txBox="1"/>
          <p:nvPr/>
        </p:nvSpPr>
        <p:spPr>
          <a:xfrm>
            <a:off x="658368" y="5605272"/>
            <a:ext cx="1243584"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10 / 18</a:t>
            </a:r>
            <a:endParaRPr lang="en-US" sz="1500" dirty="0"/>
          </a:p>
        </p:txBody>
      </p:sp>
      <p:sp>
        <p:nvSpPr>
          <p:cNvPr id="17" name="Text 12"/>
          <p:cNvSpPr txBox="1"/>
          <p:nvPr/>
        </p:nvSpPr>
        <p:spPr>
          <a:xfrm>
            <a:off x="658368" y="5916168"/>
            <a:ext cx="1243584" cy="274320"/>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Optimum found</a:t>
            </a:r>
            <a:endParaRPr lang="en-US" sz="900" dirty="0"/>
          </a:p>
        </p:txBody>
      </p:sp>
      <p:sp>
        <p:nvSpPr>
          <p:cNvPr id="18" name="Shape 13"/>
          <p:cNvSpPr/>
          <p:nvPr/>
        </p:nvSpPr>
        <p:spPr>
          <a:xfrm>
            <a:off x="2103120" y="5577840"/>
            <a:ext cx="2057400" cy="658368"/>
          </a:xfrm>
          <a:prstGeom prst="roundRect">
            <a:avLst>
              <a:gd name="adj" fmla="val 11111"/>
            </a:avLst>
          </a:prstGeom>
          <a:solidFill>
            <a:srgbClr val="182033"/>
          </a:solidFill>
          <a:ln w="9525">
            <a:solidFill>
              <a:srgbClr val="2A3550"/>
            </a:solidFill>
            <a:prstDash val="solid"/>
          </a:ln>
        </p:spPr>
      </p:sp>
      <p:sp>
        <p:nvSpPr>
          <p:cNvPr id="19" name="Text 14"/>
          <p:cNvSpPr txBox="1"/>
          <p:nvPr/>
        </p:nvSpPr>
        <p:spPr>
          <a:xfrm>
            <a:off x="2212848" y="5605272"/>
            <a:ext cx="1837944"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+6.0%</a:t>
            </a:r>
            <a:endParaRPr lang="en-US" sz="1500" dirty="0"/>
          </a:p>
        </p:txBody>
      </p:sp>
      <p:sp>
        <p:nvSpPr>
          <p:cNvPr id="20" name="Text 15"/>
          <p:cNvSpPr txBox="1"/>
          <p:nvPr/>
        </p:nvSpPr>
        <p:spPr>
          <a:xfrm>
            <a:off x="2212848" y="5916168"/>
            <a:ext cx="1837944" cy="274320"/>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Mean improvement over NN (all 30)</a:t>
            </a:r>
            <a:endParaRPr lang="en-US" sz="900" dirty="0"/>
          </a:p>
        </p:txBody>
      </p:sp>
      <p:sp>
        <p:nvSpPr>
          <p:cNvPr id="21" name="Shape 16"/>
          <p:cNvSpPr/>
          <p:nvPr/>
        </p:nvSpPr>
        <p:spPr>
          <a:xfrm>
            <a:off x="4251960" y="5577840"/>
            <a:ext cx="1737360" cy="658368"/>
          </a:xfrm>
          <a:prstGeom prst="roundRect">
            <a:avLst>
              <a:gd name="adj" fmla="val 11111"/>
            </a:avLst>
          </a:prstGeom>
          <a:solidFill>
            <a:srgbClr val="182033"/>
          </a:solidFill>
          <a:ln w="9525">
            <a:solidFill>
              <a:srgbClr val="2A3550"/>
            </a:solidFill>
            <a:prstDash val="solid"/>
          </a:ln>
        </p:spPr>
      </p:sp>
      <p:sp>
        <p:nvSpPr>
          <p:cNvPr id="22" name="Text 17"/>
          <p:cNvSpPr txBox="1"/>
          <p:nvPr/>
        </p:nvSpPr>
        <p:spPr>
          <a:xfrm>
            <a:off x="4361688" y="5605272"/>
            <a:ext cx="1517904" cy="329184"/>
          </a:xfrm>
          <a:prstGeom prst="rect">
            <a:avLst/>
          </a:prstGeom>
          <a:noFill/>
          <a:ln/>
        </p:spPr>
        <p:txBody>
          <a:bodyPr wrap="square" lIns="0" tIns="0" rIns="0" bIns="0" rtlCol="0" anchor="ctr"/>
          <a:lstStyle/>
          <a:p>
            <a:pPr indent="0" marL="0">
              <a:buNone/>
            </a:pPr>
            <a:r>
              <a:rPr lang="en-US" sz="1500" b="1" dirty="0">
                <a:solidFill>
                  <a:srgbClr val="F39C34"/>
                </a:solidFill>
                <a:latin typeface="Calibri" pitchFamily="34" charset="0"/>
                <a:ea typeface="Calibri" pitchFamily="34" charset="-122"/>
                <a:cs typeface="Calibri" pitchFamily="34" charset="-120"/>
              </a:rPr>
              <a:t>+0.0% to +16.4%</a:t>
            </a:r>
            <a:endParaRPr lang="en-US" sz="1500" dirty="0"/>
          </a:p>
        </p:txBody>
      </p:sp>
      <p:sp>
        <p:nvSpPr>
          <p:cNvPr id="23" name="Text 18"/>
          <p:cNvSpPr txBox="1"/>
          <p:nvPr/>
        </p:nvSpPr>
        <p:spPr>
          <a:xfrm>
            <a:off x="4361688" y="5916168"/>
            <a:ext cx="1517904" cy="274320"/>
          </a:xfrm>
          <a:prstGeom prst="rect">
            <a:avLst/>
          </a:prstGeom>
          <a:noFill/>
          <a:ln/>
        </p:spPr>
        <p:txBody>
          <a:bodyPr wrap="square" lIns="0" tIns="0" rIns="0" bIns="0" rtlCol="0" anchor="ctr"/>
          <a:lstStyle/>
          <a:p>
            <a:pPr indent="0" marL="0">
              <a:buNone/>
            </a:pPr>
            <a:r>
              <a:rPr lang="en-US" sz="900" dirty="0">
                <a:solidFill>
                  <a:srgbClr val="8A96AD"/>
                </a:solidFill>
                <a:latin typeface="Calibri" pitchFamily="34" charset="0"/>
                <a:ea typeface="Calibri" pitchFamily="34" charset="-122"/>
                <a:cs typeface="Calibri" pitchFamily="34" charset="-120"/>
              </a:rPr>
              <a:t>Range</a:t>
            </a:r>
            <a:endParaRPr lang="en-US" sz="900" dirty="0"/>
          </a:p>
        </p:txBody>
      </p:sp>
      <p:sp>
        <p:nvSpPr>
          <p:cNvPr id="24" name="Shape 19"/>
          <p:cNvSpPr/>
          <p:nvPr/>
        </p:nvSpPr>
        <p:spPr>
          <a:xfrm>
            <a:off x="6172200" y="2212848"/>
            <a:ext cx="5486400" cy="3611880"/>
          </a:xfrm>
          <a:prstGeom prst="roundRect">
            <a:avLst>
              <a:gd name="adj" fmla="val 2025"/>
            </a:avLst>
          </a:prstGeom>
          <a:solidFill>
            <a:srgbClr val="182033"/>
          </a:solidFill>
          <a:ln w="9525">
            <a:solidFill>
              <a:srgbClr val="2A3550"/>
            </a:solidFill>
            <a:prstDash val="solid"/>
          </a:ln>
        </p:spPr>
      </p:sp>
      <p:graphicFrame>
        <p:nvGraphicFramePr>
          <p:cNvPr id="25" name="Chart 1" descr=""/>
          <p:cNvGraphicFramePr/>
          <p:nvPr/>
        </p:nvGraphicFramePr>
        <p:xfrm>
          <a:off x="6217920" y="2267712"/>
          <a:ext cx="5394960" cy="3520440"/>
        </p:xfrm>
        <a:graphic xmlns:a="http://schemas.openxmlformats.org/drawingml/2006/main">
          <a:graphicData uri="http://schemas.openxmlformats.org/drawingml/2006/chart">
            <c:chart xmlns:c="http://schemas.openxmlformats.org/drawingml/2006/chart" r:id="rId3"/>
          </a:graphicData>
        </a:graphic>
      </p:graphicFrame>
      <p:sp>
        <p:nvSpPr>
          <p:cNvPr id="26" name="Text 20"/>
          <p:cNvSpPr txBox="1"/>
          <p:nvPr/>
        </p:nvSpPr>
        <p:spPr>
          <a:xfrm>
            <a:off x="6172200" y="5897880"/>
            <a:ext cx="5486400" cy="320040"/>
          </a:xfrm>
          <a:prstGeom prst="rect">
            <a:avLst/>
          </a:prstGeom>
          <a:noFill/>
          <a:ln/>
        </p:spPr>
        <p:txBody>
          <a:bodyPr wrap="square" lIns="0" tIns="0" rIns="0" bIns="0" rtlCol="0" anchor="ctr"/>
          <a:lstStyle/>
          <a:p>
            <a:pPr algn="ctr" indent="0" marL="0">
              <a:buNone/>
            </a:pPr>
            <a:r>
              <a:rPr lang="en-US" sz="1100" i="1" dirty="0">
                <a:solidFill>
                  <a:srgbClr val="8A96AD"/>
                </a:solidFill>
                <a:latin typeface="Calibri" pitchFamily="34" charset="0"/>
                <a:ea typeface="Calibri" pitchFamily="34" charset="-122"/>
                <a:cs typeface="Calibri" pitchFamily="34" charset="-120"/>
              </a:rPr>
              <a:t>best 920.5 km at iter 38 — 0.05% above optimum; NN 11.8% above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420"/>
        </a:solidFill>
      </p:bgPr>
    </p:bg>
    <p:spTree>
      <p:nvGrpSpPr>
        <p:cNvPr id="1" name=""/>
        <p:cNvGrpSpPr/>
        <p:nvPr/>
      </p:nvGrpSpPr>
      <p:grpSpPr>
        <a:xfrm>
          <a:off x="0" y="0"/>
          <a:ext cx="0" cy="0"/>
          <a:chOff x="0" y="0"/>
          <a:chExt cx="0" cy="0"/>
        </a:xfrm>
      </p:grpSpPr>
      <p:pic>
        <p:nvPicPr>
          <p:cNvPr id="3" name="Image 0" descr="img/decor2.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85800" y="1234440"/>
            <a:ext cx="3657600" cy="1737360"/>
          </a:xfrm>
          <a:prstGeom prst="rect">
            <a:avLst/>
          </a:prstGeom>
          <a:noFill/>
          <a:ln/>
        </p:spPr>
        <p:txBody>
          <a:bodyPr wrap="square" lIns="0" tIns="0" rIns="0" bIns="0" rtlCol="0" anchor="ctr"/>
          <a:lstStyle/>
          <a:p>
            <a:pPr indent="0" marL="0">
              <a:buNone/>
            </a:pPr>
            <a:r>
              <a:rPr lang="en-US" sz="13000" b="1" dirty="0">
                <a:solidFill>
                  <a:srgbClr val="F39C34"/>
                </a:solidFill>
                <a:latin typeface="Calibri" pitchFamily="34" charset="0"/>
                <a:ea typeface="Calibri" pitchFamily="34" charset="-122"/>
                <a:cs typeface="Calibri" pitchFamily="34" charset="-120"/>
              </a:rPr>
              <a:t>05</a:t>
            </a:r>
            <a:endParaRPr lang="en-US" sz="13000" dirty="0"/>
          </a:p>
        </p:txBody>
      </p:sp>
      <p:sp>
        <p:nvSpPr>
          <p:cNvPr id="5" name="Text 1"/>
          <p:cNvSpPr txBox="1"/>
          <p:nvPr/>
        </p:nvSpPr>
        <p:spPr>
          <a:xfrm>
            <a:off x="731520" y="3063240"/>
            <a:ext cx="4572000" cy="274320"/>
          </a:xfrm>
          <a:prstGeom prst="rect">
            <a:avLst/>
          </a:prstGeom>
          <a:noFill/>
          <a:ln/>
        </p:spPr>
        <p:txBody>
          <a:bodyPr wrap="square" lIns="0" tIns="0" rIns="0" bIns="0" rtlCol="0" anchor="t"/>
          <a:lstStyle/>
          <a:p>
            <a:pPr indent="0" marL="0">
              <a:buNone/>
            </a:pPr>
            <a:r>
              <a:rPr lang="en-US" sz="1100" b="1" spc="300" kern="0" dirty="0">
                <a:solidFill>
                  <a:srgbClr val="8A96AD"/>
                </a:solidFill>
                <a:latin typeface="Calibri" pitchFamily="34" charset="0"/>
                <a:ea typeface="Calibri" pitchFamily="34" charset="-122"/>
                <a:cs typeface="Calibri" pitchFamily="34" charset="-120"/>
              </a:rPr>
              <a:t>SECTION 05</a:t>
            </a:r>
            <a:endParaRPr lang="en-US" sz="1100" dirty="0"/>
          </a:p>
        </p:txBody>
      </p:sp>
      <p:sp>
        <p:nvSpPr>
          <p:cNvPr id="6" name="Text 2"/>
          <p:cNvSpPr txBox="1"/>
          <p:nvPr/>
        </p:nvSpPr>
        <p:spPr>
          <a:xfrm>
            <a:off x="731520" y="3383280"/>
            <a:ext cx="5943600" cy="1280160"/>
          </a:xfrm>
          <a:prstGeom prst="rect">
            <a:avLst/>
          </a:prstGeom>
          <a:noFill/>
          <a:ln/>
        </p:spPr>
        <p:txBody>
          <a:bodyPr wrap="square" lIns="0" tIns="0" rIns="0" bIns="0" rtlCol="0" anchor="t"/>
          <a:lstStyle/>
          <a:p>
            <a:pPr indent="0" marL="0">
              <a:buNone/>
            </a:pPr>
            <a:r>
              <a:rPr lang="en-US" sz="3200" b="1" dirty="0">
                <a:solidFill>
                  <a:srgbClr val="E9EDF5"/>
                </a:solidFill>
                <a:latin typeface="Calibri" pitchFamily="34" charset="0"/>
                <a:ea typeface="Calibri" pitchFamily="34" charset="-122"/>
                <a:cs typeface="Calibri" pitchFamily="34" charset="-120"/>
              </a:rPr>
              <a:t>Features, Limitations &amp; Conclusions</a:t>
            </a:r>
            <a:endParaRPr lang="en-US" sz="3200" dirty="0"/>
          </a:p>
        </p:txBody>
      </p:sp>
      <p:sp>
        <p:nvSpPr>
          <p:cNvPr id="7" name="Text 3"/>
          <p:cNvSpPr txBox="1"/>
          <p:nvPr/>
        </p:nvSpPr>
        <p:spPr>
          <a:xfrm>
            <a:off x="731520" y="4800600"/>
            <a:ext cx="5669280" cy="731520"/>
          </a:xfrm>
          <a:prstGeom prst="rect">
            <a:avLst/>
          </a:prstGeom>
          <a:noFill/>
          <a:ln/>
        </p:spPr>
        <p:txBody>
          <a:bodyPr wrap="square" lIns="0" tIns="0" rIns="0" bIns="0" rtlCol="0" anchor="t"/>
          <a:lstStyle/>
          <a:p>
            <a:pPr indent="0" marL="0">
              <a:buNone/>
            </a:pPr>
            <a:r>
              <a:rPr lang="en-US" sz="1600" dirty="0">
                <a:solidFill>
                  <a:srgbClr val="C3CCDC"/>
                </a:solidFill>
                <a:latin typeface="Calibri" pitchFamily="34" charset="0"/>
                <a:ea typeface="Calibri" pitchFamily="34" charset="-122"/>
                <a:cs typeface="Calibri" pitchFamily="34" charset="-120"/>
              </a:rPr>
              <a:t>What shipped, how it maps to the proposal, and what it taught me</a:t>
            </a:r>
            <a:endParaRPr lang="en-US" sz="1600" dirty="0"/>
          </a:p>
        </p:txBody>
      </p:sp>
      <p:sp>
        <p:nvSpPr>
          <p:cNvPr id="8" name="Shape 4"/>
          <p:cNvSpPr/>
          <p:nvPr/>
        </p:nvSpPr>
        <p:spPr>
          <a:xfrm>
            <a:off x="6949440" y="2258568"/>
            <a:ext cx="4663440" cy="2340864"/>
          </a:xfrm>
          <a:prstGeom prst="roundRect">
            <a:avLst>
              <a:gd name="adj" fmla="val 3125"/>
            </a:avLst>
          </a:prstGeom>
          <a:solidFill>
            <a:srgbClr val="182033"/>
          </a:solidFill>
          <a:ln w="9525">
            <a:solidFill>
              <a:srgbClr val="2A3550"/>
            </a:solidFill>
            <a:prstDash val="solid"/>
          </a:ln>
        </p:spPr>
      </p:sp>
      <p:sp>
        <p:nvSpPr>
          <p:cNvPr id="9" name="Text 5"/>
          <p:cNvSpPr txBox="1"/>
          <p:nvPr/>
        </p:nvSpPr>
        <p:spPr>
          <a:xfrm>
            <a:off x="7269480" y="2487168"/>
            <a:ext cx="2743200" cy="228600"/>
          </a:xfrm>
          <a:prstGeom prst="rect">
            <a:avLst/>
          </a:prstGeom>
          <a:noFill/>
          <a:ln/>
        </p:spPr>
        <p:txBody>
          <a:bodyPr wrap="square" lIns="0" tIns="0" rIns="0" bIns="0" rtlCol="0" anchor="t"/>
          <a:lstStyle/>
          <a:p>
            <a:pPr indent="0" marL="0">
              <a:buNone/>
            </a:pPr>
            <a:r>
              <a:rPr lang="en-US" sz="1000" b="1" spc="300" kern="0" dirty="0">
                <a:solidFill>
                  <a:srgbClr val="8A96AD"/>
                </a:solidFill>
                <a:latin typeface="Calibri" pitchFamily="34" charset="0"/>
                <a:ea typeface="Calibri" pitchFamily="34" charset="-122"/>
                <a:cs typeface="Calibri" pitchFamily="34" charset="-120"/>
              </a:rPr>
              <a:t>AGENDA</a:t>
            </a:r>
            <a:endParaRPr lang="en-US" sz="1000" dirty="0"/>
          </a:p>
        </p:txBody>
      </p:sp>
      <p:sp>
        <p:nvSpPr>
          <p:cNvPr id="10" name="Shape 6"/>
          <p:cNvSpPr/>
          <p:nvPr/>
        </p:nvSpPr>
        <p:spPr>
          <a:xfrm>
            <a:off x="7287768" y="3008376"/>
            <a:ext cx="100584" cy="100584"/>
          </a:xfrm>
          <a:prstGeom prst="rect">
            <a:avLst/>
          </a:prstGeom>
          <a:solidFill>
            <a:srgbClr val="F39C34"/>
          </a:solidFill>
          <a:ln w="12700">
            <a:solidFill>
              <a:srgbClr val="F39C34"/>
            </a:solidFill>
            <a:prstDash val="solid"/>
          </a:ln>
        </p:spPr>
      </p:sp>
      <p:sp>
        <p:nvSpPr>
          <p:cNvPr id="11" name="Text 7"/>
          <p:cNvSpPr txBox="1"/>
          <p:nvPr/>
        </p:nvSpPr>
        <p:spPr>
          <a:xfrm>
            <a:off x="7589520" y="2825496"/>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Proposal vs. delivered</a:t>
            </a:r>
            <a:endParaRPr lang="en-US" sz="1500" dirty="0"/>
          </a:p>
        </p:txBody>
      </p:sp>
      <p:sp>
        <p:nvSpPr>
          <p:cNvPr id="12" name="Shape 8"/>
          <p:cNvSpPr/>
          <p:nvPr/>
        </p:nvSpPr>
        <p:spPr>
          <a:xfrm>
            <a:off x="7287768" y="3575304"/>
            <a:ext cx="100584" cy="100584"/>
          </a:xfrm>
          <a:prstGeom prst="rect">
            <a:avLst/>
          </a:prstGeom>
          <a:solidFill>
            <a:srgbClr val="F39C34"/>
          </a:solidFill>
          <a:ln w="12700">
            <a:solidFill>
              <a:srgbClr val="F39C34"/>
            </a:solidFill>
            <a:prstDash val="solid"/>
          </a:ln>
        </p:spPr>
      </p:sp>
      <p:sp>
        <p:nvSpPr>
          <p:cNvPr id="13" name="Text 9"/>
          <p:cNvSpPr txBox="1"/>
          <p:nvPr/>
        </p:nvSpPr>
        <p:spPr>
          <a:xfrm>
            <a:off x="7589520" y="3392424"/>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Tech stack &amp; known limitations</a:t>
            </a:r>
            <a:endParaRPr lang="en-US" sz="1500" dirty="0"/>
          </a:p>
        </p:txBody>
      </p:sp>
      <p:sp>
        <p:nvSpPr>
          <p:cNvPr id="14" name="Shape 10"/>
          <p:cNvSpPr/>
          <p:nvPr/>
        </p:nvSpPr>
        <p:spPr>
          <a:xfrm>
            <a:off x="7287768" y="4142232"/>
            <a:ext cx="100584" cy="100584"/>
          </a:xfrm>
          <a:prstGeom prst="rect">
            <a:avLst/>
          </a:prstGeom>
          <a:solidFill>
            <a:srgbClr val="F39C34"/>
          </a:solidFill>
          <a:ln w="12700">
            <a:solidFill>
              <a:srgbClr val="F39C34"/>
            </a:solidFill>
            <a:prstDash val="solid"/>
          </a:ln>
        </p:spPr>
      </p:sp>
      <p:sp>
        <p:nvSpPr>
          <p:cNvPr id="15" name="Text 11"/>
          <p:cNvSpPr txBox="1"/>
          <p:nvPr/>
        </p:nvSpPr>
        <p:spPr>
          <a:xfrm>
            <a:off x="7589520" y="3959352"/>
            <a:ext cx="3840480" cy="457200"/>
          </a:xfrm>
          <a:prstGeom prst="rect">
            <a:avLst/>
          </a:prstGeom>
          <a:noFill/>
          <a:ln/>
        </p:spPr>
        <p:txBody>
          <a:bodyPr wrap="square" lIns="0" tIns="0" rIns="0" bIns="0" rtlCol="0" anchor="ctr"/>
          <a:lstStyle/>
          <a:p>
            <a:pPr indent="0" marL="0">
              <a:buNone/>
            </a:pPr>
            <a:r>
              <a:rPr lang="en-US" sz="1500" dirty="0">
                <a:solidFill>
                  <a:srgbClr val="E9EDF5"/>
                </a:solidFill>
                <a:latin typeface="Calibri" pitchFamily="34" charset="0"/>
                <a:ea typeface="Calibri" pitchFamily="34" charset="-122"/>
                <a:cs typeface="Calibri" pitchFamily="34" charset="-120"/>
              </a:rPr>
              <a:t>Lessons learned &amp; future work</a:t>
            </a:r>
            <a:endParaRPr lang="en-US" sz="1500" dirty="0"/>
          </a:p>
        </p:txBody>
      </p:sp>
      <p:sp>
        <p:nvSpPr>
          <p:cNvPr id="16" name="Text 12"/>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19 / 23</a:t>
            </a:r>
            <a:endParaRPr lang="en-US" sz="900" dirty="0"/>
          </a:p>
        </p:txBody>
      </p:sp>
      <p:sp>
        <p:nvSpPr>
          <p:cNvPr id="17" name="Text 13"/>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05 · FEATURES, LIMITATIONS &amp; CONCLUSIONS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Proposal vs. Delivered</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 proposal item delivered, plus additions.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Limitations &amp; Conclusions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20 / 23</a:t>
            </a:r>
            <a:endParaRPr lang="en-US" sz="900" dirty="0"/>
          </a:p>
        </p:txBody>
      </p:sp>
      <p:sp>
        <p:nvSpPr>
          <p:cNvPr id="11" name="Shape 7"/>
          <p:cNvSpPr/>
          <p:nvPr/>
        </p:nvSpPr>
        <p:spPr>
          <a:xfrm>
            <a:off x="548640" y="1572768"/>
            <a:ext cx="5440680" cy="4160520"/>
          </a:xfrm>
          <a:prstGeom prst="roundRect">
            <a:avLst>
              <a:gd name="adj" fmla="val 1758"/>
            </a:avLst>
          </a:prstGeom>
          <a:solidFill>
            <a:srgbClr val="182033"/>
          </a:solidFill>
          <a:ln w="9525">
            <a:solidFill>
              <a:srgbClr val="2A3550"/>
            </a:solidFill>
            <a:prstDash val="solid"/>
          </a:ln>
        </p:spPr>
      </p:sp>
      <p:sp>
        <p:nvSpPr>
          <p:cNvPr id="12" name="Text 8"/>
          <p:cNvSpPr txBox="1"/>
          <p:nvPr/>
        </p:nvSpPr>
        <p:spPr>
          <a:xfrm>
            <a:off x="822960" y="1700784"/>
            <a:ext cx="4572000" cy="274320"/>
          </a:xfrm>
          <a:prstGeom prst="rect">
            <a:avLst/>
          </a:prstGeom>
          <a:noFill/>
          <a:ln/>
        </p:spPr>
        <p:txBody>
          <a:bodyPr wrap="square" lIns="0" tIns="0" rIns="0" bIns="0" rtlCol="0" anchor="ctr"/>
          <a:lstStyle/>
          <a:p>
            <a:pPr indent="0" marL="0">
              <a:buNone/>
            </a:pPr>
            <a:r>
              <a:rPr lang="en-US" sz="1150" b="1" spc="250" kern="0" dirty="0">
                <a:solidFill>
                  <a:srgbClr val="4CC38A"/>
                </a:solidFill>
                <a:latin typeface="Calibri" pitchFamily="34" charset="0"/>
                <a:ea typeface="Calibri" pitchFamily="34" charset="-122"/>
                <a:cs typeface="Calibri" pitchFamily="34" charset="-120"/>
              </a:rPr>
              <a:t>PROPOSED</a:t>
            </a:r>
            <a:endParaRPr lang="en-US" sz="1150" dirty="0"/>
          </a:p>
        </p:txBody>
      </p:sp>
      <p:pic>
        <p:nvPicPr>
          <p:cNvPr id="13" name="Image 1" descr="preencoded.png">    </p:cNvPr>
          <p:cNvPicPr>
            <a:picLocks noChangeAspect="1"/>
          </p:cNvPicPr>
          <p:nvPr/>
        </p:nvPicPr>
        <p:blipFill>
          <a:blip r:embed="rId2"/>
          <a:stretch>
            <a:fillRect/>
          </a:stretch>
        </p:blipFill>
        <p:spPr>
          <a:xfrm>
            <a:off x="822960" y="2157984"/>
            <a:ext cx="182880" cy="182880"/>
          </a:xfrm>
          <a:prstGeom prst="rect">
            <a:avLst/>
          </a:prstGeom>
        </p:spPr>
      </p:pic>
      <p:sp>
        <p:nvSpPr>
          <p:cNvPr id="14" name="Text 9"/>
          <p:cNvSpPr txBox="1"/>
          <p:nvPr/>
        </p:nvSpPr>
        <p:spPr>
          <a:xfrm>
            <a:off x="1115568" y="208483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15–25 random cities</a:t>
            </a:r>
            <a:endParaRPr lang="en-US" sz="1150" dirty="0"/>
          </a:p>
        </p:txBody>
      </p:sp>
      <p:pic>
        <p:nvPicPr>
          <p:cNvPr id="15" name="Image 2" descr="preencoded.png">    </p:cNvPr>
          <p:cNvPicPr>
            <a:picLocks noChangeAspect="1"/>
          </p:cNvPicPr>
          <p:nvPr/>
        </p:nvPicPr>
        <p:blipFill>
          <a:blip r:embed="rId3"/>
          <a:stretch>
            <a:fillRect/>
          </a:stretch>
        </p:blipFill>
        <p:spPr>
          <a:xfrm>
            <a:off x="822960" y="2519172"/>
            <a:ext cx="182880" cy="182880"/>
          </a:xfrm>
          <a:prstGeom prst="rect">
            <a:avLst/>
          </a:prstGeom>
        </p:spPr>
      </p:pic>
      <p:sp>
        <p:nvSpPr>
          <p:cNvPr id="16" name="Text 10"/>
          <p:cNvSpPr txBox="1"/>
          <p:nvPr/>
        </p:nvSpPr>
        <p:spPr>
          <a:xfrm>
            <a:off x="1115568" y="244602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N×N distance and pheromone matrices as natID dense matrices</a:t>
            </a:r>
            <a:endParaRPr lang="en-US" sz="1150" dirty="0"/>
          </a:p>
        </p:txBody>
      </p:sp>
      <p:pic>
        <p:nvPicPr>
          <p:cNvPr id="17" name="Image 3" descr="preencoded.png">    </p:cNvPr>
          <p:cNvPicPr>
            <a:picLocks noChangeAspect="1"/>
          </p:cNvPicPr>
          <p:nvPr/>
        </p:nvPicPr>
        <p:blipFill>
          <a:blip r:embed="rId4"/>
          <a:stretch>
            <a:fillRect/>
          </a:stretch>
        </p:blipFill>
        <p:spPr>
          <a:xfrm>
            <a:off x="822960" y="2880360"/>
            <a:ext cx="182880" cy="182880"/>
          </a:xfrm>
          <a:prstGeom prst="rect">
            <a:avLst/>
          </a:prstGeom>
        </p:spPr>
      </p:pic>
      <p:sp>
        <p:nvSpPr>
          <p:cNvPr id="18" name="Text 11"/>
          <p:cNvSpPr txBox="1"/>
          <p:nvPr/>
        </p:nvSpPr>
        <p:spPr>
          <a:xfrm>
            <a:off x="1115568" y="280720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roulette-wheel construction with α, β</a:t>
            </a:r>
            <a:endParaRPr lang="en-US" sz="1150" dirty="0"/>
          </a:p>
        </p:txBody>
      </p:sp>
      <p:pic>
        <p:nvPicPr>
          <p:cNvPr id="19" name="Image 4" descr="preencoded.png">    </p:cNvPr>
          <p:cNvPicPr>
            <a:picLocks noChangeAspect="1"/>
          </p:cNvPicPr>
          <p:nvPr/>
        </p:nvPicPr>
        <p:blipFill>
          <a:blip r:embed="rId5"/>
          <a:stretch>
            <a:fillRect/>
          </a:stretch>
        </p:blipFill>
        <p:spPr>
          <a:xfrm>
            <a:off x="822960" y="3241548"/>
            <a:ext cx="182880" cy="182880"/>
          </a:xfrm>
          <a:prstGeom prst="rect">
            <a:avLst/>
          </a:prstGeom>
        </p:spPr>
      </p:pic>
      <p:sp>
        <p:nvSpPr>
          <p:cNvPr id="20" name="Text 12"/>
          <p:cNvSpPr txBox="1"/>
          <p:nvPr/>
        </p:nvSpPr>
        <p:spPr>
          <a:xfrm>
            <a:off x="1115568" y="316839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evaporation + deposit ∝ 1/L</a:t>
            </a:r>
            <a:endParaRPr lang="en-US" sz="1150" dirty="0"/>
          </a:p>
        </p:txBody>
      </p:sp>
      <p:pic>
        <p:nvPicPr>
          <p:cNvPr id="21" name="Image 5" descr="preencoded.png">    </p:cNvPr>
          <p:cNvPicPr>
            <a:picLocks noChangeAspect="1"/>
          </p:cNvPicPr>
          <p:nvPr/>
        </p:nvPicPr>
        <p:blipFill>
          <a:blip r:embed="rId6"/>
          <a:stretch>
            <a:fillRect/>
          </a:stretch>
        </p:blipFill>
        <p:spPr>
          <a:xfrm>
            <a:off x="822960" y="3602736"/>
            <a:ext cx="182880" cy="182880"/>
          </a:xfrm>
          <a:prstGeom prst="rect">
            <a:avLst/>
          </a:prstGeom>
        </p:spPr>
      </p:pic>
      <p:sp>
        <p:nvSpPr>
          <p:cNvPr id="22" name="Text 13"/>
          <p:cNvSpPr txBox="1"/>
          <p:nvPr/>
        </p:nvSpPr>
        <p:spPr>
          <a:xfrm>
            <a:off x="1115568" y="3529584"/>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constant parameters</a:t>
            </a:r>
            <a:endParaRPr lang="en-US" sz="1150" dirty="0"/>
          </a:p>
        </p:txBody>
      </p:sp>
      <p:pic>
        <p:nvPicPr>
          <p:cNvPr id="23" name="Image 6" descr="preencoded.png">    </p:cNvPr>
          <p:cNvPicPr>
            <a:picLocks noChangeAspect="1"/>
          </p:cNvPicPr>
          <p:nvPr/>
        </p:nvPicPr>
        <p:blipFill>
          <a:blip r:embed="rId7"/>
          <a:stretch>
            <a:fillRect/>
          </a:stretch>
        </p:blipFill>
        <p:spPr>
          <a:xfrm>
            <a:off x="822960" y="3963924"/>
            <a:ext cx="182880" cy="182880"/>
          </a:xfrm>
          <a:prstGeom prst="rect">
            <a:avLst/>
          </a:prstGeom>
        </p:spPr>
      </p:pic>
      <p:sp>
        <p:nvSpPr>
          <p:cNvPr id="24" name="Text 14"/>
          <p:cNvSpPr txBox="1"/>
          <p:nvPr/>
        </p:nvSpPr>
        <p:spPr>
          <a:xfrm>
            <a:off x="1115568" y="389077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background thread from B_S03_Maps</a:t>
            </a:r>
            <a:endParaRPr lang="en-US" sz="1150" dirty="0"/>
          </a:p>
        </p:txBody>
      </p:sp>
      <p:pic>
        <p:nvPicPr>
          <p:cNvPr id="25" name="Image 7" descr="preencoded.png">    </p:cNvPr>
          <p:cNvPicPr>
            <a:picLocks noChangeAspect="1"/>
          </p:cNvPicPr>
          <p:nvPr/>
        </p:nvPicPr>
        <p:blipFill>
          <a:blip r:embed="rId8"/>
          <a:stretch>
            <a:fillRect/>
          </a:stretch>
        </p:blipFill>
        <p:spPr>
          <a:xfrm>
            <a:off x="822960" y="4325112"/>
            <a:ext cx="182880" cy="182880"/>
          </a:xfrm>
          <a:prstGeom prst="rect">
            <a:avLst/>
          </a:prstGeom>
        </p:spPr>
      </p:pic>
      <p:sp>
        <p:nvSpPr>
          <p:cNvPr id="26" name="Text 15"/>
          <p:cNvSpPr txBox="1"/>
          <p:nvPr/>
        </p:nvSpPr>
        <p:spPr>
          <a:xfrm>
            <a:off x="1115568" y="425196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live convergence curve</a:t>
            </a:r>
            <a:endParaRPr lang="en-US" sz="1150" dirty="0"/>
          </a:p>
        </p:txBody>
      </p:sp>
      <p:pic>
        <p:nvPicPr>
          <p:cNvPr id="27" name="Image 8" descr="preencoded.png">    </p:cNvPr>
          <p:cNvPicPr>
            <a:picLocks noChangeAspect="1"/>
          </p:cNvPicPr>
          <p:nvPr/>
        </p:nvPicPr>
        <p:blipFill>
          <a:blip r:embed="rId9"/>
          <a:stretch>
            <a:fillRect/>
          </a:stretch>
        </p:blipFill>
        <p:spPr>
          <a:xfrm>
            <a:off x="822960" y="4686300"/>
            <a:ext cx="182880" cy="182880"/>
          </a:xfrm>
          <a:prstGeom prst="rect">
            <a:avLst/>
          </a:prstGeom>
        </p:spPr>
      </p:pic>
      <p:sp>
        <p:nvSpPr>
          <p:cNvPr id="28" name="Text 16"/>
          <p:cNvSpPr txBox="1"/>
          <p:nvPr/>
        </p:nvSpPr>
        <p:spPr>
          <a:xfrm>
            <a:off x="1115568" y="461314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map with best tour and pheromone edge thickness</a:t>
            </a:r>
            <a:endParaRPr lang="en-US" sz="1150" dirty="0"/>
          </a:p>
        </p:txBody>
      </p:sp>
      <p:pic>
        <p:nvPicPr>
          <p:cNvPr id="29" name="Image 9" descr="preencoded.png">    </p:cNvPr>
          <p:cNvPicPr>
            <a:picLocks noChangeAspect="1"/>
          </p:cNvPicPr>
          <p:nvPr/>
        </p:nvPicPr>
        <p:blipFill>
          <a:blip r:embed="rId10"/>
          <a:stretch>
            <a:fillRect/>
          </a:stretch>
        </p:blipFill>
        <p:spPr>
          <a:xfrm>
            <a:off x="822960" y="5047488"/>
            <a:ext cx="182880" cy="182880"/>
          </a:xfrm>
          <a:prstGeom prst="rect">
            <a:avLst/>
          </a:prstGeom>
        </p:spPr>
      </p:pic>
      <p:sp>
        <p:nvSpPr>
          <p:cNvPr id="30" name="Text 17"/>
          <p:cNvSpPr txBox="1"/>
          <p:nvPr/>
        </p:nvSpPr>
        <p:spPr>
          <a:xfrm>
            <a:off x="1115568" y="497433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sidebar with iteration, best cost, runtime</a:t>
            </a:r>
            <a:endParaRPr lang="en-US" sz="1150" dirty="0"/>
          </a:p>
        </p:txBody>
      </p:sp>
      <p:pic>
        <p:nvPicPr>
          <p:cNvPr id="31" name="Image 10" descr="preencoded.png">    </p:cNvPr>
          <p:cNvPicPr>
            <a:picLocks noChangeAspect="1"/>
          </p:cNvPicPr>
          <p:nvPr/>
        </p:nvPicPr>
        <p:blipFill>
          <a:blip r:embed="rId11"/>
          <a:stretch>
            <a:fillRect/>
          </a:stretch>
        </p:blipFill>
        <p:spPr>
          <a:xfrm>
            <a:off x="822960" y="5408676"/>
            <a:ext cx="182880" cy="182880"/>
          </a:xfrm>
          <a:prstGeom prst="rect">
            <a:avLst/>
          </a:prstGeom>
        </p:spPr>
      </p:pic>
      <p:sp>
        <p:nvSpPr>
          <p:cNvPr id="32" name="Text 18"/>
          <p:cNvSpPr txBox="1"/>
          <p:nvPr/>
        </p:nvSpPr>
        <p:spPr>
          <a:xfrm>
            <a:off x="1115568" y="5335524"/>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Start/Stop/Reset</a:t>
            </a:r>
            <a:endParaRPr lang="en-US" sz="1150" dirty="0"/>
          </a:p>
        </p:txBody>
      </p:sp>
      <p:sp>
        <p:nvSpPr>
          <p:cNvPr id="33" name="Shape 19"/>
          <p:cNvSpPr/>
          <p:nvPr/>
        </p:nvSpPr>
        <p:spPr>
          <a:xfrm>
            <a:off x="6217920" y="1572768"/>
            <a:ext cx="5440680" cy="4160520"/>
          </a:xfrm>
          <a:prstGeom prst="roundRect">
            <a:avLst>
              <a:gd name="adj" fmla="val 1758"/>
            </a:avLst>
          </a:prstGeom>
          <a:solidFill>
            <a:srgbClr val="182033"/>
          </a:solidFill>
          <a:ln w="9525">
            <a:solidFill>
              <a:srgbClr val="5A4424"/>
            </a:solidFill>
            <a:prstDash val="solid"/>
          </a:ln>
        </p:spPr>
      </p:sp>
      <p:sp>
        <p:nvSpPr>
          <p:cNvPr id="34" name="Text 20"/>
          <p:cNvSpPr txBox="1"/>
          <p:nvPr/>
        </p:nvSpPr>
        <p:spPr>
          <a:xfrm>
            <a:off x="6492240" y="1700784"/>
            <a:ext cx="4572000" cy="274320"/>
          </a:xfrm>
          <a:prstGeom prst="rect">
            <a:avLst/>
          </a:prstGeom>
          <a:noFill/>
          <a:ln/>
        </p:spPr>
        <p:txBody>
          <a:bodyPr wrap="square" lIns="0" tIns="0" rIns="0" bIns="0" rtlCol="0" anchor="ctr"/>
          <a:lstStyle/>
          <a:p>
            <a:pPr indent="0" marL="0">
              <a:buNone/>
            </a:pPr>
            <a:r>
              <a:rPr lang="en-US" sz="1150" b="1" spc="250" kern="0" dirty="0">
                <a:solidFill>
                  <a:srgbClr val="F39C34"/>
                </a:solidFill>
                <a:latin typeface="Calibri" pitchFamily="34" charset="0"/>
                <a:ea typeface="Calibri" pitchFamily="34" charset="-122"/>
                <a:cs typeface="Calibri" pitchFamily="34" charset="-120"/>
              </a:rPr>
              <a:t>ADDITIONALLY DELIVERED</a:t>
            </a:r>
            <a:endParaRPr lang="en-US" sz="1150" dirty="0"/>
          </a:p>
        </p:txBody>
      </p:sp>
      <p:pic>
        <p:nvPicPr>
          <p:cNvPr id="35" name="Image 11" descr="preencoded.png">    </p:cNvPr>
          <p:cNvPicPr>
            <a:picLocks noChangeAspect="1"/>
          </p:cNvPicPr>
          <p:nvPr/>
        </p:nvPicPr>
        <p:blipFill>
          <a:blip r:embed="rId12"/>
          <a:stretch>
            <a:fillRect/>
          </a:stretch>
        </p:blipFill>
        <p:spPr>
          <a:xfrm>
            <a:off x="6492240" y="2157984"/>
            <a:ext cx="182880" cy="182880"/>
          </a:xfrm>
          <a:prstGeom prst="rect">
            <a:avLst/>
          </a:prstGeom>
        </p:spPr>
      </p:pic>
      <p:sp>
        <p:nvSpPr>
          <p:cNvPr id="36" name="Text 21"/>
          <p:cNvSpPr txBox="1"/>
          <p:nvPr/>
        </p:nvSpPr>
        <p:spPr>
          <a:xfrm>
            <a:off x="6784848" y="208483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Hamiltonian feasibility check</a:t>
            </a:r>
            <a:endParaRPr lang="en-US" sz="1150" dirty="0"/>
          </a:p>
        </p:txBody>
      </p:sp>
      <p:pic>
        <p:nvPicPr>
          <p:cNvPr id="37" name="Image 12" descr="preencoded.png">    </p:cNvPr>
          <p:cNvPicPr>
            <a:picLocks noChangeAspect="1"/>
          </p:cNvPicPr>
          <p:nvPr/>
        </p:nvPicPr>
        <p:blipFill>
          <a:blip r:embed="rId13"/>
          <a:stretch>
            <a:fillRect/>
          </a:stretch>
        </p:blipFill>
        <p:spPr>
          <a:xfrm>
            <a:off x="6492240" y="2519172"/>
            <a:ext cx="182880" cy="182880"/>
          </a:xfrm>
          <a:prstGeom prst="rect">
            <a:avLst/>
          </a:prstGeom>
        </p:spPr>
      </p:pic>
      <p:sp>
        <p:nvSpPr>
          <p:cNvPr id="38" name="Text 22"/>
          <p:cNvSpPr txBox="1"/>
          <p:nvPr/>
        </p:nvSpPr>
        <p:spPr>
          <a:xfrm>
            <a:off x="6784848" y="244602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separate Δτ matrix</a:t>
            </a:r>
            <a:endParaRPr lang="en-US" sz="1150" dirty="0"/>
          </a:p>
        </p:txBody>
      </p:sp>
      <p:pic>
        <p:nvPicPr>
          <p:cNvPr id="39" name="Image 13" descr="preencoded.png">    </p:cNvPr>
          <p:cNvPicPr>
            <a:picLocks noChangeAspect="1"/>
          </p:cNvPicPr>
          <p:nvPr/>
        </p:nvPicPr>
        <p:blipFill>
          <a:blip r:embed="rId14"/>
          <a:stretch>
            <a:fillRect/>
          </a:stretch>
        </p:blipFill>
        <p:spPr>
          <a:xfrm>
            <a:off x="6492240" y="2880360"/>
            <a:ext cx="182880" cy="182880"/>
          </a:xfrm>
          <a:prstGeom prst="rect">
            <a:avLst/>
          </a:prstGeom>
        </p:spPr>
      </p:pic>
      <p:sp>
        <p:nvSpPr>
          <p:cNvPr id="40" name="Text 23"/>
          <p:cNvSpPr txBox="1"/>
          <p:nvPr/>
        </p:nvSpPr>
        <p:spPr>
          <a:xfrm>
            <a:off x="6784848" y="280720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per-iteration best curve + nearest-neighbour baseline</a:t>
            </a:r>
            <a:endParaRPr lang="en-US" sz="1150" dirty="0"/>
          </a:p>
        </p:txBody>
      </p:sp>
      <p:pic>
        <p:nvPicPr>
          <p:cNvPr id="41" name="Image 14" descr="preencoded.png">    </p:cNvPr>
          <p:cNvPicPr>
            <a:picLocks noChangeAspect="1"/>
          </p:cNvPicPr>
          <p:nvPr/>
        </p:nvPicPr>
        <p:blipFill>
          <a:blip r:embed="rId15"/>
          <a:stretch>
            <a:fillRect/>
          </a:stretch>
        </p:blipFill>
        <p:spPr>
          <a:xfrm>
            <a:off x="6492240" y="3241548"/>
            <a:ext cx="182880" cy="182880"/>
          </a:xfrm>
          <a:prstGeom prst="rect">
            <a:avLst/>
          </a:prstGeom>
        </p:spPr>
      </p:pic>
      <p:sp>
        <p:nvSpPr>
          <p:cNvPr id="42" name="Text 24"/>
          <p:cNvSpPr txBox="1"/>
          <p:nvPr/>
        </p:nvSpPr>
        <p:spPr>
          <a:xfrm>
            <a:off x="6784848" y="316839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All/Threshold pheromone modes</a:t>
            </a:r>
            <a:endParaRPr lang="en-US" sz="1150" dirty="0"/>
          </a:p>
        </p:txBody>
      </p:sp>
      <p:pic>
        <p:nvPicPr>
          <p:cNvPr id="43" name="Image 15" descr="preencoded.png">    </p:cNvPr>
          <p:cNvPicPr>
            <a:picLocks noChangeAspect="1"/>
          </p:cNvPicPr>
          <p:nvPr/>
        </p:nvPicPr>
        <p:blipFill>
          <a:blip r:embed="rId16"/>
          <a:stretch>
            <a:fillRect/>
          </a:stretch>
        </p:blipFill>
        <p:spPr>
          <a:xfrm>
            <a:off x="6492240" y="3602736"/>
            <a:ext cx="182880" cy="182880"/>
          </a:xfrm>
          <a:prstGeom prst="rect">
            <a:avLst/>
          </a:prstGeom>
        </p:spPr>
      </p:pic>
      <p:sp>
        <p:nvSpPr>
          <p:cNvPr id="44" name="Text 25"/>
          <p:cNvSpPr txBox="1"/>
          <p:nvPr/>
        </p:nvSpPr>
        <p:spPr>
          <a:xfrm>
            <a:off x="6784848" y="3529584"/>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seed reproducibility</a:t>
            </a:r>
            <a:endParaRPr lang="en-US" sz="1150" dirty="0"/>
          </a:p>
        </p:txBody>
      </p:sp>
      <p:pic>
        <p:nvPicPr>
          <p:cNvPr id="45" name="Image 16" descr="preencoded.png">    </p:cNvPr>
          <p:cNvPicPr>
            <a:picLocks noChangeAspect="1"/>
          </p:cNvPicPr>
          <p:nvPr/>
        </p:nvPicPr>
        <p:blipFill>
          <a:blip r:embed="rId17"/>
          <a:stretch>
            <a:fillRect/>
          </a:stretch>
        </p:blipFill>
        <p:spPr>
          <a:xfrm>
            <a:off x="6492240" y="3963924"/>
            <a:ext cx="182880" cy="182880"/>
          </a:xfrm>
          <a:prstGeom prst="rect">
            <a:avLst/>
          </a:prstGeom>
        </p:spPr>
      </p:pic>
      <p:sp>
        <p:nvSpPr>
          <p:cNvPr id="46" name="Text 26"/>
          <p:cNvSpPr txBox="1"/>
          <p:nvPr/>
        </p:nvSpPr>
        <p:spPr>
          <a:xfrm>
            <a:off x="6784848" y="3890772"/>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CSV export (series + full instance)</a:t>
            </a:r>
            <a:endParaRPr lang="en-US" sz="1150" dirty="0"/>
          </a:p>
        </p:txBody>
      </p:sp>
      <p:pic>
        <p:nvPicPr>
          <p:cNvPr id="47" name="Image 17" descr="preencoded.png">    </p:cNvPr>
          <p:cNvPicPr>
            <a:picLocks noChangeAspect="1"/>
          </p:cNvPicPr>
          <p:nvPr/>
        </p:nvPicPr>
        <p:blipFill>
          <a:blip r:embed="rId18"/>
          <a:stretch>
            <a:fillRect/>
          </a:stretch>
        </p:blipFill>
        <p:spPr>
          <a:xfrm>
            <a:off x="6492240" y="4325112"/>
            <a:ext cx="182880" cy="182880"/>
          </a:xfrm>
          <a:prstGeom prst="rect">
            <a:avLst/>
          </a:prstGeom>
        </p:spPr>
      </p:pic>
      <p:sp>
        <p:nvSpPr>
          <p:cNvPr id="48" name="Text 27"/>
          <p:cNvSpPr txBox="1"/>
          <p:nvPr/>
        </p:nvSpPr>
        <p:spPr>
          <a:xfrm>
            <a:off x="6784848" y="4251960"/>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comparison of the last two completed runs</a:t>
            </a:r>
            <a:endParaRPr lang="en-US" sz="1150" dirty="0"/>
          </a:p>
        </p:txBody>
      </p:sp>
      <p:pic>
        <p:nvPicPr>
          <p:cNvPr id="49" name="Image 18" descr="preencoded.png">    </p:cNvPr>
          <p:cNvPicPr>
            <a:picLocks noChangeAspect="1"/>
          </p:cNvPicPr>
          <p:nvPr/>
        </p:nvPicPr>
        <p:blipFill>
          <a:blip r:embed="rId19"/>
          <a:stretch>
            <a:fillRect/>
          </a:stretch>
        </p:blipFill>
        <p:spPr>
          <a:xfrm>
            <a:off x="6492240" y="4686300"/>
            <a:ext cx="182880" cy="182880"/>
          </a:xfrm>
          <a:prstGeom prst="rect">
            <a:avLst/>
          </a:prstGeom>
        </p:spPr>
      </p:pic>
      <p:sp>
        <p:nvSpPr>
          <p:cNvPr id="50" name="Text 28"/>
          <p:cNvSpPr txBox="1"/>
          <p:nvPr/>
        </p:nvSpPr>
        <p:spPr>
          <a:xfrm>
            <a:off x="6784848" y="4613148"/>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EN/BA UI, Settings, Help, sounds</a:t>
            </a:r>
            <a:endParaRPr lang="en-US" sz="1150" dirty="0"/>
          </a:p>
        </p:txBody>
      </p:sp>
      <p:pic>
        <p:nvPicPr>
          <p:cNvPr id="51" name="Image 19" descr="preencoded.png">    </p:cNvPr>
          <p:cNvPicPr>
            <a:picLocks noChangeAspect="1"/>
          </p:cNvPicPr>
          <p:nvPr/>
        </p:nvPicPr>
        <p:blipFill>
          <a:blip r:embed="rId20"/>
          <a:stretch>
            <a:fillRect/>
          </a:stretch>
        </p:blipFill>
        <p:spPr>
          <a:xfrm>
            <a:off x="6492240" y="5047488"/>
            <a:ext cx="182880" cy="182880"/>
          </a:xfrm>
          <a:prstGeom prst="rect">
            <a:avLst/>
          </a:prstGeom>
        </p:spPr>
      </p:pic>
      <p:sp>
        <p:nvSpPr>
          <p:cNvPr id="52" name="Text 29"/>
          <p:cNvSpPr txBox="1"/>
          <p:nvPr/>
        </p:nvSpPr>
        <p:spPr>
          <a:xfrm>
            <a:off x="6784848" y="4974336"/>
            <a:ext cx="4709160" cy="329184"/>
          </a:xfrm>
          <a:prstGeom prst="rect">
            <a:avLst/>
          </a:prstGeom>
          <a:noFill/>
          <a:ln/>
        </p:spPr>
        <p:txBody>
          <a:bodyPr wrap="square" lIns="0" tIns="0" rIns="0" bIns="0" rtlCol="0" anchor="ctr"/>
          <a:lstStyle/>
          <a:p>
            <a:pPr indent="0" marL="0">
              <a:buNone/>
            </a:pPr>
            <a:r>
              <a:rPr lang="en-US" sz="1150" dirty="0">
                <a:solidFill>
                  <a:srgbClr val="E9EDF5"/>
                </a:solidFill>
                <a:latin typeface="Calibri" pitchFamily="34" charset="0"/>
                <a:ea typeface="Calibri" pitchFamily="34" charset="-122"/>
                <a:cs typeface="Calibri" pitchFamily="34" charset="-120"/>
              </a:rPr>
              <a:t>GitHub Actions builds for Windows, macOS (Apple Silicon + Intel), Linux</a:t>
            </a:r>
            <a:endParaRPr lang="en-US" sz="1150" dirty="0"/>
          </a:p>
        </p:txBody>
      </p:sp>
      <p:sp>
        <p:nvSpPr>
          <p:cNvPr id="53" name="Shape 30"/>
          <p:cNvSpPr/>
          <p:nvPr/>
        </p:nvSpPr>
        <p:spPr>
          <a:xfrm>
            <a:off x="548640" y="5833872"/>
            <a:ext cx="11109960" cy="429768"/>
          </a:xfrm>
          <a:prstGeom prst="roundRect">
            <a:avLst>
              <a:gd name="adj" fmla="val 48936"/>
            </a:avLst>
          </a:prstGeom>
          <a:solidFill>
            <a:srgbClr val="141B2B"/>
          </a:solidFill>
          <a:ln w="9525">
            <a:solidFill>
              <a:srgbClr val="2A3550"/>
            </a:solidFill>
            <a:prstDash val="solid"/>
          </a:ln>
        </p:spPr>
      </p:sp>
      <p:sp>
        <p:nvSpPr>
          <p:cNvPr id="54" name="Text 31"/>
          <p:cNvSpPr txBox="1"/>
          <p:nvPr/>
        </p:nvSpPr>
        <p:spPr>
          <a:xfrm>
            <a:off x="548640" y="5833872"/>
            <a:ext cx="11109960" cy="429768"/>
          </a:xfrm>
          <a:prstGeom prst="rect">
            <a:avLst/>
          </a:prstGeom>
          <a:noFill/>
          <a:ln/>
        </p:spPr>
        <p:txBody>
          <a:bodyPr wrap="square" lIns="0" tIns="0" rIns="0" bIns="0" rtlCol="0" anchor="ctr"/>
          <a:lstStyle/>
          <a:p>
            <a:pPr algn="ctr" indent="0" marL="0">
              <a:buNone/>
            </a:pPr>
            <a:r>
              <a:rPr lang="en-US" sz="1250" b="1" dirty="0">
                <a:solidFill>
                  <a:srgbClr val="4CC38A"/>
                </a:solidFill>
                <a:latin typeface="Calibri" pitchFamily="34" charset="0"/>
                <a:ea typeface="Calibri" pitchFamily="34" charset="-122"/>
                <a:cs typeface="Calibri" pitchFamily="34" charset="-120"/>
              </a:rPr>
              <a:t>✓  </a:t>
            </a:r>
            <a:pPr algn="ctr" indent="0" marL="0">
              <a:buNone/>
            </a:pPr>
            <a:r>
              <a:rPr lang="en-US" sz="1250" b="1" dirty="0">
                <a:solidFill>
                  <a:srgbClr val="E9EDF5"/>
                </a:solidFill>
                <a:latin typeface="Calibri" pitchFamily="34" charset="0"/>
                <a:ea typeface="Calibri" pitchFamily="34" charset="-122"/>
                <a:cs typeface="Calibri" pitchFamily="34" charset="-120"/>
              </a:rPr>
              <a:t>One substantive deviation: </a:t>
            </a:r>
            <a:pPr algn="ctr" indent="0" marL="0">
              <a:buNone/>
            </a:pPr>
            <a:r>
              <a:rPr lang="en-US" sz="1250" dirty="0">
                <a:solidFill>
                  <a:srgbClr val="C3CCDC"/>
                </a:solidFill>
                <a:latin typeface="Calibri" pitchFamily="34" charset="0"/>
                <a:ea typeface="Calibri" pitchFamily="34" charset="-122"/>
                <a:cs typeface="Calibri" pitchFamily="34" charset="-120"/>
              </a:rPr>
              <a:t>real towns instead of synthetic points (lengths in km)</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05 · FEATURES, LIMITATIONS &amp; CONCLUSIONS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Tech Stack &amp; Known Limitations</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Every number in the app is stated for what it is.</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Limitations &amp; Conclusions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21 / 23</a:t>
            </a:r>
            <a:endParaRPr lang="en-US" sz="900" dirty="0"/>
          </a:p>
        </p:txBody>
      </p:sp>
      <p:sp>
        <p:nvSpPr>
          <p:cNvPr id="11" name="Text 7"/>
          <p:cNvSpPr txBox="1"/>
          <p:nvPr/>
        </p:nvSpPr>
        <p:spPr>
          <a:xfrm>
            <a:off x="548640" y="1627632"/>
            <a:ext cx="2743200" cy="228600"/>
          </a:xfrm>
          <a:prstGeom prst="rect">
            <a:avLst/>
          </a:prstGeom>
          <a:noFill/>
          <a:ln/>
        </p:spPr>
        <p:txBody>
          <a:bodyPr wrap="square" lIns="0" tIns="0" rIns="0" bIns="0" rtlCol="0" anchor="t"/>
          <a:lstStyle/>
          <a:p>
            <a:pPr indent="0" marL="0">
              <a:buNone/>
            </a:pPr>
            <a:r>
              <a:rPr lang="en-US" sz="1050" b="1" spc="250" kern="0" dirty="0">
                <a:solidFill>
                  <a:srgbClr val="8A96AD"/>
                </a:solidFill>
                <a:latin typeface="Calibri" pitchFamily="34" charset="0"/>
                <a:ea typeface="Calibri" pitchFamily="34" charset="-122"/>
                <a:cs typeface="Calibri" pitchFamily="34" charset="-120"/>
              </a:rPr>
              <a:t>BUILT WITH</a:t>
            </a:r>
            <a:endParaRPr lang="en-US" sz="1050" dirty="0"/>
          </a:p>
        </p:txBody>
      </p:sp>
      <p:sp>
        <p:nvSpPr>
          <p:cNvPr id="12" name="Text 8"/>
          <p:cNvSpPr txBox="1"/>
          <p:nvPr/>
        </p:nvSpPr>
        <p:spPr>
          <a:xfrm>
            <a:off x="548640" y="1938528"/>
            <a:ext cx="91440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C++</a:t>
            </a:r>
            <a:endParaRPr lang="en-US" sz="1200" dirty="0"/>
          </a:p>
        </p:txBody>
      </p:sp>
      <p:sp>
        <p:nvSpPr>
          <p:cNvPr id="13" name="Text 9"/>
          <p:cNvSpPr txBox="1"/>
          <p:nvPr/>
        </p:nvSpPr>
        <p:spPr>
          <a:xfrm>
            <a:off x="1600200" y="1938528"/>
            <a:ext cx="146304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CMake 3.18+</a:t>
            </a:r>
            <a:endParaRPr lang="en-US" sz="1200" dirty="0"/>
          </a:p>
        </p:txBody>
      </p:sp>
      <p:sp>
        <p:nvSpPr>
          <p:cNvPr id="14" name="Text 10"/>
          <p:cNvSpPr txBox="1"/>
          <p:nvPr/>
        </p:nvSpPr>
        <p:spPr>
          <a:xfrm>
            <a:off x="3200400" y="1938528"/>
            <a:ext cx="3749040" cy="402336"/>
          </a:xfrm>
          <a:prstGeom prst="roundRect">
            <a:avLst>
              <a:gd name="adj" fmla="val 50000"/>
            </a:avLst>
          </a:prstGeom>
          <a:solidFill>
            <a:srgbClr val="182033"/>
          </a:solidFill>
          <a:ln w="9525">
            <a:solidFill>
              <a:srgbClr val="2F5A48"/>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natID SDK (MatrixLib, natGUI, mainUtils)</a:t>
            </a:r>
            <a:endParaRPr lang="en-US" sz="1200" dirty="0"/>
          </a:p>
        </p:txBody>
      </p:sp>
      <p:sp>
        <p:nvSpPr>
          <p:cNvPr id="15" name="Text 11"/>
          <p:cNvSpPr txBox="1"/>
          <p:nvPr/>
        </p:nvSpPr>
        <p:spPr>
          <a:xfrm>
            <a:off x="7086600" y="1938528"/>
            <a:ext cx="1920240" cy="402336"/>
          </a:xfrm>
          <a:prstGeom prst="roundRect">
            <a:avLst>
              <a:gd name="adj" fmla="val 50000"/>
            </a:avLst>
          </a:prstGeom>
          <a:solidFill>
            <a:srgbClr val="182033"/>
          </a:solidFill>
          <a:ln w="9525">
            <a:solidFill>
              <a:srgbClr val="2F5A48"/>
            </a:solidFill>
          </a:ln>
        </p:spPr>
        <p:txBody>
          <a:bodyPr wrap="square" lIns="0" tIns="101600" rIns="101600" bIns="0" rtlCol="0" anchor="ctr"/>
          <a:lstStyle/>
          <a:p>
            <a:pPr algn="ctr" indent="0" marL="0">
              <a:buNone/>
            </a:pPr>
            <a:r>
              <a:rPr lang="en-US" sz="1200" dirty="0">
                <a:solidFill>
                  <a:srgbClr val="E9EDF5"/>
                </a:solidFill>
                <a:latin typeface="Consolas" pitchFamily="34" charset="0"/>
                <a:ea typeface="Consolas" pitchFamily="34" charset="-122"/>
                <a:cs typeface="Consolas" pitchFamily="34" charset="-120"/>
              </a:rPr>
              <a:t>dense::DblMatrix</a:t>
            </a:r>
            <a:endParaRPr lang="en-US" sz="1200" dirty="0"/>
          </a:p>
        </p:txBody>
      </p:sp>
      <p:sp>
        <p:nvSpPr>
          <p:cNvPr id="16" name="Text 12"/>
          <p:cNvSpPr txBox="1"/>
          <p:nvPr/>
        </p:nvSpPr>
        <p:spPr>
          <a:xfrm>
            <a:off x="548640" y="2468880"/>
            <a:ext cx="301752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E9EDF5"/>
                </a:solidFill>
                <a:latin typeface="Calibri" pitchFamily="34" charset="0"/>
                <a:ea typeface="Calibri" pitchFamily="34" charset="-122"/>
                <a:cs typeface="Calibri" pitchFamily="34" charset="-120"/>
              </a:rPr>
              <a:t>GitHub Actions + SetupCollector</a:t>
            </a:r>
            <a:endParaRPr lang="en-US" sz="1200" dirty="0"/>
          </a:p>
        </p:txBody>
      </p:sp>
      <p:sp>
        <p:nvSpPr>
          <p:cNvPr id="17" name="Text 13"/>
          <p:cNvSpPr txBox="1"/>
          <p:nvPr/>
        </p:nvSpPr>
        <p:spPr>
          <a:xfrm>
            <a:off x="3703320" y="2468880"/>
            <a:ext cx="118872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alibri" pitchFamily="34" charset="0"/>
                <a:ea typeface="Calibri" pitchFamily="34" charset="-122"/>
                <a:cs typeface="Calibri" pitchFamily="34" charset="-120"/>
              </a:rPr>
              <a:t>Windows</a:t>
            </a:r>
            <a:endParaRPr lang="en-US" sz="1200" dirty="0"/>
          </a:p>
        </p:txBody>
      </p:sp>
      <p:sp>
        <p:nvSpPr>
          <p:cNvPr id="18" name="Text 14"/>
          <p:cNvSpPr txBox="1"/>
          <p:nvPr/>
        </p:nvSpPr>
        <p:spPr>
          <a:xfrm>
            <a:off x="5029200" y="2468880"/>
            <a:ext cx="100584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alibri" pitchFamily="34" charset="0"/>
                <a:ea typeface="Calibri" pitchFamily="34" charset="-122"/>
                <a:cs typeface="Calibri" pitchFamily="34" charset="-120"/>
              </a:rPr>
              <a:t>macOS</a:t>
            </a:r>
            <a:endParaRPr lang="en-US" sz="1200" dirty="0"/>
          </a:p>
        </p:txBody>
      </p:sp>
      <p:sp>
        <p:nvSpPr>
          <p:cNvPr id="19" name="Text 15"/>
          <p:cNvSpPr txBox="1"/>
          <p:nvPr/>
        </p:nvSpPr>
        <p:spPr>
          <a:xfrm>
            <a:off x="6172200" y="2468880"/>
            <a:ext cx="914400" cy="402336"/>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alibri" pitchFamily="34" charset="0"/>
                <a:ea typeface="Calibri" pitchFamily="34" charset="-122"/>
                <a:cs typeface="Calibri" pitchFamily="34" charset="-120"/>
              </a:rPr>
              <a:t>Linux</a:t>
            </a:r>
            <a:endParaRPr lang="en-US" sz="1200" dirty="0"/>
          </a:p>
        </p:txBody>
      </p:sp>
      <p:sp>
        <p:nvSpPr>
          <p:cNvPr id="20" name="Text 16"/>
          <p:cNvSpPr txBox="1"/>
          <p:nvPr/>
        </p:nvSpPr>
        <p:spPr>
          <a:xfrm>
            <a:off x="548640" y="2999232"/>
            <a:ext cx="7315200" cy="292608"/>
          </a:xfrm>
          <a:prstGeom prst="rect">
            <a:avLst/>
          </a:prstGeom>
          <a:noFill/>
          <a:ln/>
        </p:spPr>
        <p:txBody>
          <a:bodyPr wrap="square" lIns="0" tIns="0" rIns="0" bIns="0" rtlCol="0" anchor="ctr"/>
          <a:lstStyle/>
          <a:p>
            <a:pPr indent="0" marL="0">
              <a:buNone/>
            </a:pPr>
            <a:r>
              <a:rPr lang="en-US" sz="1300" b="1" dirty="0">
                <a:solidFill>
                  <a:srgbClr val="4CC38A"/>
                </a:solidFill>
                <a:latin typeface="Calibri" pitchFamily="34" charset="0"/>
                <a:ea typeface="Calibri" pitchFamily="34" charset="-122"/>
                <a:cs typeface="Calibri" pitchFamily="34" charset="-120"/>
              </a:rPr>
              <a:t>No dependency outside the natID SDK.</a:t>
            </a:r>
            <a:endParaRPr lang="en-US" sz="1300" dirty="0"/>
          </a:p>
        </p:txBody>
      </p:sp>
      <p:sp>
        <p:nvSpPr>
          <p:cNvPr id="21" name="Text 17"/>
          <p:cNvSpPr txBox="1"/>
          <p:nvPr/>
        </p:nvSpPr>
        <p:spPr>
          <a:xfrm>
            <a:off x="548640" y="3474720"/>
            <a:ext cx="3657600" cy="228600"/>
          </a:xfrm>
          <a:prstGeom prst="rect">
            <a:avLst/>
          </a:prstGeom>
          <a:noFill/>
          <a:ln/>
        </p:spPr>
        <p:txBody>
          <a:bodyPr wrap="square" lIns="0" tIns="0" rIns="0" bIns="0" rtlCol="0" anchor="t"/>
          <a:lstStyle/>
          <a:p>
            <a:pPr indent="0" marL="0">
              <a:buNone/>
            </a:pPr>
            <a:r>
              <a:rPr lang="en-US" sz="1050" b="1" spc="250" kern="0" dirty="0">
                <a:solidFill>
                  <a:srgbClr val="8A96AD"/>
                </a:solidFill>
                <a:latin typeface="Calibri" pitchFamily="34" charset="0"/>
                <a:ea typeface="Calibri" pitchFamily="34" charset="-122"/>
                <a:cs typeface="Calibri" pitchFamily="34" charset="-120"/>
              </a:rPr>
              <a:t>KNOWN LIMITATIONS</a:t>
            </a:r>
            <a:endParaRPr lang="en-US" sz="1050" dirty="0"/>
          </a:p>
        </p:txBody>
      </p:sp>
      <p:sp>
        <p:nvSpPr>
          <p:cNvPr id="22" name="Shape 18"/>
          <p:cNvSpPr/>
          <p:nvPr/>
        </p:nvSpPr>
        <p:spPr>
          <a:xfrm>
            <a:off x="548640" y="3822192"/>
            <a:ext cx="3566160" cy="1170432"/>
          </a:xfrm>
          <a:prstGeom prst="roundRect">
            <a:avLst>
              <a:gd name="adj" fmla="val 6250"/>
            </a:avLst>
          </a:prstGeom>
          <a:solidFill>
            <a:srgbClr val="182033"/>
          </a:solidFill>
          <a:ln w="9525">
            <a:solidFill>
              <a:srgbClr val="4A2F2C"/>
            </a:solidFill>
            <a:prstDash val="solid"/>
          </a:ln>
        </p:spPr>
      </p:sp>
      <p:sp>
        <p:nvSpPr>
          <p:cNvPr id="23" name="Text 19"/>
          <p:cNvSpPr txBox="1"/>
          <p:nvPr/>
        </p:nvSpPr>
        <p:spPr>
          <a:xfrm>
            <a:off x="749808" y="3931920"/>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Reproducibility is per toolchain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std distributions are implementation-defined; the instance CSV compensates</a:t>
            </a:r>
            <a:endParaRPr lang="en-US" sz="1200" dirty="0"/>
          </a:p>
        </p:txBody>
      </p:sp>
      <p:sp>
        <p:nvSpPr>
          <p:cNvPr id="24" name="Shape 20"/>
          <p:cNvSpPr/>
          <p:nvPr/>
        </p:nvSpPr>
        <p:spPr>
          <a:xfrm>
            <a:off x="4320540" y="3822192"/>
            <a:ext cx="3566160" cy="1170432"/>
          </a:xfrm>
          <a:prstGeom prst="roundRect">
            <a:avLst>
              <a:gd name="adj" fmla="val 6250"/>
            </a:avLst>
          </a:prstGeom>
          <a:solidFill>
            <a:srgbClr val="182033"/>
          </a:solidFill>
          <a:ln w="9525">
            <a:solidFill>
              <a:srgbClr val="4A2F2C"/>
            </a:solidFill>
            <a:prstDash val="solid"/>
          </a:ln>
        </p:spPr>
      </p:sp>
      <p:sp>
        <p:nvSpPr>
          <p:cNvPr id="25" name="Text 21"/>
          <p:cNvSpPr txBox="1"/>
          <p:nvPr/>
        </p:nvSpPr>
        <p:spPr>
          <a:xfrm>
            <a:off x="4521708" y="3931920"/>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Runtime is wall-clock</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includes the animation delay (500 ms default ⇒ 100 iterations ≈ 50 s)</a:t>
            </a:r>
            <a:endParaRPr lang="en-US" sz="1200" dirty="0"/>
          </a:p>
        </p:txBody>
      </p:sp>
      <p:sp>
        <p:nvSpPr>
          <p:cNvPr id="26" name="Shape 22"/>
          <p:cNvSpPr/>
          <p:nvPr/>
        </p:nvSpPr>
        <p:spPr>
          <a:xfrm>
            <a:off x="8092440" y="3822192"/>
            <a:ext cx="3566160" cy="1170432"/>
          </a:xfrm>
          <a:prstGeom prst="roundRect">
            <a:avLst>
              <a:gd name="adj" fmla="val 6250"/>
            </a:avLst>
          </a:prstGeom>
          <a:solidFill>
            <a:srgbClr val="182033"/>
          </a:solidFill>
          <a:ln w="9525">
            <a:solidFill>
              <a:srgbClr val="4A2F2C"/>
            </a:solidFill>
            <a:prstDash val="solid"/>
          </a:ln>
        </p:spPr>
      </p:sp>
      <p:sp>
        <p:nvSpPr>
          <p:cNvPr id="27" name="Text 23"/>
          <p:cNvSpPr txBox="1"/>
          <p:nvPr/>
        </p:nvSpPr>
        <p:spPr>
          <a:xfrm>
            <a:off x="8293608" y="3931920"/>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F2D08A"/>
                </a:solidFill>
                <a:latin typeface="Consolas" pitchFamily="34" charset="0"/>
                <a:ea typeface="Consolas" pitchFamily="34" charset="-122"/>
                <a:cs typeface="Consolas" pitchFamily="34" charset="-120"/>
              </a:rPr>
              <a:t>pheromone_l1</a:t>
            </a:r>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 ≠ concentration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it records trail mass per city</a:t>
            </a:r>
            <a:endParaRPr lang="en-US" sz="1200" dirty="0"/>
          </a:p>
        </p:txBody>
      </p:sp>
      <p:sp>
        <p:nvSpPr>
          <p:cNvPr id="28" name="Shape 24"/>
          <p:cNvSpPr/>
          <p:nvPr/>
        </p:nvSpPr>
        <p:spPr>
          <a:xfrm>
            <a:off x="548640" y="5129784"/>
            <a:ext cx="3566160" cy="1170432"/>
          </a:xfrm>
          <a:prstGeom prst="roundRect">
            <a:avLst>
              <a:gd name="adj" fmla="val 6250"/>
            </a:avLst>
          </a:prstGeom>
          <a:solidFill>
            <a:srgbClr val="182033"/>
          </a:solidFill>
          <a:ln w="9525">
            <a:solidFill>
              <a:srgbClr val="4A2F2C"/>
            </a:solidFill>
            <a:prstDash val="solid"/>
          </a:ln>
        </p:spPr>
      </p:sp>
      <p:sp>
        <p:nvSpPr>
          <p:cNvPr id="29" name="Text 25"/>
          <p:cNvSpPr txBox="1"/>
          <p:nvPr/>
        </p:nvSpPr>
        <p:spPr>
          <a:xfrm>
            <a:off x="749808" y="5239512"/>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Stopping mid-iteration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still applies that update; stopped runs are not compared</a:t>
            </a:r>
            <a:endParaRPr lang="en-US" sz="1200" dirty="0"/>
          </a:p>
        </p:txBody>
      </p:sp>
      <p:sp>
        <p:nvSpPr>
          <p:cNvPr id="30" name="Shape 26"/>
          <p:cNvSpPr/>
          <p:nvPr/>
        </p:nvSpPr>
        <p:spPr>
          <a:xfrm>
            <a:off x="4320540" y="5129784"/>
            <a:ext cx="3566160" cy="1170432"/>
          </a:xfrm>
          <a:prstGeom prst="roundRect">
            <a:avLst>
              <a:gd name="adj" fmla="val 6250"/>
            </a:avLst>
          </a:prstGeom>
          <a:solidFill>
            <a:srgbClr val="182033"/>
          </a:solidFill>
          <a:ln w="9525">
            <a:solidFill>
              <a:srgbClr val="4A2F2C"/>
            </a:solidFill>
            <a:prstDash val="solid"/>
          </a:ln>
        </p:spPr>
      </p:sp>
      <p:sp>
        <p:nvSpPr>
          <p:cNvPr id="31" name="Text 27"/>
          <p:cNvSpPr txBox="1"/>
          <p:nvPr/>
        </p:nvSpPr>
        <p:spPr>
          <a:xfrm>
            <a:off x="4521708" y="5239512"/>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Fixed τ</a:t>
            </a:r>
            <a:pPr indent="0" marL="0">
              <a:spcAft>
                <a:spcPts val="200"/>
              </a:spcAft>
              <a:buNone/>
            </a:pPr>
            <a:r>
              <a:rPr lang="en-US" sz="1200" b="1" baseline="-40000" dirty="0">
                <a:solidFill>
                  <a:srgbClr val="E9EDF5"/>
                </a:solidFill>
                <a:latin typeface="Calibri" pitchFamily="34" charset="0"/>
                <a:ea typeface="Calibri" pitchFamily="34" charset="-122"/>
                <a:cs typeface="Calibri" pitchFamily="34" charset="-120"/>
              </a:rPr>
              <a:t>0</a:t>
            </a:r>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 = 1 instead of m/C</a:t>
            </a:r>
            <a:pPr indent="0" marL="0">
              <a:spcAft>
                <a:spcPts val="200"/>
              </a:spcAft>
              <a:buNone/>
            </a:pPr>
            <a:r>
              <a:rPr lang="en-US" sz="1200" b="1" baseline="30000" dirty="0">
                <a:solidFill>
                  <a:srgbClr val="E9EDF5"/>
                </a:solidFill>
                <a:latin typeface="Calibri" pitchFamily="34" charset="0"/>
                <a:ea typeface="Calibri" pitchFamily="34" charset="-122"/>
                <a:cs typeface="Calibri" pitchFamily="34" charset="-120"/>
              </a:rPr>
              <a:t>nn</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initial trail &lt; 1% after 7 iterations at ρ = 0.5</a:t>
            </a:r>
            <a:endParaRPr lang="en-US" sz="1200" dirty="0"/>
          </a:p>
        </p:txBody>
      </p:sp>
      <p:sp>
        <p:nvSpPr>
          <p:cNvPr id="32" name="Shape 28"/>
          <p:cNvSpPr/>
          <p:nvPr/>
        </p:nvSpPr>
        <p:spPr>
          <a:xfrm>
            <a:off x="8092440" y="5129784"/>
            <a:ext cx="3566160" cy="1170432"/>
          </a:xfrm>
          <a:prstGeom prst="roundRect">
            <a:avLst>
              <a:gd name="adj" fmla="val 6250"/>
            </a:avLst>
          </a:prstGeom>
          <a:solidFill>
            <a:srgbClr val="182033"/>
          </a:solidFill>
          <a:ln w="9525">
            <a:solidFill>
              <a:srgbClr val="4A2F2C"/>
            </a:solidFill>
            <a:prstDash val="solid"/>
          </a:ln>
        </p:spPr>
      </p:sp>
      <p:sp>
        <p:nvSpPr>
          <p:cNvPr id="33" name="Text 29"/>
          <p:cNvSpPr txBox="1"/>
          <p:nvPr/>
        </p:nvSpPr>
        <p:spPr>
          <a:xfrm>
            <a:off x="8293608" y="5239512"/>
            <a:ext cx="3200400" cy="969264"/>
          </a:xfrm>
          <a:prstGeom prst="rect">
            <a:avLst/>
          </a:prstGeom>
          <a:noFill/>
          <a:ln/>
        </p:spPr>
        <p:txBody>
          <a:bodyPr wrap="square" lIns="0" tIns="0" rIns="0" bIns="0" rtlCol="0" anchor="t"/>
          <a:lstStyle/>
          <a:p>
            <a:pPr indent="0" marL="0">
              <a:spcAft>
                <a:spcPts val="200"/>
              </a:spcAft>
              <a:buNone/>
            </a:pPr>
            <a:r>
              <a:rPr lang="en-US" sz="1200" b="1" dirty="0">
                <a:solidFill>
                  <a:srgbClr val="E9EDF5"/>
                </a:solidFill>
                <a:latin typeface="Calibri" pitchFamily="34" charset="0"/>
                <a:ea typeface="Calibri" pitchFamily="34" charset="-122"/>
                <a:cs typeface="Calibri" pitchFamily="34" charset="-120"/>
              </a:rPr>
              <a:t>Air distances</a:t>
            </a:r>
            <a:endParaRPr lang="en-US" sz="1200" dirty="0"/>
          </a:p>
          <a:p>
            <a:pPr indent="0" marL="0">
              <a:spcAft>
                <a:spcPts val="200"/>
              </a:spcAft>
              <a:buNone/>
            </a:pPr>
            <a:r>
              <a:rPr lang="en-US" sz="1200" dirty="0">
                <a:solidFill>
                  <a:srgbClr val="C3CCDC"/>
                </a:solidFill>
                <a:latin typeface="Calibri" pitchFamily="34" charset="0"/>
                <a:ea typeface="Calibri" pitchFamily="34" charset="-122"/>
                <a:cs typeface="Calibri" pitchFamily="34" charset="-120"/>
              </a:rPr>
              <a:t>not road distances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420"/>
        </a:solidFill>
      </p:bgPr>
    </p:bg>
    <p:spTree>
      <p:nvGrpSpPr>
        <p:cNvPr id="1" name=""/>
        <p:cNvGrpSpPr/>
        <p:nvPr/>
      </p:nvGrpSpPr>
      <p:grpSpPr>
        <a:xfrm>
          <a:off x="0" y="0"/>
          <a:ext cx="0" cy="0"/>
          <a:chOff x="0" y="0"/>
          <a:chExt cx="0" cy="0"/>
        </a:xfrm>
      </p:grpSpPr>
      <p:sp>
        <p:nvSpPr>
          <p:cNvPr id="3" name="Text 0"/>
          <p:cNvSpPr txBox="1"/>
          <p:nvPr/>
        </p:nvSpPr>
        <p:spPr>
          <a:xfrm>
            <a:off x="548640" y="329184"/>
            <a:ext cx="8229600" cy="228600"/>
          </a:xfrm>
          <a:prstGeom prst="rect">
            <a:avLst/>
          </a:prstGeom>
          <a:noFill/>
          <a:ln/>
        </p:spPr>
        <p:txBody>
          <a:bodyPr wrap="square" lIns="0" tIns="0" rIns="0" bIns="0" rtlCol="0" anchor="t"/>
          <a:lstStyle/>
          <a:p>
            <a:pPr indent="0" marL="0">
              <a:buNone/>
            </a:pPr>
            <a:r>
              <a:rPr lang="en-US" sz="1050" b="1" spc="200" kern="0" dirty="0">
                <a:solidFill>
                  <a:srgbClr val="F39C34"/>
                </a:solidFill>
                <a:latin typeface="Calibri" pitchFamily="34" charset="0"/>
                <a:ea typeface="Calibri" pitchFamily="34" charset="-122"/>
                <a:cs typeface="Calibri" pitchFamily="34" charset="-120"/>
              </a:rPr>
              <a:t>05 · FEATURES, LIMITATIONS &amp; CONCLUSIONS</a:t>
            </a:r>
            <a:endParaRPr lang="en-US" sz="1050" dirty="0"/>
          </a:p>
        </p:txBody>
      </p:sp>
      <p:sp>
        <p:nvSpPr>
          <p:cNvPr id="4" name="Text 1"/>
          <p:cNvSpPr txBox="1"/>
          <p:nvPr/>
        </p:nvSpPr>
        <p:spPr>
          <a:xfrm>
            <a:off x="548640" y="566928"/>
            <a:ext cx="10241280" cy="548640"/>
          </a:xfrm>
          <a:prstGeom prst="rect">
            <a:avLst/>
          </a:prstGeom>
          <a:noFill/>
          <a:ln/>
        </p:spPr>
        <p:txBody>
          <a:bodyPr wrap="square" lIns="0" tIns="0" rIns="0" bIns="0" rtlCol="0" anchor="ctr"/>
          <a:lstStyle/>
          <a:p>
            <a:pPr indent="0" marL="0">
              <a:buNone/>
            </a:pPr>
            <a:r>
              <a:rPr lang="en-US" sz="2800" b="1" dirty="0">
                <a:solidFill>
                  <a:srgbClr val="E9EDF5"/>
                </a:solidFill>
                <a:latin typeface="Calibri" pitchFamily="34" charset="0"/>
                <a:ea typeface="Calibri" pitchFamily="34" charset="-122"/>
                <a:cs typeface="Calibri" pitchFamily="34" charset="-120"/>
              </a:rPr>
              <a:t>Lessons Learned &amp; Future Work</a:t>
            </a:r>
            <a:endParaRPr lang="en-US" sz="2800" dirty="0"/>
          </a:p>
        </p:txBody>
      </p:sp>
      <p:sp>
        <p:nvSpPr>
          <p:cNvPr id="5" name="Text 2"/>
          <p:cNvSpPr txBox="1"/>
          <p:nvPr/>
        </p:nvSpPr>
        <p:spPr>
          <a:xfrm>
            <a:off x="548640" y="1097280"/>
            <a:ext cx="10424160" cy="320040"/>
          </a:xfrm>
          <a:prstGeom prst="rect">
            <a:avLst/>
          </a:prstGeom>
          <a:noFill/>
          <a:ln/>
        </p:spPr>
        <p:txBody>
          <a:bodyPr wrap="square" lIns="0" tIns="0" rIns="0" bIns="0" rtlCol="0" anchor="ctr"/>
          <a:lstStyle/>
          <a:p>
            <a:pPr indent="0" marL="0">
              <a:buNone/>
            </a:pPr>
            <a:r>
              <a:rPr lang="en-US" sz="1500" b="1" dirty="0">
                <a:solidFill>
                  <a:srgbClr val="C3CCDC"/>
                </a:solidFill>
                <a:latin typeface="Calibri" pitchFamily="34" charset="0"/>
                <a:ea typeface="Calibri" pitchFamily="34" charset="-122"/>
                <a:cs typeface="Calibri" pitchFamily="34" charset="-120"/>
              </a:rPr>
              <a:t>Two lessons I defend hardest: the feasibility guard and the L1-norm insight.</a:t>
            </a:r>
            <a:endParaRPr lang="en-US" sz="1500" dirty="0"/>
          </a:p>
        </p:txBody>
      </p:sp>
      <p:sp>
        <p:nvSpPr>
          <p:cNvPr id="6" name="Shape 3"/>
          <p:cNvSpPr/>
          <p:nvPr/>
        </p:nvSpPr>
        <p:spPr>
          <a:xfrm>
            <a:off x="11045952" y="384048"/>
            <a:ext cx="603504" cy="603504"/>
          </a:xfrm>
          <a:prstGeom prst="ellipse">
            <a:avLst/>
          </a:prstGeom>
          <a:solidFill>
            <a:srgbClr val="182033"/>
          </a:solidFill>
          <a:ln w="12700">
            <a:solidFill>
              <a:srgbClr val="2A3550"/>
            </a:solidFill>
            <a:prstDash val="solid"/>
          </a:ln>
        </p:spPr>
      </p:sp>
      <p:pic>
        <p:nvPicPr>
          <p:cNvPr id="7" name="Image 0" descr="preencoded.png">    </p:cNvPr>
          <p:cNvPicPr>
            <a:picLocks noChangeAspect="1"/>
          </p:cNvPicPr>
          <p:nvPr/>
        </p:nvPicPr>
        <p:blipFill>
          <a:blip r:embed="rId1"/>
          <a:stretch>
            <a:fillRect/>
          </a:stretch>
        </p:blipFill>
        <p:spPr>
          <a:xfrm>
            <a:off x="11201400" y="539496"/>
            <a:ext cx="292608" cy="292608"/>
          </a:xfrm>
          <a:prstGeom prst="rect">
            <a:avLst/>
          </a:prstGeom>
        </p:spPr>
      </p:pic>
      <p:sp>
        <p:nvSpPr>
          <p:cNvPr id="8" name="Text 4"/>
          <p:cNvSpPr txBox="1"/>
          <p:nvPr/>
        </p:nvSpPr>
        <p:spPr>
          <a:xfrm>
            <a:off x="548640" y="6428232"/>
            <a:ext cx="2743200" cy="228600"/>
          </a:xfrm>
          <a:prstGeom prst="rect">
            <a:avLst/>
          </a:prstGeom>
          <a:noFill/>
          <a:ln/>
        </p:spPr>
        <p:txBody>
          <a:bodyPr wrap="square" lIns="0" tIns="0" rIns="0" bIns="0" rtlCol="0" anchor="ctr"/>
          <a:lstStyle/>
          <a:p>
            <a:pPr indent="0" marL="0">
              <a:buNone/>
            </a:pPr>
            <a:r>
              <a:rPr lang="en-US" sz="900" b="1" spc="200" kern="0" dirty="0">
                <a:solidFill>
                  <a:srgbClr val="8A96AD"/>
                </a:solidFill>
                <a:latin typeface="Calibri" pitchFamily="34" charset="0"/>
                <a:ea typeface="Calibri" pitchFamily="34" charset="-122"/>
                <a:cs typeface="Calibri" pitchFamily="34" charset="-120"/>
              </a:rPr>
              <a:t>ACO TSP SOLVER</a:t>
            </a:r>
            <a:endParaRPr lang="en-US" sz="900" dirty="0"/>
          </a:p>
        </p:txBody>
      </p:sp>
      <p:sp>
        <p:nvSpPr>
          <p:cNvPr id="9" name="Text 5"/>
          <p:cNvSpPr txBox="1"/>
          <p:nvPr/>
        </p:nvSpPr>
        <p:spPr>
          <a:xfrm>
            <a:off x="3355848" y="6428232"/>
            <a:ext cx="5486400" cy="228600"/>
          </a:xfrm>
          <a:prstGeom prst="rect">
            <a:avLst/>
          </a:prstGeom>
          <a:noFill/>
          <a:ln/>
        </p:spPr>
        <p:txBody>
          <a:bodyPr wrap="square" lIns="0" tIns="0" rIns="0" bIns="0" rtlCol="0" anchor="ctr"/>
          <a:lstStyle/>
          <a:p>
            <a:pPr algn="ctr" indent="0" marL="0">
              <a:buNone/>
            </a:pPr>
            <a:r>
              <a:rPr lang="en-US" sz="900" dirty="0">
                <a:solidFill>
                  <a:srgbClr val="8A96AD"/>
                </a:solidFill>
                <a:latin typeface="Calibri" pitchFamily="34" charset="0"/>
                <a:ea typeface="Calibri" pitchFamily="34" charset="-122"/>
                <a:cs typeface="Calibri" pitchFamily="34" charset="-120"/>
              </a:rPr>
              <a:t>Features, Limitations &amp; Conclusions</a:t>
            </a:r>
            <a:endParaRPr lang="en-US" sz="900" dirty="0"/>
          </a:p>
        </p:txBody>
      </p:sp>
      <p:sp>
        <p:nvSpPr>
          <p:cNvPr id="10" name="Text 6"/>
          <p:cNvSpPr txBox="1"/>
          <p:nvPr/>
        </p:nvSpPr>
        <p:spPr>
          <a:xfrm>
            <a:off x="9811512" y="6428232"/>
            <a:ext cx="1828800" cy="228600"/>
          </a:xfrm>
          <a:prstGeom prst="rect">
            <a:avLst/>
          </a:prstGeom>
          <a:noFill/>
          <a:ln/>
        </p:spPr>
        <p:txBody>
          <a:bodyPr wrap="square" lIns="0" tIns="0" rIns="0" bIns="0" rtlCol="0" anchor="ctr"/>
          <a:lstStyle/>
          <a:p>
            <a:pPr algn="r" indent="0" marL="0">
              <a:buNone/>
            </a:pPr>
            <a:r>
              <a:rPr lang="en-US" sz="900" dirty="0">
                <a:solidFill>
                  <a:srgbClr val="8A96AD"/>
                </a:solidFill>
                <a:latin typeface="Consolas" pitchFamily="34" charset="0"/>
                <a:ea typeface="Consolas" pitchFamily="34" charset="-122"/>
                <a:cs typeface="Consolas" pitchFamily="34" charset="-120"/>
              </a:rPr>
              <a:t>22 / 23</a:t>
            </a:r>
            <a:endParaRPr lang="en-US" sz="900" dirty="0"/>
          </a:p>
        </p:txBody>
      </p:sp>
      <p:sp>
        <p:nvSpPr>
          <p:cNvPr id="11" name="Shape 7"/>
          <p:cNvSpPr/>
          <p:nvPr/>
        </p:nvSpPr>
        <p:spPr>
          <a:xfrm>
            <a:off x="548640" y="1645920"/>
            <a:ext cx="5440680" cy="4572000"/>
          </a:xfrm>
          <a:prstGeom prst="roundRect">
            <a:avLst>
              <a:gd name="adj" fmla="val 1600"/>
            </a:avLst>
          </a:prstGeom>
          <a:solidFill>
            <a:srgbClr val="182033"/>
          </a:solidFill>
          <a:ln w="9525">
            <a:solidFill>
              <a:srgbClr val="2A3550"/>
            </a:solidFill>
            <a:prstDash val="solid"/>
          </a:ln>
        </p:spPr>
      </p:sp>
      <p:pic>
        <p:nvPicPr>
          <p:cNvPr id="12" name="Image 1" descr="preencoded.png">    </p:cNvPr>
          <p:cNvPicPr>
            <a:picLocks noChangeAspect="1"/>
          </p:cNvPicPr>
          <p:nvPr/>
        </p:nvPicPr>
        <p:blipFill>
          <a:blip r:embed="rId2"/>
          <a:stretch>
            <a:fillRect/>
          </a:stretch>
        </p:blipFill>
        <p:spPr>
          <a:xfrm>
            <a:off x="822960" y="1828800"/>
            <a:ext cx="292608" cy="292608"/>
          </a:xfrm>
          <a:prstGeom prst="rect">
            <a:avLst/>
          </a:prstGeom>
        </p:spPr>
      </p:pic>
      <p:sp>
        <p:nvSpPr>
          <p:cNvPr id="13" name="Text 8"/>
          <p:cNvSpPr txBox="1"/>
          <p:nvPr/>
        </p:nvSpPr>
        <p:spPr>
          <a:xfrm>
            <a:off x="1234440" y="1810512"/>
            <a:ext cx="3657600" cy="329184"/>
          </a:xfrm>
          <a:prstGeom prst="rect">
            <a:avLst/>
          </a:prstGeom>
          <a:noFill/>
          <a:ln/>
        </p:spPr>
        <p:txBody>
          <a:bodyPr wrap="square" lIns="0" tIns="0" rIns="0" bIns="0" rtlCol="0" anchor="ctr"/>
          <a:lstStyle/>
          <a:p>
            <a:pPr indent="0" marL="0">
              <a:buNone/>
            </a:pPr>
            <a:r>
              <a:rPr lang="en-US" sz="1300" b="1" spc="250" kern="0" dirty="0">
                <a:solidFill>
                  <a:srgbClr val="F39C34"/>
                </a:solidFill>
                <a:latin typeface="Calibri" pitchFamily="34" charset="0"/>
                <a:ea typeface="Calibri" pitchFamily="34" charset="-122"/>
                <a:cs typeface="Calibri" pitchFamily="34" charset="-120"/>
              </a:rPr>
              <a:t>LESSONS</a:t>
            </a:r>
            <a:endParaRPr lang="en-US" sz="1300" dirty="0"/>
          </a:p>
        </p:txBody>
      </p:sp>
      <p:sp>
        <p:nvSpPr>
          <p:cNvPr id="14" name="Text 9"/>
          <p:cNvSpPr txBox="1"/>
          <p:nvPr/>
        </p:nvSpPr>
        <p:spPr>
          <a:xfrm>
            <a:off x="841248" y="2331720"/>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01</a:t>
            </a:r>
            <a:endParaRPr lang="en-US" sz="1300" dirty="0"/>
          </a:p>
        </p:txBody>
      </p:sp>
      <p:sp>
        <p:nvSpPr>
          <p:cNvPr id="15" name="Text 10"/>
          <p:cNvSpPr txBox="1"/>
          <p:nvPr/>
        </p:nvSpPr>
        <p:spPr>
          <a:xfrm>
            <a:off x="1371600" y="2331720"/>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A best-so-far curve alone proves little</a:t>
            </a:r>
            <a:endParaRPr lang="en-US" sz="1350" dirty="0"/>
          </a:p>
        </p:txBody>
      </p:sp>
      <p:sp>
        <p:nvSpPr>
          <p:cNvPr id="16" name="Shape 11"/>
          <p:cNvSpPr/>
          <p:nvPr/>
        </p:nvSpPr>
        <p:spPr>
          <a:xfrm>
            <a:off x="731520" y="3063240"/>
            <a:ext cx="5074920" cy="694944"/>
          </a:xfrm>
          <a:prstGeom prst="roundRect">
            <a:avLst>
              <a:gd name="adj" fmla="val 7895"/>
            </a:avLst>
          </a:prstGeom>
          <a:solidFill>
            <a:srgbClr val="231C12"/>
          </a:solidFill>
          <a:ln w="9525">
            <a:solidFill>
              <a:srgbClr val="6B4E22"/>
            </a:solidFill>
            <a:prstDash val="solid"/>
          </a:ln>
        </p:spPr>
      </p:sp>
      <p:sp>
        <p:nvSpPr>
          <p:cNvPr id="17" name="Text 12"/>
          <p:cNvSpPr txBox="1"/>
          <p:nvPr/>
        </p:nvSpPr>
        <p:spPr>
          <a:xfrm>
            <a:off x="841248" y="3099816"/>
            <a:ext cx="457200" cy="621792"/>
          </a:xfrm>
          <a:prstGeom prst="rect">
            <a:avLst/>
          </a:prstGeom>
          <a:noFill/>
          <a:ln/>
        </p:spPr>
        <p:txBody>
          <a:bodyPr wrap="square" lIns="0" tIns="0" rIns="0" bIns="0" rtlCol="0" anchor="ctr"/>
          <a:lstStyle/>
          <a:p>
            <a:pPr indent="0" marL="0">
              <a:buNone/>
            </a:pPr>
            <a:r>
              <a:rPr lang="en-US" sz="1300" b="1" dirty="0">
                <a:solidFill>
                  <a:srgbClr val="F39C34"/>
                </a:solidFill>
                <a:latin typeface="Consolas" pitchFamily="34" charset="0"/>
                <a:ea typeface="Consolas" pitchFamily="34" charset="-122"/>
                <a:cs typeface="Consolas" pitchFamily="34" charset="-120"/>
              </a:rPr>
              <a:t>02</a:t>
            </a:r>
            <a:endParaRPr lang="en-US" sz="1300" dirty="0"/>
          </a:p>
        </p:txBody>
      </p:sp>
      <p:sp>
        <p:nvSpPr>
          <p:cNvPr id="18" name="Text 13"/>
          <p:cNvSpPr txBox="1"/>
          <p:nvPr/>
        </p:nvSpPr>
        <p:spPr>
          <a:xfrm>
            <a:off x="1371600" y="3099816"/>
            <a:ext cx="4343400" cy="621792"/>
          </a:xfrm>
          <a:prstGeom prst="rect">
            <a:avLst/>
          </a:prstGeom>
          <a:noFill/>
          <a:ln/>
        </p:spPr>
        <p:txBody>
          <a:bodyPr wrap="square" lIns="0" tIns="0" rIns="0" bIns="0" rtlCol="0" anchor="ctr"/>
          <a:lstStyle/>
          <a:p>
            <a:pPr indent="0" marL="0">
              <a:buNone/>
            </a:pPr>
            <a:r>
              <a:rPr lang="en-US" sz="1350" b="1" dirty="0">
                <a:solidFill>
                  <a:srgbClr val="E9EDF5"/>
                </a:solidFill>
                <a:latin typeface="Calibri" pitchFamily="34" charset="0"/>
                <a:ea typeface="Calibri" pitchFamily="34" charset="-122"/>
                <a:cs typeface="Calibri" pitchFamily="34" charset="-120"/>
              </a:rPr>
              <a:t>A solver must check its own constraints</a:t>
            </a:r>
            <a:endParaRPr lang="en-US" sz="1350" dirty="0"/>
          </a:p>
        </p:txBody>
      </p:sp>
      <p:sp>
        <p:nvSpPr>
          <p:cNvPr id="19" name="Shape 14"/>
          <p:cNvSpPr/>
          <p:nvPr/>
        </p:nvSpPr>
        <p:spPr>
          <a:xfrm>
            <a:off x="731520" y="3831336"/>
            <a:ext cx="5074920" cy="694944"/>
          </a:xfrm>
          <a:prstGeom prst="roundRect">
            <a:avLst>
              <a:gd name="adj" fmla="val 7895"/>
            </a:avLst>
          </a:prstGeom>
          <a:solidFill>
            <a:srgbClr val="231C12"/>
          </a:solidFill>
          <a:ln w="9525">
            <a:solidFill>
              <a:srgbClr val="6B4E22"/>
            </a:solidFill>
            <a:prstDash val="solid"/>
          </a:ln>
        </p:spPr>
      </p:sp>
      <p:sp>
        <p:nvSpPr>
          <p:cNvPr id="20" name="Text 15"/>
          <p:cNvSpPr txBox="1"/>
          <p:nvPr/>
        </p:nvSpPr>
        <p:spPr>
          <a:xfrm>
            <a:off x="841248" y="3867912"/>
            <a:ext cx="457200" cy="621792"/>
          </a:xfrm>
          <a:prstGeom prst="rect">
            <a:avLst/>
          </a:prstGeom>
          <a:noFill/>
          <a:ln/>
        </p:spPr>
        <p:txBody>
          <a:bodyPr wrap="square" lIns="0" tIns="0" rIns="0" bIns="0" rtlCol="0" anchor="ctr"/>
          <a:lstStyle/>
          <a:p>
            <a:pPr indent="0" marL="0">
              <a:buNone/>
            </a:pPr>
            <a:r>
              <a:rPr lang="en-US" sz="1300" b="1" dirty="0">
                <a:solidFill>
                  <a:srgbClr val="F39C34"/>
                </a:solidFill>
                <a:latin typeface="Consolas" pitchFamily="34" charset="0"/>
                <a:ea typeface="Consolas" pitchFamily="34" charset="-122"/>
                <a:cs typeface="Consolas" pitchFamily="34" charset="-120"/>
              </a:rPr>
              <a:t>03</a:t>
            </a:r>
            <a:endParaRPr lang="en-US" sz="1300" dirty="0"/>
          </a:p>
        </p:txBody>
      </p:sp>
      <p:sp>
        <p:nvSpPr>
          <p:cNvPr id="21" name="Text 16"/>
          <p:cNvSpPr txBox="1"/>
          <p:nvPr/>
        </p:nvSpPr>
        <p:spPr>
          <a:xfrm>
            <a:off x="1371600" y="3867912"/>
            <a:ext cx="4343400" cy="621792"/>
          </a:xfrm>
          <a:prstGeom prst="rect">
            <a:avLst/>
          </a:prstGeom>
          <a:noFill/>
          <a:ln/>
        </p:spPr>
        <p:txBody>
          <a:bodyPr wrap="square" lIns="0" tIns="0" rIns="0" bIns="0" rtlCol="0" anchor="ctr"/>
          <a:lstStyle/>
          <a:p>
            <a:pPr indent="0" marL="0">
              <a:buNone/>
            </a:pPr>
            <a:r>
              <a:rPr lang="en-US" sz="1350" b="1" dirty="0">
                <a:solidFill>
                  <a:srgbClr val="E9EDF5"/>
                </a:solidFill>
                <a:latin typeface="Calibri" pitchFamily="34" charset="0"/>
                <a:ea typeface="Calibri" pitchFamily="34" charset="-122"/>
                <a:cs typeface="Calibri" pitchFamily="34" charset="-120"/>
              </a:rPr>
              <a:t>Instrumentation must be checked against the math (L1 norm)</a:t>
            </a:r>
            <a:endParaRPr lang="en-US" sz="1350" dirty="0"/>
          </a:p>
        </p:txBody>
      </p:sp>
      <p:sp>
        <p:nvSpPr>
          <p:cNvPr id="22" name="Text 17"/>
          <p:cNvSpPr txBox="1"/>
          <p:nvPr/>
        </p:nvSpPr>
        <p:spPr>
          <a:xfrm>
            <a:off x="841248" y="4636008"/>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04</a:t>
            </a:r>
            <a:endParaRPr lang="en-US" sz="1300" dirty="0"/>
          </a:p>
        </p:txBody>
      </p:sp>
      <p:sp>
        <p:nvSpPr>
          <p:cNvPr id="23" name="Text 18"/>
          <p:cNvSpPr txBox="1"/>
          <p:nvPr/>
        </p:nvSpPr>
        <p:spPr>
          <a:xfrm>
            <a:off x="1371600" y="4636008"/>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Threading discipline is part of correctness</a:t>
            </a:r>
            <a:endParaRPr lang="en-US" sz="1350" dirty="0"/>
          </a:p>
        </p:txBody>
      </p:sp>
      <p:sp>
        <p:nvSpPr>
          <p:cNvPr id="24" name="Text 19"/>
          <p:cNvSpPr txBox="1"/>
          <p:nvPr/>
        </p:nvSpPr>
        <p:spPr>
          <a:xfrm>
            <a:off x="841248" y="5404104"/>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05</a:t>
            </a:r>
            <a:endParaRPr lang="en-US" sz="1300" dirty="0"/>
          </a:p>
        </p:txBody>
      </p:sp>
      <p:sp>
        <p:nvSpPr>
          <p:cNvPr id="25" name="Text 20"/>
          <p:cNvSpPr txBox="1"/>
          <p:nvPr/>
        </p:nvSpPr>
        <p:spPr>
          <a:xfrm>
            <a:off x="1371600" y="5404104"/>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Reproducibility needs more than a seed</a:t>
            </a:r>
            <a:endParaRPr lang="en-US" sz="1350" dirty="0"/>
          </a:p>
        </p:txBody>
      </p:sp>
      <p:sp>
        <p:nvSpPr>
          <p:cNvPr id="26" name="Shape 21"/>
          <p:cNvSpPr/>
          <p:nvPr/>
        </p:nvSpPr>
        <p:spPr>
          <a:xfrm>
            <a:off x="6217920" y="1645920"/>
            <a:ext cx="5440680" cy="4572000"/>
          </a:xfrm>
          <a:prstGeom prst="roundRect">
            <a:avLst>
              <a:gd name="adj" fmla="val 1600"/>
            </a:avLst>
          </a:prstGeom>
          <a:solidFill>
            <a:srgbClr val="182033"/>
          </a:solidFill>
          <a:ln w="9525">
            <a:solidFill>
              <a:srgbClr val="2A3550"/>
            </a:solidFill>
            <a:prstDash val="solid"/>
          </a:ln>
        </p:spPr>
      </p:sp>
      <p:pic>
        <p:nvPicPr>
          <p:cNvPr id="27" name="Image 2" descr="preencoded.png">    </p:cNvPr>
          <p:cNvPicPr>
            <a:picLocks noChangeAspect="1"/>
          </p:cNvPicPr>
          <p:nvPr/>
        </p:nvPicPr>
        <p:blipFill>
          <a:blip r:embed="rId3"/>
          <a:stretch>
            <a:fillRect/>
          </a:stretch>
        </p:blipFill>
        <p:spPr>
          <a:xfrm>
            <a:off x="6492240" y="1828800"/>
            <a:ext cx="292608" cy="292608"/>
          </a:xfrm>
          <a:prstGeom prst="rect">
            <a:avLst/>
          </a:prstGeom>
        </p:spPr>
      </p:pic>
      <p:sp>
        <p:nvSpPr>
          <p:cNvPr id="28" name="Text 22"/>
          <p:cNvSpPr txBox="1"/>
          <p:nvPr/>
        </p:nvSpPr>
        <p:spPr>
          <a:xfrm>
            <a:off x="6903720" y="1810512"/>
            <a:ext cx="3657600" cy="329184"/>
          </a:xfrm>
          <a:prstGeom prst="rect">
            <a:avLst/>
          </a:prstGeom>
          <a:noFill/>
          <a:ln/>
        </p:spPr>
        <p:txBody>
          <a:bodyPr wrap="square" lIns="0" tIns="0" rIns="0" bIns="0" rtlCol="0" anchor="ctr"/>
          <a:lstStyle/>
          <a:p>
            <a:pPr indent="0" marL="0">
              <a:buNone/>
            </a:pPr>
            <a:r>
              <a:rPr lang="en-US" sz="1300" b="1" spc="250" kern="0" dirty="0">
                <a:solidFill>
                  <a:srgbClr val="4CC38A"/>
                </a:solidFill>
                <a:latin typeface="Calibri" pitchFamily="34" charset="0"/>
                <a:ea typeface="Calibri" pitchFamily="34" charset="-122"/>
                <a:cs typeface="Calibri" pitchFamily="34" charset="-120"/>
              </a:rPr>
              <a:t>FUTURE WORK</a:t>
            </a:r>
            <a:endParaRPr lang="en-US" sz="1300" dirty="0"/>
          </a:p>
        </p:txBody>
      </p:sp>
      <p:sp>
        <p:nvSpPr>
          <p:cNvPr id="29" name="Text 23"/>
          <p:cNvSpPr txBox="1"/>
          <p:nvPr/>
        </p:nvSpPr>
        <p:spPr>
          <a:xfrm>
            <a:off x="6510528" y="2331720"/>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01</a:t>
            </a:r>
            <a:endParaRPr lang="en-US" sz="1300" dirty="0"/>
          </a:p>
        </p:txBody>
      </p:sp>
      <p:sp>
        <p:nvSpPr>
          <p:cNvPr id="30" name="Text 24"/>
          <p:cNvSpPr txBox="1"/>
          <p:nvPr/>
        </p:nvSpPr>
        <p:spPr>
          <a:xfrm>
            <a:off x="7040880" y="2331720"/>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ACS and MAX–MIN AS selectable at runtime</a:t>
            </a:r>
            <a:endParaRPr lang="en-US" sz="1350" dirty="0"/>
          </a:p>
        </p:txBody>
      </p:sp>
      <p:sp>
        <p:nvSpPr>
          <p:cNvPr id="31" name="Text 25"/>
          <p:cNvSpPr txBox="1"/>
          <p:nvPr/>
        </p:nvSpPr>
        <p:spPr>
          <a:xfrm>
            <a:off x="6510528" y="3099816"/>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02</a:t>
            </a:r>
            <a:endParaRPr lang="en-US" sz="1300" dirty="0"/>
          </a:p>
        </p:txBody>
      </p:sp>
      <p:sp>
        <p:nvSpPr>
          <p:cNvPr id="32" name="Text 26"/>
          <p:cNvSpPr txBox="1"/>
          <p:nvPr/>
        </p:nvSpPr>
        <p:spPr>
          <a:xfrm>
            <a:off x="7040880" y="3099816"/>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2-opt local search</a:t>
            </a:r>
            <a:endParaRPr lang="en-US" sz="1350" dirty="0"/>
          </a:p>
        </p:txBody>
      </p:sp>
      <p:sp>
        <p:nvSpPr>
          <p:cNvPr id="33" name="Text 27"/>
          <p:cNvSpPr txBox="1"/>
          <p:nvPr/>
        </p:nvSpPr>
        <p:spPr>
          <a:xfrm>
            <a:off x="6510528" y="3867912"/>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03</a:t>
            </a:r>
            <a:endParaRPr lang="en-US" sz="1300" dirty="0"/>
          </a:p>
        </p:txBody>
      </p:sp>
      <p:sp>
        <p:nvSpPr>
          <p:cNvPr id="34" name="Text 28"/>
          <p:cNvSpPr txBox="1"/>
          <p:nvPr/>
        </p:nvSpPr>
        <p:spPr>
          <a:xfrm>
            <a:off x="7040880" y="3867912"/>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A real concentration measure (row entropy / share of trail on the best tour's edges)</a:t>
            </a:r>
            <a:endParaRPr lang="en-US" sz="1350" dirty="0"/>
          </a:p>
        </p:txBody>
      </p:sp>
      <p:sp>
        <p:nvSpPr>
          <p:cNvPr id="35" name="Text 29"/>
          <p:cNvSpPr txBox="1"/>
          <p:nvPr/>
        </p:nvSpPr>
        <p:spPr>
          <a:xfrm>
            <a:off x="6510528" y="4636008"/>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04</a:t>
            </a:r>
            <a:endParaRPr lang="en-US" sz="1300" dirty="0"/>
          </a:p>
        </p:txBody>
      </p:sp>
      <p:sp>
        <p:nvSpPr>
          <p:cNvPr id="36" name="Text 30"/>
          <p:cNvSpPr txBox="1"/>
          <p:nvPr/>
        </p:nvSpPr>
        <p:spPr>
          <a:xfrm>
            <a:off x="7040880" y="4636008"/>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Platform-independent sampling on mt19937</a:t>
            </a:r>
            <a:endParaRPr lang="en-US" sz="1350" dirty="0"/>
          </a:p>
        </p:txBody>
      </p:sp>
      <p:sp>
        <p:nvSpPr>
          <p:cNvPr id="37" name="Text 31"/>
          <p:cNvSpPr txBox="1"/>
          <p:nvPr/>
        </p:nvSpPr>
        <p:spPr>
          <a:xfrm>
            <a:off x="6510528" y="5404104"/>
            <a:ext cx="457200" cy="621792"/>
          </a:xfrm>
          <a:prstGeom prst="rect">
            <a:avLst/>
          </a:prstGeom>
          <a:noFill/>
          <a:ln/>
        </p:spPr>
        <p:txBody>
          <a:bodyPr wrap="square" lIns="0" tIns="0" rIns="0" bIns="0" rtlCol="0" anchor="ctr"/>
          <a:lstStyle/>
          <a:p>
            <a:pPr indent="0" marL="0">
              <a:buNone/>
            </a:pPr>
            <a:r>
              <a:rPr lang="en-US" sz="1300" b="1" dirty="0">
                <a:solidFill>
                  <a:srgbClr val="8A96AD"/>
                </a:solidFill>
                <a:latin typeface="Consolas" pitchFamily="34" charset="0"/>
                <a:ea typeface="Consolas" pitchFamily="34" charset="-122"/>
                <a:cs typeface="Consolas" pitchFamily="34" charset="-120"/>
              </a:rPr>
              <a:t>05</a:t>
            </a:r>
            <a:endParaRPr lang="en-US" sz="1300" dirty="0"/>
          </a:p>
        </p:txBody>
      </p:sp>
      <p:sp>
        <p:nvSpPr>
          <p:cNvPr id="38" name="Text 32"/>
          <p:cNvSpPr txBox="1"/>
          <p:nvPr/>
        </p:nvSpPr>
        <p:spPr>
          <a:xfrm>
            <a:off x="7040880" y="5404104"/>
            <a:ext cx="4343400" cy="621792"/>
          </a:xfrm>
          <a:prstGeom prst="rect">
            <a:avLst/>
          </a:prstGeom>
          <a:noFill/>
          <a:ln/>
        </p:spPr>
        <p:txBody>
          <a:bodyPr wrap="square" lIns="0" tIns="0" rIns="0" bIns="0" rtlCol="0" anchor="ctr"/>
          <a:lstStyle/>
          <a:p>
            <a:pPr indent="0" marL="0">
              <a:buNone/>
            </a:pPr>
            <a:r>
              <a:rPr lang="en-US" sz="1350" dirty="0">
                <a:solidFill>
                  <a:srgbClr val="E9EDF5"/>
                </a:solidFill>
                <a:latin typeface="Calibri" pitchFamily="34" charset="0"/>
                <a:ea typeface="Calibri" pitchFamily="34" charset="-122"/>
                <a:cs typeface="Calibri" pitchFamily="34" charset="-120"/>
              </a:rPr>
              <a:t>TSPLIB instances with known optima</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420"/>
        </a:solidFill>
      </p:bgPr>
    </p:bg>
    <p:spTree>
      <p:nvGrpSpPr>
        <p:cNvPr id="1" name=""/>
        <p:cNvGrpSpPr/>
        <p:nvPr/>
      </p:nvGrpSpPr>
      <p:grpSpPr>
        <a:xfrm>
          <a:off x="0" y="0"/>
          <a:ext cx="0" cy="0"/>
          <a:chOff x="0" y="0"/>
          <a:chExt cx="0" cy="0"/>
        </a:xfrm>
      </p:grpSpPr>
      <p:pic>
        <p:nvPicPr>
          <p:cNvPr id="3" name="Image 0" descr="img/decor1.png">    </p:cNvPr>
          <p:cNvPicPr>
            <a:picLocks noChangeAspect="1"/>
          </p:cNvPicPr>
          <p:nvPr/>
        </p:nvPicPr>
        <p:blipFill>
          <a:blip r:embed="rId1"/>
          <a:stretch>
            <a:fillRect/>
          </a:stretch>
        </p:blipFill>
        <p:spPr>
          <a:xfrm>
            <a:off x="0" y="0"/>
            <a:ext cx="12191695" cy="6858000"/>
          </a:xfrm>
          <a:prstGeom prst="rect">
            <a:avLst/>
          </a:prstGeom>
        </p:spPr>
      </p:pic>
      <p:sp>
        <p:nvSpPr>
          <p:cNvPr id="4" name="Text 0"/>
          <p:cNvSpPr txBox="1"/>
          <p:nvPr/>
        </p:nvSpPr>
        <p:spPr>
          <a:xfrm>
            <a:off x="640080" y="548640"/>
            <a:ext cx="5486400" cy="274320"/>
          </a:xfrm>
          <a:prstGeom prst="rect">
            <a:avLst/>
          </a:prstGeom>
          <a:noFill/>
          <a:ln/>
        </p:spPr>
        <p:txBody>
          <a:bodyPr wrap="square" lIns="0" tIns="0" rIns="0" bIns="0" rtlCol="0" anchor="t"/>
          <a:lstStyle/>
          <a:p>
            <a:pPr indent="0" marL="0">
              <a:buNone/>
            </a:pPr>
            <a:r>
              <a:rPr lang="en-US" sz="1100" b="1" spc="300" kern="0" dirty="0">
                <a:solidFill>
                  <a:srgbClr val="F39C34"/>
                </a:solidFill>
                <a:latin typeface="Calibri" pitchFamily="34" charset="0"/>
                <a:ea typeface="Calibri" pitchFamily="34" charset="-122"/>
                <a:cs typeface="Calibri" pitchFamily="34" charset="-120"/>
              </a:rPr>
              <a:t>ACO TSP SOLVER</a:t>
            </a:r>
            <a:endParaRPr lang="en-US" sz="1100" dirty="0"/>
          </a:p>
        </p:txBody>
      </p:sp>
      <p:sp>
        <p:nvSpPr>
          <p:cNvPr id="5" name="Text 1"/>
          <p:cNvSpPr txBox="1"/>
          <p:nvPr/>
        </p:nvSpPr>
        <p:spPr>
          <a:xfrm>
            <a:off x="640080" y="960120"/>
            <a:ext cx="7315200" cy="1005840"/>
          </a:xfrm>
          <a:prstGeom prst="rect">
            <a:avLst/>
          </a:prstGeom>
          <a:noFill/>
          <a:ln/>
        </p:spPr>
        <p:txBody>
          <a:bodyPr wrap="square" lIns="0" tIns="0" rIns="0" bIns="0" rtlCol="0" anchor="ctr"/>
          <a:lstStyle/>
          <a:p>
            <a:pPr indent="0" marL="0">
              <a:buNone/>
            </a:pPr>
            <a:r>
              <a:rPr lang="en-US" sz="6000" b="1" dirty="0">
                <a:solidFill>
                  <a:srgbClr val="E9EDF5"/>
                </a:solidFill>
                <a:latin typeface="Calibri" pitchFamily="34" charset="0"/>
                <a:ea typeface="Calibri" pitchFamily="34" charset="-122"/>
                <a:cs typeface="Calibri" pitchFamily="34" charset="-120"/>
              </a:rPr>
              <a:t>Thank You</a:t>
            </a:r>
            <a:endParaRPr lang="en-US" sz="6000" dirty="0"/>
          </a:p>
        </p:txBody>
      </p:sp>
      <p:sp>
        <p:nvSpPr>
          <p:cNvPr id="6" name="Text 2"/>
          <p:cNvSpPr txBox="1"/>
          <p:nvPr/>
        </p:nvSpPr>
        <p:spPr>
          <a:xfrm>
            <a:off x="640080" y="2103120"/>
            <a:ext cx="7498080" cy="822960"/>
          </a:xfrm>
          <a:prstGeom prst="rect">
            <a:avLst/>
          </a:prstGeom>
          <a:noFill/>
          <a:ln/>
        </p:spPr>
        <p:txBody>
          <a:bodyPr wrap="square" lIns="0" tIns="0" rIns="0" bIns="0" rtlCol="0" anchor="t"/>
          <a:lstStyle/>
          <a:p>
            <a:pPr indent="0" marL="0">
              <a:buNone/>
            </a:pPr>
            <a:r>
              <a:rPr lang="en-US" sz="1900" dirty="0">
                <a:solidFill>
                  <a:srgbClr val="C3CCDC"/>
                </a:solidFill>
                <a:latin typeface="Calibri" pitchFamily="34" charset="0"/>
                <a:ea typeface="Calibri" pitchFamily="34" charset="-122"/>
                <a:cs typeface="Calibri" pitchFamily="34" charset="-120"/>
              </a:rPr>
              <a:t>Every tour shown is the direct output of a live Ant System run over natID dense matrices; the algorithm was verified against exact optima.</a:t>
            </a:r>
            <a:endParaRPr lang="en-US" sz="1900" dirty="0"/>
          </a:p>
        </p:txBody>
      </p:sp>
      <p:sp>
        <p:nvSpPr>
          <p:cNvPr id="7" name="Shape 3"/>
          <p:cNvSpPr/>
          <p:nvPr/>
        </p:nvSpPr>
        <p:spPr>
          <a:xfrm>
            <a:off x="640080" y="3429000"/>
            <a:ext cx="2606040" cy="868680"/>
          </a:xfrm>
          <a:prstGeom prst="roundRect">
            <a:avLst>
              <a:gd name="adj" fmla="val 12632"/>
            </a:avLst>
          </a:prstGeom>
          <a:solidFill>
            <a:srgbClr val="F39C34"/>
          </a:solidFill>
          <a:ln w="15875">
            <a:solidFill>
              <a:srgbClr val="F39C34"/>
            </a:solidFill>
            <a:prstDash val="solid"/>
          </a:ln>
        </p:spPr>
      </p:sp>
      <p:pic>
        <p:nvPicPr>
          <p:cNvPr id="8" name="Image 1" descr="preencoded.png">    </p:cNvPr>
          <p:cNvPicPr>
            <a:picLocks noChangeAspect="1"/>
          </p:cNvPicPr>
          <p:nvPr/>
        </p:nvPicPr>
        <p:blipFill>
          <a:blip r:embed="rId2"/>
          <a:stretch>
            <a:fillRect/>
          </a:stretch>
        </p:blipFill>
        <p:spPr>
          <a:xfrm>
            <a:off x="868680" y="3703320"/>
            <a:ext cx="320040" cy="320040"/>
          </a:xfrm>
          <a:prstGeom prst="rect">
            <a:avLst/>
          </a:prstGeom>
        </p:spPr>
      </p:pic>
      <p:sp>
        <p:nvSpPr>
          <p:cNvPr id="9" name="Text 4"/>
          <p:cNvSpPr txBox="1"/>
          <p:nvPr/>
        </p:nvSpPr>
        <p:spPr>
          <a:xfrm>
            <a:off x="1325880" y="3538728"/>
            <a:ext cx="1783080" cy="658368"/>
          </a:xfrm>
          <a:prstGeom prst="rect">
            <a:avLst/>
          </a:prstGeom>
          <a:noFill/>
          <a:ln/>
        </p:spPr>
        <p:txBody>
          <a:bodyPr wrap="square" lIns="0" tIns="0" rIns="0" bIns="0" rtlCol="0" anchor="ctr"/>
          <a:lstStyle/>
          <a:p>
            <a:pPr indent="0" marL="0">
              <a:buNone/>
            </a:pPr>
            <a:r>
              <a:rPr lang="en-US" sz="1050" dirty="0">
                <a:solidFill>
                  <a:srgbClr val="3A2508"/>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0F1420"/>
                </a:solidFill>
                <a:latin typeface="Calibri" pitchFamily="34" charset="0"/>
                <a:ea typeface="Calibri" pitchFamily="34" charset="-122"/>
                <a:cs typeface="Calibri" pitchFamily="34" charset="-120"/>
              </a:rPr>
              <a:t>Windows</a:t>
            </a:r>
            <a:endParaRPr lang="en-US" sz="1050" dirty="0"/>
          </a:p>
        </p:txBody>
      </p:sp>
      <p:pic>
        <p:nvPicPr>
          <p:cNvPr id="10" name="Image 2" descr="img/clear.png">
            <a:hlinkClick r:id="rId4" tooltip="Latest release"/>
          </p:cNvPr>
          <p:cNvPicPr>
            <a:picLocks noChangeAspect="1"/>
          </p:cNvPicPr>
          <p:nvPr/>
        </p:nvPicPr>
        <p:blipFill>
          <a:blip r:embed="rId3"/>
          <a:stretch>
            <a:fillRect/>
          </a:stretch>
        </p:blipFill>
        <p:spPr>
          <a:xfrm>
            <a:off x="640080" y="3429000"/>
            <a:ext cx="2606040" cy="868680"/>
          </a:xfrm>
          <a:prstGeom prst="rect">
            <a:avLst/>
          </a:prstGeom>
        </p:spPr>
      </p:pic>
      <p:sp>
        <p:nvSpPr>
          <p:cNvPr id="11" name="Shape 5"/>
          <p:cNvSpPr/>
          <p:nvPr/>
        </p:nvSpPr>
        <p:spPr>
          <a:xfrm>
            <a:off x="3429000" y="3429000"/>
            <a:ext cx="2606040" cy="868680"/>
          </a:xfrm>
          <a:prstGeom prst="roundRect">
            <a:avLst>
              <a:gd name="adj" fmla="val 12632"/>
            </a:avLst>
          </a:prstGeom>
          <a:solidFill>
            <a:srgbClr val="182033"/>
          </a:solidFill>
          <a:ln w="15875">
            <a:solidFill>
              <a:srgbClr val="F39C34"/>
            </a:solidFill>
            <a:prstDash val="solid"/>
          </a:ln>
        </p:spPr>
      </p:sp>
      <p:pic>
        <p:nvPicPr>
          <p:cNvPr id="12" name="Image 3" descr="preencoded.png">    </p:cNvPr>
          <p:cNvPicPr>
            <a:picLocks noChangeAspect="1"/>
          </p:cNvPicPr>
          <p:nvPr/>
        </p:nvPicPr>
        <p:blipFill>
          <a:blip r:embed="rId5"/>
          <a:stretch>
            <a:fillRect/>
          </a:stretch>
        </p:blipFill>
        <p:spPr>
          <a:xfrm>
            <a:off x="3657600" y="3703320"/>
            <a:ext cx="320040" cy="320040"/>
          </a:xfrm>
          <a:prstGeom prst="rect">
            <a:avLst/>
          </a:prstGeom>
        </p:spPr>
      </p:pic>
      <p:sp>
        <p:nvSpPr>
          <p:cNvPr id="13" name="Text 6"/>
          <p:cNvSpPr txBox="1"/>
          <p:nvPr/>
        </p:nvSpPr>
        <p:spPr>
          <a:xfrm>
            <a:off x="4114800" y="3538728"/>
            <a:ext cx="1783080" cy="658368"/>
          </a:xfrm>
          <a:prstGeom prst="rect">
            <a:avLst/>
          </a:prstGeom>
          <a:noFill/>
          <a:ln/>
        </p:spPr>
        <p:txBody>
          <a:bodyPr wrap="square" lIns="0" tIns="0" rIns="0" bIns="0" rtlCol="0" anchor="ctr"/>
          <a:lstStyle/>
          <a:p>
            <a:pPr indent="0" marL="0">
              <a:buNone/>
            </a:pPr>
            <a:r>
              <a:rPr lang="en-US" sz="1050" dirty="0">
                <a:solidFill>
                  <a:srgbClr val="8A96AD"/>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E9EDF5"/>
                </a:solidFill>
                <a:latin typeface="Calibri" pitchFamily="34" charset="0"/>
                <a:ea typeface="Calibri" pitchFamily="34" charset="-122"/>
                <a:cs typeface="Calibri" pitchFamily="34" charset="-120"/>
              </a:rPr>
              <a:t>Linux</a:t>
            </a:r>
            <a:endParaRPr lang="en-US" sz="1050" dirty="0"/>
          </a:p>
        </p:txBody>
      </p:sp>
      <p:pic>
        <p:nvPicPr>
          <p:cNvPr id="14" name="Image 4" descr="img/clear.png">
            <a:hlinkClick r:id="rId7" tooltip="Latest release"/>
          </p:cNvPr>
          <p:cNvPicPr>
            <a:picLocks noChangeAspect="1"/>
          </p:cNvPicPr>
          <p:nvPr/>
        </p:nvPicPr>
        <p:blipFill>
          <a:blip r:embed="rId6"/>
          <a:stretch>
            <a:fillRect/>
          </a:stretch>
        </p:blipFill>
        <p:spPr>
          <a:xfrm>
            <a:off x="3429000" y="3429000"/>
            <a:ext cx="2606040" cy="868680"/>
          </a:xfrm>
          <a:prstGeom prst="rect">
            <a:avLst/>
          </a:prstGeom>
        </p:spPr>
      </p:pic>
      <p:sp>
        <p:nvSpPr>
          <p:cNvPr id="15" name="Shape 7"/>
          <p:cNvSpPr/>
          <p:nvPr/>
        </p:nvSpPr>
        <p:spPr>
          <a:xfrm>
            <a:off x="6217920" y="3429000"/>
            <a:ext cx="2606040" cy="868680"/>
          </a:xfrm>
          <a:prstGeom prst="roundRect">
            <a:avLst>
              <a:gd name="adj" fmla="val 12632"/>
            </a:avLst>
          </a:prstGeom>
          <a:solidFill>
            <a:srgbClr val="182033"/>
          </a:solidFill>
          <a:ln w="15875">
            <a:solidFill>
              <a:srgbClr val="F39C34"/>
            </a:solidFill>
            <a:prstDash val="solid"/>
          </a:ln>
        </p:spPr>
      </p:sp>
      <p:pic>
        <p:nvPicPr>
          <p:cNvPr id="16" name="Image 5" descr="preencoded.png">    </p:cNvPr>
          <p:cNvPicPr>
            <a:picLocks noChangeAspect="1"/>
          </p:cNvPicPr>
          <p:nvPr/>
        </p:nvPicPr>
        <p:blipFill>
          <a:blip r:embed="rId8"/>
          <a:stretch>
            <a:fillRect/>
          </a:stretch>
        </p:blipFill>
        <p:spPr>
          <a:xfrm>
            <a:off x="6446520" y="3703320"/>
            <a:ext cx="320040" cy="320040"/>
          </a:xfrm>
          <a:prstGeom prst="rect">
            <a:avLst/>
          </a:prstGeom>
        </p:spPr>
      </p:pic>
      <p:sp>
        <p:nvSpPr>
          <p:cNvPr id="17" name="Text 8"/>
          <p:cNvSpPr txBox="1"/>
          <p:nvPr/>
        </p:nvSpPr>
        <p:spPr>
          <a:xfrm>
            <a:off x="6903720" y="3538728"/>
            <a:ext cx="1783080" cy="658368"/>
          </a:xfrm>
          <a:prstGeom prst="rect">
            <a:avLst/>
          </a:prstGeom>
          <a:noFill/>
          <a:ln/>
        </p:spPr>
        <p:txBody>
          <a:bodyPr wrap="square" lIns="0" tIns="0" rIns="0" bIns="0" rtlCol="0" anchor="ctr"/>
          <a:lstStyle/>
          <a:p>
            <a:pPr indent="0" marL="0">
              <a:buNone/>
            </a:pPr>
            <a:r>
              <a:rPr lang="en-US" sz="1050" dirty="0">
                <a:solidFill>
                  <a:srgbClr val="8A96AD"/>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E9EDF5"/>
                </a:solidFill>
                <a:latin typeface="Calibri" pitchFamily="34" charset="0"/>
                <a:ea typeface="Calibri" pitchFamily="34" charset="-122"/>
                <a:cs typeface="Calibri" pitchFamily="34" charset="-120"/>
              </a:rPr>
              <a:t>macOS Intel</a:t>
            </a:r>
            <a:endParaRPr lang="en-US" sz="1050" dirty="0"/>
          </a:p>
        </p:txBody>
      </p:sp>
      <p:pic>
        <p:nvPicPr>
          <p:cNvPr id="18" name="Image 6" descr="img/clear.png">
            <a:hlinkClick r:id="rId10" tooltip="Latest release"/>
          </p:cNvPr>
          <p:cNvPicPr>
            <a:picLocks noChangeAspect="1"/>
          </p:cNvPicPr>
          <p:nvPr/>
        </p:nvPicPr>
        <p:blipFill>
          <a:blip r:embed="rId9"/>
          <a:stretch>
            <a:fillRect/>
          </a:stretch>
        </p:blipFill>
        <p:spPr>
          <a:xfrm>
            <a:off x="6217920" y="3429000"/>
            <a:ext cx="2606040" cy="868680"/>
          </a:xfrm>
          <a:prstGeom prst="rect">
            <a:avLst/>
          </a:prstGeom>
        </p:spPr>
      </p:pic>
      <p:sp>
        <p:nvSpPr>
          <p:cNvPr id="19" name="Shape 9"/>
          <p:cNvSpPr/>
          <p:nvPr/>
        </p:nvSpPr>
        <p:spPr>
          <a:xfrm>
            <a:off x="9006840" y="3429000"/>
            <a:ext cx="2606040" cy="868680"/>
          </a:xfrm>
          <a:prstGeom prst="roundRect">
            <a:avLst>
              <a:gd name="adj" fmla="val 12632"/>
            </a:avLst>
          </a:prstGeom>
          <a:solidFill>
            <a:srgbClr val="182033"/>
          </a:solidFill>
          <a:ln w="15875">
            <a:solidFill>
              <a:srgbClr val="F39C34"/>
            </a:solidFill>
            <a:prstDash val="solid"/>
          </a:ln>
        </p:spPr>
      </p:sp>
      <p:pic>
        <p:nvPicPr>
          <p:cNvPr id="20" name="Image 7" descr="preencoded.png">    </p:cNvPr>
          <p:cNvPicPr>
            <a:picLocks noChangeAspect="1"/>
          </p:cNvPicPr>
          <p:nvPr/>
        </p:nvPicPr>
        <p:blipFill>
          <a:blip r:embed="rId11"/>
          <a:stretch>
            <a:fillRect/>
          </a:stretch>
        </p:blipFill>
        <p:spPr>
          <a:xfrm>
            <a:off x="9235440" y="3703320"/>
            <a:ext cx="320040" cy="320040"/>
          </a:xfrm>
          <a:prstGeom prst="rect">
            <a:avLst/>
          </a:prstGeom>
        </p:spPr>
      </p:pic>
      <p:sp>
        <p:nvSpPr>
          <p:cNvPr id="21" name="Text 10"/>
          <p:cNvSpPr txBox="1"/>
          <p:nvPr/>
        </p:nvSpPr>
        <p:spPr>
          <a:xfrm>
            <a:off x="9692640" y="3538728"/>
            <a:ext cx="1783080" cy="658368"/>
          </a:xfrm>
          <a:prstGeom prst="rect">
            <a:avLst/>
          </a:prstGeom>
          <a:noFill/>
          <a:ln/>
        </p:spPr>
        <p:txBody>
          <a:bodyPr wrap="square" lIns="0" tIns="0" rIns="0" bIns="0" rtlCol="0" anchor="ctr"/>
          <a:lstStyle/>
          <a:p>
            <a:pPr indent="0" marL="0">
              <a:buNone/>
            </a:pPr>
            <a:r>
              <a:rPr lang="en-US" sz="1050" dirty="0">
                <a:solidFill>
                  <a:srgbClr val="8A96AD"/>
                </a:solidFill>
                <a:latin typeface="Calibri" pitchFamily="34" charset="0"/>
                <a:ea typeface="Calibri" pitchFamily="34" charset="-122"/>
                <a:cs typeface="Calibri" pitchFamily="34" charset="-120"/>
              </a:rPr>
              <a:t>Download for</a:t>
            </a:r>
            <a:endParaRPr lang="en-US" sz="1050" dirty="0"/>
          </a:p>
          <a:p>
            <a:pPr indent="0" marL="0">
              <a:buNone/>
            </a:pPr>
            <a:r>
              <a:rPr lang="en-US" sz="1600" b="1" dirty="0">
                <a:solidFill>
                  <a:srgbClr val="E9EDF5"/>
                </a:solidFill>
                <a:latin typeface="Calibri" pitchFamily="34" charset="0"/>
                <a:ea typeface="Calibri" pitchFamily="34" charset="-122"/>
                <a:cs typeface="Calibri" pitchFamily="34" charset="-120"/>
              </a:rPr>
              <a:t>macOS Silicon</a:t>
            </a:r>
            <a:endParaRPr lang="en-US" sz="1050" dirty="0"/>
          </a:p>
        </p:txBody>
      </p:sp>
      <p:pic>
        <p:nvPicPr>
          <p:cNvPr id="22" name="Image 8" descr="img/clear.png">
            <a:hlinkClick r:id="rId13" tooltip="Latest release"/>
          </p:cNvPr>
          <p:cNvPicPr>
            <a:picLocks noChangeAspect="1"/>
          </p:cNvPicPr>
          <p:nvPr/>
        </p:nvPicPr>
        <p:blipFill>
          <a:blip r:embed="rId12"/>
          <a:stretch>
            <a:fillRect/>
          </a:stretch>
        </p:blipFill>
        <p:spPr>
          <a:xfrm>
            <a:off x="9006840" y="3429000"/>
            <a:ext cx="2606040" cy="868680"/>
          </a:xfrm>
          <a:prstGeom prst="rect">
            <a:avLst/>
          </a:prstGeom>
        </p:spPr>
      </p:pic>
      <p:sp>
        <p:nvSpPr>
          <p:cNvPr id="23" name="Text 11"/>
          <p:cNvSpPr txBox="1"/>
          <p:nvPr/>
        </p:nvSpPr>
        <p:spPr>
          <a:xfrm>
            <a:off x="640080" y="4617720"/>
            <a:ext cx="4754880" cy="457200"/>
          </a:xfrm>
          <a:prstGeom prst="roundRect">
            <a:avLst>
              <a:gd name="adj" fmla="val 50000"/>
            </a:avLst>
          </a:prstGeom>
          <a:solidFill>
            <a:srgbClr val="182033"/>
          </a:solidFill>
          <a:ln w="9525">
            <a:solidFill>
              <a:srgbClr val="2A3550"/>
            </a:solidFill>
          </a:ln>
        </p:spPr>
        <p:txBody>
          <a:bodyPr wrap="square" lIns="0" tIns="101600" rIns="101600" bIns="0" rtlCol="0" anchor="ctr"/>
          <a:lstStyle/>
          <a:p>
            <a:pPr algn="ctr" indent="0" marL="0">
              <a:buNone/>
            </a:pPr>
            <a:r>
              <a:rPr lang="en-US" sz="1200" dirty="0">
                <a:solidFill>
                  <a:srgbClr val="C3CCDC"/>
                </a:solidFill>
                <a:latin typeface="Consolas" pitchFamily="34" charset="0"/>
                <a:ea typeface="Consolas" pitchFamily="34" charset="-122"/>
                <a:cs typeface="Consolas" pitchFamily="34" charset="-120"/>
              </a:rPr>
              <a:t>github.com/arminn2206/ProjNO_TSPACO_Memisevic</a:t>
            </a:r>
            <a:endParaRPr lang="en-US" sz="1200" dirty="0"/>
          </a:p>
        </p:txBody>
      </p:sp>
      <p:pic>
        <p:nvPicPr>
          <p:cNvPr id="24" name="Image 9" descr="img/clear.png">
            <a:hlinkClick r:id="rId15" tooltip=""/>
          </p:cNvPr>
          <p:cNvPicPr>
            <a:picLocks noChangeAspect="1"/>
          </p:cNvPicPr>
          <p:nvPr/>
        </p:nvPicPr>
        <p:blipFill>
          <a:blip r:embed="rId14"/>
          <a:stretch>
            <a:fillRect/>
          </a:stretch>
        </p:blipFill>
        <p:spPr>
          <a:xfrm>
            <a:off x="640080" y="4617720"/>
            <a:ext cx="4754880" cy="457200"/>
          </a:xfrm>
          <a:prstGeom prst="rect">
            <a:avLst/>
          </a:prstGeom>
        </p:spPr>
      </p:pic>
      <p:sp>
        <p:nvSpPr>
          <p:cNvPr id="25" name="Text 12"/>
          <p:cNvSpPr txBox="1"/>
          <p:nvPr/>
        </p:nvSpPr>
        <p:spPr>
          <a:xfrm>
            <a:off x="640080" y="5715000"/>
            <a:ext cx="7132320" cy="365760"/>
          </a:xfrm>
          <a:prstGeom prst="rect">
            <a:avLst/>
          </a:prstGeom>
          <a:noFill/>
          <a:ln/>
        </p:spPr>
        <p:txBody>
          <a:bodyPr wrap="square" lIns="0" tIns="0" rIns="0" bIns="0" rtlCol="0" anchor="ctr"/>
          <a:lstStyle/>
          <a:p>
            <a:pPr indent="0" marL="0">
              <a:buNone/>
            </a:pPr>
            <a:r>
              <a:rPr lang="en-US" sz="1300" b="1" dirty="0">
                <a:solidFill>
                  <a:srgbClr val="E9EDF5"/>
                </a:solidFill>
                <a:latin typeface="Calibri" pitchFamily="34" charset="0"/>
                <a:ea typeface="Calibri" pitchFamily="34" charset="-122"/>
                <a:cs typeface="Calibri" pitchFamily="34" charset="-120"/>
              </a:rPr>
              <a:t>Armin Memišević</a:t>
            </a:r>
            <a:pPr indent="0" marL="0">
              <a:buNone/>
            </a:pPr>
            <a:r>
              <a:rPr lang="en-US" sz="1300" dirty="0">
                <a:solidFill>
                  <a:srgbClr val="8A96AD"/>
                </a:solidFill>
                <a:latin typeface="Calibri" pitchFamily="34" charset="0"/>
                <a:ea typeface="Calibri" pitchFamily="34" charset="-122"/>
                <a:cs typeface="Calibri" pitchFamily="34" charset="-120"/>
              </a:rPr>
              <a:t>  ·  ETF Sarajevo  ·  Data Science and Artificial Intelligence</a:t>
            </a:r>
            <a:endParaRPr lang="en-US" sz="1300" dirty="0"/>
          </a:p>
        </p:txBody>
      </p:sp>
      <p:pic>
        <p:nvPicPr>
          <p:cNvPr id="26" name="Image 10" descr="ETF Sarajevo and DSAI logo">    </p:cNvPr>
          <p:cNvPicPr>
            <a:picLocks noChangeAspect="1"/>
          </p:cNvPicPr>
          <p:nvPr/>
        </p:nvPicPr>
        <p:blipFill>
          <a:blip r:embed="rId16"/>
          <a:stretch>
            <a:fillRect/>
          </a:stretch>
        </p:blipFill>
        <p:spPr>
          <a:xfrm>
            <a:off x="8001000" y="5650992"/>
            <a:ext cx="3657600" cy="529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ACO TSP Solver</dc:title>
  <dc:subject>PptxGenJS Presentation</dc:subject>
  <dc:creator>Armin Memišević</dc:creator>
  <cp:lastModifiedBy>Armin Memišević</cp:lastModifiedBy>
  <cp:revision>1</cp:revision>
  <dcterms:created xsi:type="dcterms:W3CDTF">2026-09-16T10:25:27Z</dcterms:created>
  <dcterms:modified xsi:type="dcterms:W3CDTF">2026-09-16T10:25:27Z</dcterms:modified>
</cp:coreProperties>
</file>