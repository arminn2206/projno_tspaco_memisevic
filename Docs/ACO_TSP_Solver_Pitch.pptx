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Armin, and my project is the ACO TSP Solver. It tackles the Travelling Salesman Problem, finding a short round trip through a set of towns, using Ant Colony Optimization. The towns are real towns in Bosnia and Herzegovina, and the whole search is shown live on screen. I'll explain the idea in one slide, show what's implemented, and then go straight to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picks 15 to 25 real towns. Each round, a colony of virtual ants builds complete trips. They prefer short hops and links that other ants used. Short trips leave more pheromone, and old pheromone evaporates, so the colony gradually settles on a good route. On the map you see the best trip and the trail; below is the convergence chart. In tests on thirty instances, the colony was on average 0.68 percent above the true optimum where it could be computed, and never worse than the greedy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the proposal is implemented: real maps, the Ant System, adjustable parameters, the live map, the convergence chart and statistics. On top of that there are reproducible runs, a comparison of the last two runs, CSV export, English and Bosnian, and builds for Windows, macOS and Linux, downloadable from the releases page. Now let me show you the app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github.com/arminn2206/ProjNO_TSPACO_Memisevic"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hyperlink" Target="https://github.com/arminn2206/ProjNO_TSPACO_Memisevic/releases/latest" TargetMode="External"/><Relationship Id="rId7" Type="http://schemas.openxmlformats.org/officeDocument/2006/relationships/hyperlink" Target="https://github.com/arminn2206/ProjNO_TSPACO_Memisevic/releases/latest" TargetMode="External"/><Relationship Id="rId10" Type="http://schemas.openxmlformats.org/officeDocument/2006/relationships/hyperlink" Target="https://github.com/arminn2206/ProjNO_TSPACO_Memisevic/releases/latest" TargetMode="External"/><Relationship Id="rId13" Type="http://schemas.openxmlformats.org/officeDocument/2006/relationships/hyperlink" Target="https://github.com/arminn2206/ProjNO_TSPACO_Memisevic/releases/latest"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3.png"/><Relationship Id="rId8" Type="http://schemas.openxmlformats.org/officeDocument/2006/relationships/image" Target="../media/image-3-6.png"/><Relationship Id="rId9" Type="http://schemas.openxmlformats.org/officeDocument/2006/relationships/image" Target="../media/image-3-3.png"/><Relationship Id="rId11" Type="http://schemas.openxmlformats.org/officeDocument/2006/relationships/image" Target="../media/image-3-8.png"/><Relationship Id="rId12" Type="http://schemas.openxmlformats.org/officeDocument/2006/relationships/image" Target="../media/image-3-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p:bgPr>
    </p:bg>
    <p:spTree>
      <p:nvGrpSpPr>
        <p:cNvPr id="1" name=""/>
        <p:cNvGrpSpPr/>
        <p:nvPr/>
      </p:nvGrpSpPr>
      <p:grpSpPr>
        <a:xfrm>
          <a:off x="0" y="0"/>
          <a:ext cx="0" cy="0"/>
          <a:chOff x="0" y="0"/>
          <a:chExt cx="0" cy="0"/>
        </a:xfrm>
      </p:grpSpPr>
      <p:pic>
        <p:nvPicPr>
          <p:cNvPr id="3" name="Image 0" descr="img/decor1.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40080" y="548640"/>
            <a:ext cx="10058400" cy="274320"/>
          </a:xfrm>
          <a:prstGeom prst="rect">
            <a:avLst/>
          </a:prstGeom>
          <a:noFill/>
          <a:ln/>
        </p:spPr>
        <p:txBody>
          <a:bodyPr wrap="square" lIns="0" tIns="0" rIns="0" bIns="0" rtlCol="0" anchor="t"/>
          <a:lstStyle/>
          <a:p>
            <a:pPr indent="0" marL="0">
              <a:buNone/>
            </a:pPr>
            <a:r>
              <a:rPr lang="en-US" sz="1100" b="1" spc="200" kern="0" dirty="0">
                <a:solidFill>
                  <a:srgbClr val="F39C34"/>
                </a:solidFill>
                <a:latin typeface="Calibri" pitchFamily="34" charset="0"/>
                <a:ea typeface="Calibri" pitchFamily="34" charset="-122"/>
                <a:cs typeface="Calibri" pitchFamily="34" charset="-120"/>
              </a:rPr>
              <a:t>PROJECT PRESENTATION · NUMERICAL OPTIMIZATION · ETF SARAJEVO</a:t>
            </a:r>
            <a:endParaRPr lang="en-US" sz="1100" dirty="0"/>
          </a:p>
        </p:txBody>
      </p:sp>
      <p:sp>
        <p:nvSpPr>
          <p:cNvPr id="5" name="Text 1"/>
          <p:cNvSpPr txBox="1"/>
          <p:nvPr/>
        </p:nvSpPr>
        <p:spPr>
          <a:xfrm>
            <a:off x="640080" y="1188720"/>
            <a:ext cx="8229600" cy="1005840"/>
          </a:xfrm>
          <a:prstGeom prst="rect">
            <a:avLst/>
          </a:prstGeom>
          <a:noFill/>
          <a:ln/>
        </p:spPr>
        <p:txBody>
          <a:bodyPr wrap="square" lIns="0" tIns="0" rIns="0" bIns="0" rtlCol="0" anchor="ctr"/>
          <a:lstStyle/>
          <a:p>
            <a:pPr indent="0" marL="0">
              <a:buNone/>
            </a:pPr>
            <a:r>
              <a:rPr lang="en-US" sz="6000" b="1" dirty="0">
                <a:solidFill>
                  <a:srgbClr val="E9EDF5"/>
                </a:solidFill>
                <a:latin typeface="Calibri" pitchFamily="34" charset="0"/>
                <a:ea typeface="Calibri" pitchFamily="34" charset="-122"/>
                <a:cs typeface="Calibri" pitchFamily="34" charset="-120"/>
              </a:rPr>
              <a:t>ACO TSP Solver</a:t>
            </a:r>
            <a:endParaRPr lang="en-US" sz="6000" dirty="0"/>
          </a:p>
        </p:txBody>
      </p:sp>
      <p:sp>
        <p:nvSpPr>
          <p:cNvPr id="6" name="Text 2"/>
          <p:cNvSpPr txBox="1"/>
          <p:nvPr/>
        </p:nvSpPr>
        <p:spPr>
          <a:xfrm>
            <a:off x="640080" y="2240280"/>
            <a:ext cx="8229600" cy="457200"/>
          </a:xfrm>
          <a:prstGeom prst="rect">
            <a:avLst/>
          </a:prstGeom>
          <a:noFill/>
          <a:ln/>
        </p:spPr>
        <p:txBody>
          <a:bodyPr wrap="square" lIns="0" tIns="0" rIns="0" bIns="0" rtlCol="0" anchor="ctr"/>
          <a:lstStyle/>
          <a:p>
            <a:pPr indent="0" marL="0">
              <a:buNone/>
            </a:pPr>
            <a:r>
              <a:rPr lang="en-US" sz="2200" dirty="0">
                <a:solidFill>
                  <a:srgbClr val="C3CCDC"/>
                </a:solidFill>
                <a:latin typeface="Calibri" pitchFamily="34" charset="0"/>
                <a:ea typeface="Calibri" pitchFamily="34" charset="-122"/>
                <a:cs typeface="Calibri" pitchFamily="34" charset="-120"/>
              </a:rPr>
              <a:t>Ant Colony Optimization for the Travelling Salesman Problem</a:t>
            </a:r>
            <a:endParaRPr lang="en-US" sz="2200" dirty="0"/>
          </a:p>
        </p:txBody>
      </p:sp>
      <p:sp>
        <p:nvSpPr>
          <p:cNvPr id="7" name="Text 3"/>
          <p:cNvSpPr txBox="1"/>
          <p:nvPr/>
        </p:nvSpPr>
        <p:spPr>
          <a:xfrm>
            <a:off x="640080" y="2697480"/>
            <a:ext cx="8686800" cy="365760"/>
          </a:xfrm>
          <a:prstGeom prst="rect">
            <a:avLst/>
          </a:prstGeom>
          <a:noFill/>
          <a:ln/>
        </p:spPr>
        <p:txBody>
          <a:bodyPr wrap="square" lIns="0" tIns="0" rIns="0" bIns="0" rtlCol="0" anchor="ctr"/>
          <a:lstStyle/>
          <a:p>
            <a:pPr indent="0" marL="0">
              <a:buNone/>
            </a:pPr>
            <a:r>
              <a:rPr lang="en-US" sz="1500" i="1" dirty="0">
                <a:solidFill>
                  <a:srgbClr val="8A96AD"/>
                </a:solidFill>
                <a:latin typeface="Calibri" pitchFamily="34" charset="0"/>
                <a:ea typeface="Calibri" pitchFamily="34" charset="-122"/>
                <a:cs typeface="Calibri" pitchFamily="34" charset="-120"/>
              </a:rPr>
              <a:t>Artificial ants find short round trips through real Bosnian towns, live on screen</a:t>
            </a:r>
            <a:endParaRPr lang="en-US" sz="1500" dirty="0"/>
          </a:p>
        </p:txBody>
      </p:sp>
      <p:sp>
        <p:nvSpPr>
          <p:cNvPr id="8" name="Shape 4"/>
          <p:cNvSpPr/>
          <p:nvPr/>
        </p:nvSpPr>
        <p:spPr>
          <a:xfrm>
            <a:off x="640080" y="3794760"/>
            <a:ext cx="2606040" cy="960120"/>
          </a:xfrm>
          <a:prstGeom prst="roundRect">
            <a:avLst>
              <a:gd name="adj" fmla="val 7619"/>
            </a:avLst>
          </a:prstGeom>
          <a:solidFill>
            <a:srgbClr val="182033"/>
          </a:solidFill>
          <a:ln w="9525">
            <a:solidFill>
              <a:srgbClr val="2A3550"/>
            </a:solidFill>
            <a:prstDash val="solid"/>
          </a:ln>
        </p:spPr>
      </p:sp>
      <p:sp>
        <p:nvSpPr>
          <p:cNvPr id="9" name="Shape 5"/>
          <p:cNvSpPr/>
          <p:nvPr/>
        </p:nvSpPr>
        <p:spPr>
          <a:xfrm>
            <a:off x="841248" y="4023360"/>
            <a:ext cx="82296" cy="82296"/>
          </a:xfrm>
          <a:prstGeom prst="rect">
            <a:avLst/>
          </a:prstGeom>
          <a:solidFill>
            <a:srgbClr val="F39C34"/>
          </a:solidFill>
          <a:ln w="12700">
            <a:solidFill>
              <a:srgbClr val="F39C34"/>
            </a:solidFill>
            <a:prstDash val="solid"/>
          </a:ln>
        </p:spPr>
      </p:sp>
      <p:sp>
        <p:nvSpPr>
          <p:cNvPr id="10" name="Text 6"/>
          <p:cNvSpPr txBox="1"/>
          <p:nvPr/>
        </p:nvSpPr>
        <p:spPr>
          <a:xfrm>
            <a:off x="100584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STUDENT</a:t>
            </a:r>
            <a:endParaRPr lang="en-US" sz="950" dirty="0"/>
          </a:p>
        </p:txBody>
      </p:sp>
      <p:sp>
        <p:nvSpPr>
          <p:cNvPr id="11" name="Text 7"/>
          <p:cNvSpPr txBox="1"/>
          <p:nvPr/>
        </p:nvSpPr>
        <p:spPr>
          <a:xfrm>
            <a:off x="84124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Armin Memišević · 20016</a:t>
            </a:r>
            <a:endParaRPr lang="en-US" sz="1450" dirty="0"/>
          </a:p>
        </p:txBody>
      </p:sp>
      <p:sp>
        <p:nvSpPr>
          <p:cNvPr id="12" name="Shape 8"/>
          <p:cNvSpPr/>
          <p:nvPr/>
        </p:nvSpPr>
        <p:spPr>
          <a:xfrm>
            <a:off x="3429000" y="3794760"/>
            <a:ext cx="2606040" cy="960120"/>
          </a:xfrm>
          <a:prstGeom prst="roundRect">
            <a:avLst>
              <a:gd name="adj" fmla="val 7619"/>
            </a:avLst>
          </a:prstGeom>
          <a:solidFill>
            <a:srgbClr val="182033"/>
          </a:solidFill>
          <a:ln w="9525">
            <a:solidFill>
              <a:srgbClr val="2A3550"/>
            </a:solidFill>
            <a:prstDash val="solid"/>
          </a:ln>
        </p:spPr>
      </p:sp>
      <p:sp>
        <p:nvSpPr>
          <p:cNvPr id="13" name="Shape 9"/>
          <p:cNvSpPr/>
          <p:nvPr/>
        </p:nvSpPr>
        <p:spPr>
          <a:xfrm>
            <a:off x="3630168" y="4023360"/>
            <a:ext cx="82296" cy="82296"/>
          </a:xfrm>
          <a:prstGeom prst="rect">
            <a:avLst/>
          </a:prstGeom>
          <a:solidFill>
            <a:srgbClr val="F39C34"/>
          </a:solidFill>
          <a:ln w="12700">
            <a:solidFill>
              <a:srgbClr val="F39C34"/>
            </a:solidFill>
            <a:prstDash val="solid"/>
          </a:ln>
        </p:spPr>
      </p:sp>
      <p:sp>
        <p:nvSpPr>
          <p:cNvPr id="14" name="Text 10"/>
          <p:cNvSpPr txBox="1"/>
          <p:nvPr/>
        </p:nvSpPr>
        <p:spPr>
          <a:xfrm>
            <a:off x="379476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COURSE</a:t>
            </a:r>
            <a:endParaRPr lang="en-US" sz="950" dirty="0"/>
          </a:p>
        </p:txBody>
      </p:sp>
      <p:sp>
        <p:nvSpPr>
          <p:cNvPr id="15" name="Text 11"/>
          <p:cNvSpPr txBox="1"/>
          <p:nvPr/>
        </p:nvSpPr>
        <p:spPr>
          <a:xfrm>
            <a:off x="363016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Numerical Optimization</a:t>
            </a:r>
            <a:endParaRPr lang="en-US" sz="1450" dirty="0"/>
          </a:p>
        </p:txBody>
      </p:sp>
      <p:sp>
        <p:nvSpPr>
          <p:cNvPr id="16" name="Shape 12"/>
          <p:cNvSpPr/>
          <p:nvPr/>
        </p:nvSpPr>
        <p:spPr>
          <a:xfrm>
            <a:off x="6217920" y="3794760"/>
            <a:ext cx="2606040" cy="960120"/>
          </a:xfrm>
          <a:prstGeom prst="roundRect">
            <a:avLst>
              <a:gd name="adj" fmla="val 7619"/>
            </a:avLst>
          </a:prstGeom>
          <a:solidFill>
            <a:srgbClr val="182033"/>
          </a:solidFill>
          <a:ln w="9525">
            <a:solidFill>
              <a:srgbClr val="2A3550"/>
            </a:solidFill>
            <a:prstDash val="solid"/>
          </a:ln>
        </p:spPr>
      </p:sp>
      <p:sp>
        <p:nvSpPr>
          <p:cNvPr id="17" name="Shape 13"/>
          <p:cNvSpPr/>
          <p:nvPr/>
        </p:nvSpPr>
        <p:spPr>
          <a:xfrm>
            <a:off x="6419088" y="4023360"/>
            <a:ext cx="82296" cy="82296"/>
          </a:xfrm>
          <a:prstGeom prst="rect">
            <a:avLst/>
          </a:prstGeom>
          <a:solidFill>
            <a:srgbClr val="F39C34"/>
          </a:solidFill>
          <a:ln w="12700">
            <a:solidFill>
              <a:srgbClr val="F39C34"/>
            </a:solidFill>
            <a:prstDash val="solid"/>
          </a:ln>
        </p:spPr>
      </p:sp>
      <p:sp>
        <p:nvSpPr>
          <p:cNvPr id="18" name="Text 14"/>
          <p:cNvSpPr txBox="1"/>
          <p:nvPr/>
        </p:nvSpPr>
        <p:spPr>
          <a:xfrm>
            <a:off x="658368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PROFESSOR</a:t>
            </a:r>
            <a:endParaRPr lang="en-US" sz="950" dirty="0"/>
          </a:p>
        </p:txBody>
      </p:sp>
      <p:sp>
        <p:nvSpPr>
          <p:cNvPr id="19" name="Text 15"/>
          <p:cNvSpPr txBox="1"/>
          <p:nvPr/>
        </p:nvSpPr>
        <p:spPr>
          <a:xfrm>
            <a:off x="641908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Prof. Dr. Izudin Džafić</a:t>
            </a:r>
            <a:endParaRPr lang="en-US" sz="1450" dirty="0"/>
          </a:p>
        </p:txBody>
      </p:sp>
      <p:sp>
        <p:nvSpPr>
          <p:cNvPr id="20" name="Shape 16"/>
          <p:cNvSpPr/>
          <p:nvPr/>
        </p:nvSpPr>
        <p:spPr>
          <a:xfrm>
            <a:off x="9006840" y="3794760"/>
            <a:ext cx="2606040" cy="960120"/>
          </a:xfrm>
          <a:prstGeom prst="roundRect">
            <a:avLst>
              <a:gd name="adj" fmla="val 7619"/>
            </a:avLst>
          </a:prstGeom>
          <a:solidFill>
            <a:srgbClr val="182033"/>
          </a:solidFill>
          <a:ln w="9525">
            <a:solidFill>
              <a:srgbClr val="2A3550"/>
            </a:solidFill>
            <a:prstDash val="solid"/>
          </a:ln>
        </p:spPr>
      </p:sp>
      <p:sp>
        <p:nvSpPr>
          <p:cNvPr id="21" name="Shape 17"/>
          <p:cNvSpPr/>
          <p:nvPr/>
        </p:nvSpPr>
        <p:spPr>
          <a:xfrm>
            <a:off x="9208008" y="4023360"/>
            <a:ext cx="82296" cy="82296"/>
          </a:xfrm>
          <a:prstGeom prst="rect">
            <a:avLst/>
          </a:prstGeom>
          <a:solidFill>
            <a:srgbClr val="F39C34"/>
          </a:solidFill>
          <a:ln w="12700">
            <a:solidFill>
              <a:srgbClr val="F39C34"/>
            </a:solidFill>
            <a:prstDash val="solid"/>
          </a:ln>
        </p:spPr>
      </p:sp>
      <p:sp>
        <p:nvSpPr>
          <p:cNvPr id="22" name="Text 18"/>
          <p:cNvSpPr txBox="1"/>
          <p:nvPr/>
        </p:nvSpPr>
        <p:spPr>
          <a:xfrm>
            <a:off x="937260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ACADEMIC YEAR</a:t>
            </a:r>
            <a:endParaRPr lang="en-US" sz="950" dirty="0"/>
          </a:p>
        </p:txBody>
      </p:sp>
      <p:sp>
        <p:nvSpPr>
          <p:cNvPr id="23" name="Text 19"/>
          <p:cNvSpPr txBox="1"/>
          <p:nvPr/>
        </p:nvSpPr>
        <p:spPr>
          <a:xfrm>
            <a:off x="920800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2025/26</a:t>
            </a:r>
            <a:endParaRPr lang="en-US" sz="1450" dirty="0"/>
          </a:p>
        </p:txBody>
      </p:sp>
      <p:pic>
        <p:nvPicPr>
          <p:cNvPr id="24" name="Image 1" descr="ETF Sarajevo and DSAI logo">    </p:cNvPr>
          <p:cNvPicPr>
            <a:picLocks noChangeAspect="1"/>
          </p:cNvPicPr>
          <p:nvPr/>
        </p:nvPicPr>
        <p:blipFill>
          <a:blip r:embed="rId2"/>
          <a:stretch>
            <a:fillRect/>
          </a:stretch>
        </p:blipFill>
        <p:spPr>
          <a:xfrm>
            <a:off x="640080" y="5596128"/>
            <a:ext cx="3657600" cy="529692"/>
          </a:xfrm>
          <a:prstGeom prst="rect">
            <a:avLst/>
          </a:prstGeom>
        </p:spPr>
      </p:pic>
      <p:sp>
        <p:nvSpPr>
          <p:cNvPr id="25" name="Text 20"/>
          <p:cNvSpPr txBox="1"/>
          <p:nvPr/>
        </p:nvSpPr>
        <p:spPr>
          <a:xfrm>
            <a:off x="6583680" y="5230368"/>
            <a:ext cx="2743200" cy="274320"/>
          </a:xfrm>
          <a:prstGeom prst="rect">
            <a:avLst/>
          </a:prstGeom>
          <a:noFill/>
          <a:ln/>
        </p:spPr>
        <p:txBody>
          <a:bodyPr wrap="square" lIns="0" tIns="0" rIns="0" bIns="0" rtlCol="0" anchor="ctr"/>
          <a:lstStyle/>
          <a:p>
            <a:pPr indent="0" marL="0">
              <a:buNone/>
            </a:pPr>
            <a:r>
              <a:rPr lang="en-US" sz="1100" dirty="0">
                <a:solidFill>
                  <a:srgbClr val="8A96AD"/>
                </a:solidFill>
                <a:latin typeface="Calibri" pitchFamily="34" charset="0"/>
                <a:ea typeface="Calibri" pitchFamily="34" charset="-122"/>
                <a:cs typeface="Calibri" pitchFamily="34" charset="-120"/>
              </a:rPr>
              <a:t>Available on:</a:t>
            </a:r>
            <a:endParaRPr lang="en-US" sz="1100" dirty="0"/>
          </a:p>
        </p:txBody>
      </p:sp>
      <p:sp>
        <p:nvSpPr>
          <p:cNvPr id="26" name="Text 21"/>
          <p:cNvSpPr txBox="1"/>
          <p:nvPr/>
        </p:nvSpPr>
        <p:spPr>
          <a:xfrm>
            <a:off x="6583680" y="5532120"/>
            <a:ext cx="4983480" cy="475488"/>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onsolas" pitchFamily="34" charset="0"/>
                <a:ea typeface="Consolas" pitchFamily="34" charset="-122"/>
                <a:cs typeface="Consolas" pitchFamily="34" charset="-120"/>
              </a:rPr>
              <a:t>github.com/arminn2206/ProjNO_TSPACO_Memisevic</a:t>
            </a:r>
            <a:endParaRPr lang="en-US" sz="1200" dirty="0"/>
          </a:p>
        </p:txBody>
      </p:sp>
      <p:pic>
        <p:nvPicPr>
          <p:cNvPr id="27" name="Image 2" descr="img/clear.png">
            <a:hlinkClick r:id="rId4" tooltip=""/>
          </p:cNvPr>
          <p:cNvPicPr>
            <a:picLocks noChangeAspect="1"/>
          </p:cNvPicPr>
          <p:nvPr/>
        </p:nvPicPr>
        <p:blipFill>
          <a:blip r:embed="rId3"/>
          <a:stretch>
            <a:fillRect/>
          </a:stretch>
        </p:blipFill>
        <p:spPr>
          <a:xfrm>
            <a:off x="6583680" y="5532120"/>
            <a:ext cx="4983480" cy="4754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THE IDEA IN 30 SECONDS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How It Works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A colony of virtual ants learns a short round trip, and you watch it happen.</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1801368"/>
            <a:ext cx="365760" cy="365760"/>
          </a:xfrm>
          <a:prstGeom prst="ellipse">
            <a:avLst/>
          </a:prstGeom>
          <a:solidFill>
            <a:srgbClr val="182033"/>
          </a:solidFill>
          <a:ln w="12700">
            <a:solidFill>
              <a:srgbClr val="F39C34"/>
            </a:solidFill>
          </a:ln>
        </p:spPr>
        <p:txBody>
          <a:bodyPr wrap="square" lIns="0" tIns="0" rIns="0" bIns="0" rtlCol="0" anchor="ctr"/>
          <a:lstStyle/>
          <a:p>
            <a:pPr algn="ctr" indent="0" marL="0">
              <a:buNone/>
            </a:pPr>
            <a:r>
              <a:rPr lang="en-US" sz="1300" b="1" dirty="0">
                <a:solidFill>
                  <a:srgbClr val="F39C34"/>
                </a:solidFill>
                <a:latin typeface="Calibri" pitchFamily="34" charset="0"/>
                <a:ea typeface="Calibri" pitchFamily="34" charset="-122"/>
                <a:cs typeface="Calibri" pitchFamily="34" charset="-120"/>
              </a:rPr>
              <a:t>1</a:t>
            </a:r>
            <a:endParaRPr lang="en-US" sz="1300" dirty="0"/>
          </a:p>
        </p:txBody>
      </p:sp>
      <p:sp>
        <p:nvSpPr>
          <p:cNvPr id="9" name="Text 5"/>
          <p:cNvSpPr txBox="1"/>
          <p:nvPr/>
        </p:nvSpPr>
        <p:spPr>
          <a:xfrm>
            <a:off x="1097280" y="1645920"/>
            <a:ext cx="3886200" cy="731520"/>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The app picks </a:t>
            </a:r>
            <a:pPr indent="0" marL="0">
              <a:buNone/>
            </a:pPr>
            <a:r>
              <a:rPr lang="en-US" sz="1350" b="1" dirty="0">
                <a:solidFill>
                  <a:srgbClr val="F39C34"/>
                </a:solidFill>
                <a:latin typeface="Calibri" pitchFamily="34" charset="0"/>
                <a:ea typeface="Calibri" pitchFamily="34" charset="-122"/>
                <a:cs typeface="Calibri" pitchFamily="34" charset="-120"/>
              </a:rPr>
              <a:t>15–25 real Bosnian towns</a:t>
            </a:r>
            <a:pPr indent="0" marL="0">
              <a:buNone/>
            </a:pPr>
            <a:r>
              <a:rPr lang="en-US" sz="1350" dirty="0">
                <a:solidFill>
                  <a:srgbClr val="E9EDF5"/>
                </a:solidFill>
                <a:latin typeface="Calibri" pitchFamily="34" charset="0"/>
                <a:ea typeface="Calibri" pitchFamily="34" charset="-122"/>
                <a:cs typeface="Calibri" pitchFamily="34" charset="-120"/>
              </a:rPr>
              <a:t>. Goal: the shortest trip that visits each town once and returns home.</a:t>
            </a:r>
            <a:endParaRPr lang="en-US" sz="1350" dirty="0"/>
          </a:p>
        </p:txBody>
      </p:sp>
      <p:sp>
        <p:nvSpPr>
          <p:cNvPr id="10" name="Text 6"/>
          <p:cNvSpPr txBox="1"/>
          <p:nvPr/>
        </p:nvSpPr>
        <p:spPr>
          <a:xfrm>
            <a:off x="548640" y="2651760"/>
            <a:ext cx="365760" cy="365760"/>
          </a:xfrm>
          <a:prstGeom prst="ellipse">
            <a:avLst/>
          </a:prstGeom>
          <a:solidFill>
            <a:srgbClr val="182033"/>
          </a:solidFill>
          <a:ln w="12700">
            <a:solidFill>
              <a:srgbClr val="F39C34"/>
            </a:solidFill>
          </a:ln>
        </p:spPr>
        <p:txBody>
          <a:bodyPr wrap="square" lIns="0" tIns="0" rIns="0" bIns="0" rtlCol="0" anchor="ctr"/>
          <a:lstStyle/>
          <a:p>
            <a:pPr algn="ctr" indent="0" marL="0">
              <a:buNone/>
            </a:pPr>
            <a:r>
              <a:rPr lang="en-US" sz="1300" b="1" dirty="0">
                <a:solidFill>
                  <a:srgbClr val="F39C34"/>
                </a:solidFill>
                <a:latin typeface="Calibri" pitchFamily="34" charset="0"/>
                <a:ea typeface="Calibri" pitchFamily="34" charset="-122"/>
                <a:cs typeface="Calibri" pitchFamily="34" charset="-120"/>
              </a:rPr>
              <a:t>2</a:t>
            </a:r>
            <a:endParaRPr lang="en-US" sz="1300" dirty="0"/>
          </a:p>
        </p:txBody>
      </p:sp>
      <p:sp>
        <p:nvSpPr>
          <p:cNvPr id="11" name="Text 7"/>
          <p:cNvSpPr txBox="1"/>
          <p:nvPr/>
        </p:nvSpPr>
        <p:spPr>
          <a:xfrm>
            <a:off x="1097280" y="2496312"/>
            <a:ext cx="3886200" cy="731520"/>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Each round, </a:t>
            </a:r>
            <a:pPr indent="0" marL="0">
              <a:buNone/>
            </a:pPr>
            <a:r>
              <a:rPr lang="en-US" sz="1350" b="1" dirty="0">
                <a:solidFill>
                  <a:srgbClr val="F39C34"/>
                </a:solidFill>
                <a:latin typeface="Calibri" pitchFamily="34" charset="0"/>
                <a:ea typeface="Calibri" pitchFamily="34" charset="-122"/>
                <a:cs typeface="Calibri" pitchFamily="34" charset="-120"/>
              </a:rPr>
              <a:t>virtual ants</a:t>
            </a:r>
            <a:pPr indent="0" marL="0">
              <a:buNone/>
            </a:pPr>
            <a:r>
              <a:rPr lang="en-US" sz="1350" dirty="0">
                <a:solidFill>
                  <a:srgbClr val="E9EDF5"/>
                </a:solidFill>
                <a:latin typeface="Calibri" pitchFamily="34" charset="0"/>
                <a:ea typeface="Calibri" pitchFamily="34" charset="-122"/>
                <a:cs typeface="Calibri" pitchFamily="34" charset="-120"/>
              </a:rPr>
              <a:t> build trips, preferring short hops and links other ants liked.</a:t>
            </a:r>
            <a:endParaRPr lang="en-US" sz="1350" dirty="0"/>
          </a:p>
        </p:txBody>
      </p:sp>
      <p:sp>
        <p:nvSpPr>
          <p:cNvPr id="12" name="Text 8"/>
          <p:cNvSpPr txBox="1"/>
          <p:nvPr/>
        </p:nvSpPr>
        <p:spPr>
          <a:xfrm>
            <a:off x="548640" y="3502152"/>
            <a:ext cx="365760" cy="365760"/>
          </a:xfrm>
          <a:prstGeom prst="ellipse">
            <a:avLst/>
          </a:prstGeom>
          <a:solidFill>
            <a:srgbClr val="182033"/>
          </a:solidFill>
          <a:ln w="12700">
            <a:solidFill>
              <a:srgbClr val="F39C34"/>
            </a:solidFill>
          </a:ln>
        </p:spPr>
        <p:txBody>
          <a:bodyPr wrap="square" lIns="0" tIns="0" rIns="0" bIns="0" rtlCol="0" anchor="ctr"/>
          <a:lstStyle/>
          <a:p>
            <a:pPr algn="ctr" indent="0" marL="0">
              <a:buNone/>
            </a:pPr>
            <a:r>
              <a:rPr lang="en-US" sz="1300" b="1" dirty="0">
                <a:solidFill>
                  <a:srgbClr val="F39C34"/>
                </a:solidFill>
                <a:latin typeface="Calibri" pitchFamily="34" charset="0"/>
                <a:ea typeface="Calibri" pitchFamily="34" charset="-122"/>
                <a:cs typeface="Calibri" pitchFamily="34" charset="-120"/>
              </a:rPr>
              <a:t>3</a:t>
            </a:r>
            <a:endParaRPr lang="en-US" sz="1300" dirty="0"/>
          </a:p>
        </p:txBody>
      </p:sp>
      <p:sp>
        <p:nvSpPr>
          <p:cNvPr id="13" name="Text 9"/>
          <p:cNvSpPr txBox="1"/>
          <p:nvPr/>
        </p:nvSpPr>
        <p:spPr>
          <a:xfrm>
            <a:off x="1097280" y="3346704"/>
            <a:ext cx="3886200" cy="731520"/>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Shorter trips leave </a:t>
            </a:r>
            <a:pPr indent="0" marL="0">
              <a:buNone/>
            </a:pPr>
            <a:r>
              <a:rPr lang="en-US" sz="1350" b="1" dirty="0">
                <a:solidFill>
                  <a:srgbClr val="4CC38A"/>
                </a:solidFill>
                <a:latin typeface="Calibri" pitchFamily="34" charset="0"/>
                <a:ea typeface="Calibri" pitchFamily="34" charset="-122"/>
                <a:cs typeface="Calibri" pitchFamily="34" charset="-120"/>
              </a:rPr>
              <a:t>more pheromone</a:t>
            </a:r>
            <a:pPr indent="0" marL="0">
              <a:buNone/>
            </a:pPr>
            <a:r>
              <a:rPr lang="en-US" sz="1350" dirty="0">
                <a:solidFill>
                  <a:srgbClr val="E9EDF5"/>
                </a:solidFill>
                <a:latin typeface="Calibri" pitchFamily="34" charset="0"/>
                <a:ea typeface="Calibri" pitchFamily="34" charset="-122"/>
                <a:cs typeface="Calibri" pitchFamily="34" charset="-120"/>
              </a:rPr>
              <a:t>; old pheromone </a:t>
            </a:r>
            <a:pPr indent="0" marL="0">
              <a:buNone/>
            </a:pPr>
            <a:r>
              <a:rPr lang="en-US" sz="1350" b="1" dirty="0">
                <a:solidFill>
                  <a:srgbClr val="4CC38A"/>
                </a:solidFill>
                <a:latin typeface="Calibri" pitchFamily="34" charset="0"/>
                <a:ea typeface="Calibri" pitchFamily="34" charset="-122"/>
                <a:cs typeface="Calibri" pitchFamily="34" charset="-120"/>
              </a:rPr>
              <a:t>evaporates</a:t>
            </a:r>
            <a:pPr indent="0" marL="0">
              <a:buNone/>
            </a:pPr>
            <a:r>
              <a:rPr lang="en-US" sz="1350" dirty="0">
                <a:solidFill>
                  <a:srgbClr val="E9EDF5"/>
                </a:solidFill>
                <a:latin typeface="Calibri" pitchFamily="34" charset="0"/>
                <a:ea typeface="Calibri" pitchFamily="34" charset="-122"/>
                <a:cs typeface="Calibri" pitchFamily="34" charset="-120"/>
              </a:rPr>
              <a:t>. The colony converges on good routes.</a:t>
            </a:r>
            <a:endParaRPr lang="en-US" sz="1350" dirty="0"/>
          </a:p>
        </p:txBody>
      </p:sp>
      <p:sp>
        <p:nvSpPr>
          <p:cNvPr id="14" name="Text 10"/>
          <p:cNvSpPr txBox="1"/>
          <p:nvPr/>
        </p:nvSpPr>
        <p:spPr>
          <a:xfrm>
            <a:off x="548640" y="4352544"/>
            <a:ext cx="365760" cy="365760"/>
          </a:xfrm>
          <a:prstGeom prst="ellipse">
            <a:avLst/>
          </a:prstGeom>
          <a:solidFill>
            <a:srgbClr val="182033"/>
          </a:solidFill>
          <a:ln w="12700">
            <a:solidFill>
              <a:srgbClr val="F39C34"/>
            </a:solidFill>
          </a:ln>
        </p:spPr>
        <p:txBody>
          <a:bodyPr wrap="square" lIns="0" tIns="0" rIns="0" bIns="0" rtlCol="0" anchor="ctr"/>
          <a:lstStyle/>
          <a:p>
            <a:pPr algn="ctr" indent="0" marL="0">
              <a:buNone/>
            </a:pPr>
            <a:r>
              <a:rPr lang="en-US" sz="1300" b="1" dirty="0">
                <a:solidFill>
                  <a:srgbClr val="F39C34"/>
                </a:solidFill>
                <a:latin typeface="Calibri" pitchFamily="34" charset="0"/>
                <a:ea typeface="Calibri" pitchFamily="34" charset="-122"/>
                <a:cs typeface="Calibri" pitchFamily="34" charset="-120"/>
              </a:rPr>
              <a:t>4</a:t>
            </a:r>
            <a:endParaRPr lang="en-US" sz="1300" dirty="0"/>
          </a:p>
        </p:txBody>
      </p:sp>
      <p:sp>
        <p:nvSpPr>
          <p:cNvPr id="15" name="Text 11"/>
          <p:cNvSpPr txBox="1"/>
          <p:nvPr/>
        </p:nvSpPr>
        <p:spPr>
          <a:xfrm>
            <a:off x="1097280" y="4197096"/>
            <a:ext cx="3886200" cy="731520"/>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Every result is measured against a </a:t>
            </a:r>
            <a:pPr indent="0" marL="0">
              <a:buNone/>
            </a:pPr>
            <a:r>
              <a:rPr lang="en-US" sz="1350" b="1" dirty="0">
                <a:solidFill>
                  <a:srgbClr val="F39C34"/>
                </a:solidFill>
                <a:latin typeface="Calibri" pitchFamily="34" charset="0"/>
                <a:ea typeface="Calibri" pitchFamily="34" charset="-122"/>
                <a:cs typeface="Calibri" pitchFamily="34" charset="-120"/>
              </a:rPr>
              <a:t>greedy nearest-neighbour route</a:t>
            </a:r>
            <a:pPr indent="0" marL="0">
              <a:buNone/>
            </a:pPr>
            <a:r>
              <a:rPr lang="en-US" sz="1350" dirty="0">
                <a:solidFill>
                  <a:srgbClr val="E9EDF5"/>
                </a:solidFill>
                <a:latin typeface="Calibri" pitchFamily="34" charset="0"/>
                <a:ea typeface="Calibri" pitchFamily="34" charset="-122"/>
                <a:cs typeface="Calibri" pitchFamily="34" charset="-120"/>
              </a:rPr>
              <a:t>.</a:t>
            </a:r>
            <a:endParaRPr lang="en-US" sz="1350" dirty="0"/>
          </a:p>
        </p:txBody>
      </p:sp>
      <p:sp>
        <p:nvSpPr>
          <p:cNvPr id="16" name="Text 12"/>
          <p:cNvSpPr txBox="1"/>
          <p:nvPr/>
        </p:nvSpPr>
        <p:spPr>
          <a:xfrm>
            <a:off x="548640" y="5120640"/>
            <a:ext cx="4572000" cy="228600"/>
          </a:xfrm>
          <a:prstGeom prst="rect">
            <a:avLst/>
          </a:prstGeom>
          <a:noFill/>
          <a:ln/>
        </p:spPr>
        <p:txBody>
          <a:bodyPr wrap="square" lIns="0" tIns="0" rIns="0" bIns="0" rtlCol="0" anchor="t"/>
          <a:lstStyle/>
          <a:p>
            <a:pPr indent="0" marL="0">
              <a:buNone/>
            </a:pPr>
            <a:r>
              <a:rPr lang="en-US" sz="950" b="1" spc="100" kern="0" dirty="0">
                <a:solidFill>
                  <a:srgbClr val="8A96AD"/>
                </a:solidFill>
                <a:latin typeface="Calibri" pitchFamily="34" charset="0"/>
                <a:ea typeface="Calibri" pitchFamily="34" charset="-122"/>
                <a:cs typeface="Calibri" pitchFamily="34" charset="-120"/>
              </a:rPr>
              <a:t>TEST RESULTS · 30 INSTANCES · DEFAULT SETTINGS</a:t>
            </a:r>
            <a:endParaRPr lang="en-US" sz="950" dirty="0"/>
          </a:p>
        </p:txBody>
      </p:sp>
      <p:sp>
        <p:nvSpPr>
          <p:cNvPr id="17" name="Shape 13"/>
          <p:cNvSpPr/>
          <p:nvPr/>
        </p:nvSpPr>
        <p:spPr>
          <a:xfrm>
            <a:off x="548640" y="5413248"/>
            <a:ext cx="1417320" cy="822960"/>
          </a:xfrm>
          <a:prstGeom prst="roundRect">
            <a:avLst>
              <a:gd name="adj" fmla="val 8889"/>
            </a:avLst>
          </a:prstGeom>
          <a:solidFill>
            <a:srgbClr val="182033"/>
          </a:solidFill>
          <a:ln w="9525">
            <a:solidFill>
              <a:srgbClr val="2A3550"/>
            </a:solidFill>
            <a:prstDash val="solid"/>
          </a:ln>
        </p:spPr>
      </p:sp>
      <p:sp>
        <p:nvSpPr>
          <p:cNvPr id="18" name="Text 14"/>
          <p:cNvSpPr txBox="1"/>
          <p:nvPr/>
        </p:nvSpPr>
        <p:spPr>
          <a:xfrm>
            <a:off x="640080" y="5468112"/>
            <a:ext cx="1234440" cy="411480"/>
          </a:xfrm>
          <a:prstGeom prst="rect">
            <a:avLst/>
          </a:prstGeom>
          <a:noFill/>
          <a:ln/>
        </p:spPr>
        <p:txBody>
          <a:bodyPr wrap="square" lIns="0" tIns="0" rIns="0" bIns="0" rtlCol="0" anchor="ctr"/>
          <a:lstStyle/>
          <a:p>
            <a:pPr algn="ctr" indent="0" marL="0">
              <a:buNone/>
            </a:pPr>
            <a:r>
              <a:rPr lang="en-US" sz="1900" b="1" dirty="0">
                <a:solidFill>
                  <a:srgbClr val="F39C34"/>
                </a:solidFill>
                <a:latin typeface="Calibri" pitchFamily="34" charset="0"/>
                <a:ea typeface="Calibri" pitchFamily="34" charset="-122"/>
                <a:cs typeface="Calibri" pitchFamily="34" charset="-120"/>
              </a:rPr>
              <a:t>0.68%</a:t>
            </a:r>
            <a:endParaRPr lang="en-US" sz="1900" dirty="0"/>
          </a:p>
        </p:txBody>
      </p:sp>
      <p:sp>
        <p:nvSpPr>
          <p:cNvPr id="19" name="Text 15"/>
          <p:cNvSpPr txBox="1"/>
          <p:nvPr/>
        </p:nvSpPr>
        <p:spPr>
          <a:xfrm>
            <a:off x="594360" y="5870448"/>
            <a:ext cx="1325880" cy="274320"/>
          </a:xfrm>
          <a:prstGeom prst="rect">
            <a:avLst/>
          </a:prstGeom>
          <a:noFill/>
          <a:ln/>
        </p:spPr>
        <p:txBody>
          <a:bodyPr wrap="square" lIns="0" tIns="0" rIns="0" bIns="0" rtlCol="0" anchor="ctr"/>
          <a:lstStyle/>
          <a:p>
            <a:pPr algn="ctr" indent="0" marL="0">
              <a:buNone/>
            </a:pPr>
            <a:r>
              <a:rPr lang="en-US" sz="950" dirty="0">
                <a:solidFill>
                  <a:srgbClr val="8A96AD"/>
                </a:solidFill>
                <a:latin typeface="Calibri" pitchFamily="34" charset="0"/>
                <a:ea typeface="Calibri" pitchFamily="34" charset="-122"/>
                <a:cs typeface="Calibri" pitchFamily="34" charset="-120"/>
              </a:rPr>
              <a:t>avg. above optimum</a:t>
            </a:r>
            <a:endParaRPr lang="en-US" sz="950" dirty="0"/>
          </a:p>
        </p:txBody>
      </p:sp>
      <p:sp>
        <p:nvSpPr>
          <p:cNvPr id="20" name="Shape 16"/>
          <p:cNvSpPr/>
          <p:nvPr/>
        </p:nvSpPr>
        <p:spPr>
          <a:xfrm>
            <a:off x="2057400" y="5413248"/>
            <a:ext cx="1417320" cy="822960"/>
          </a:xfrm>
          <a:prstGeom prst="roundRect">
            <a:avLst>
              <a:gd name="adj" fmla="val 8889"/>
            </a:avLst>
          </a:prstGeom>
          <a:solidFill>
            <a:srgbClr val="182033"/>
          </a:solidFill>
          <a:ln w="9525">
            <a:solidFill>
              <a:srgbClr val="2A3550"/>
            </a:solidFill>
            <a:prstDash val="solid"/>
          </a:ln>
        </p:spPr>
      </p:sp>
      <p:sp>
        <p:nvSpPr>
          <p:cNvPr id="21" name="Text 17"/>
          <p:cNvSpPr txBox="1"/>
          <p:nvPr/>
        </p:nvSpPr>
        <p:spPr>
          <a:xfrm>
            <a:off x="2148840" y="5468112"/>
            <a:ext cx="1234440" cy="411480"/>
          </a:xfrm>
          <a:prstGeom prst="rect">
            <a:avLst/>
          </a:prstGeom>
          <a:noFill/>
          <a:ln/>
        </p:spPr>
        <p:txBody>
          <a:bodyPr wrap="square" lIns="0" tIns="0" rIns="0" bIns="0" rtlCol="0" anchor="ctr"/>
          <a:lstStyle/>
          <a:p>
            <a:pPr algn="ctr" indent="0" marL="0">
              <a:buNone/>
            </a:pPr>
            <a:r>
              <a:rPr lang="en-US" sz="1900" b="1" dirty="0">
                <a:solidFill>
                  <a:srgbClr val="F39C34"/>
                </a:solidFill>
                <a:latin typeface="Calibri" pitchFamily="34" charset="0"/>
                <a:ea typeface="Calibri" pitchFamily="34" charset="-122"/>
                <a:cs typeface="Calibri" pitchFamily="34" charset="-120"/>
              </a:rPr>
              <a:t>10 / 18</a:t>
            </a:r>
            <a:endParaRPr lang="en-US" sz="1900" dirty="0"/>
          </a:p>
        </p:txBody>
      </p:sp>
      <p:sp>
        <p:nvSpPr>
          <p:cNvPr id="22" name="Text 18"/>
          <p:cNvSpPr txBox="1"/>
          <p:nvPr/>
        </p:nvSpPr>
        <p:spPr>
          <a:xfrm>
            <a:off x="2103120" y="5870448"/>
            <a:ext cx="1325880" cy="274320"/>
          </a:xfrm>
          <a:prstGeom prst="rect">
            <a:avLst/>
          </a:prstGeom>
          <a:noFill/>
          <a:ln/>
        </p:spPr>
        <p:txBody>
          <a:bodyPr wrap="square" lIns="0" tIns="0" rIns="0" bIns="0" rtlCol="0" anchor="ctr"/>
          <a:lstStyle/>
          <a:p>
            <a:pPr algn="ctr" indent="0" marL="0">
              <a:buNone/>
            </a:pPr>
            <a:r>
              <a:rPr lang="en-US" sz="950" dirty="0">
                <a:solidFill>
                  <a:srgbClr val="8A96AD"/>
                </a:solidFill>
                <a:latin typeface="Calibri" pitchFamily="34" charset="0"/>
                <a:ea typeface="Calibri" pitchFamily="34" charset="-122"/>
                <a:cs typeface="Calibri" pitchFamily="34" charset="-120"/>
              </a:rPr>
              <a:t>optimum found</a:t>
            </a:r>
            <a:endParaRPr lang="en-US" sz="950" dirty="0"/>
          </a:p>
        </p:txBody>
      </p:sp>
      <p:sp>
        <p:nvSpPr>
          <p:cNvPr id="23" name="Shape 19"/>
          <p:cNvSpPr/>
          <p:nvPr/>
        </p:nvSpPr>
        <p:spPr>
          <a:xfrm>
            <a:off x="3566160" y="5413248"/>
            <a:ext cx="1417320" cy="822960"/>
          </a:xfrm>
          <a:prstGeom prst="roundRect">
            <a:avLst>
              <a:gd name="adj" fmla="val 8889"/>
            </a:avLst>
          </a:prstGeom>
          <a:solidFill>
            <a:srgbClr val="182033"/>
          </a:solidFill>
          <a:ln w="9525">
            <a:solidFill>
              <a:srgbClr val="2A3550"/>
            </a:solidFill>
            <a:prstDash val="solid"/>
          </a:ln>
        </p:spPr>
      </p:sp>
      <p:sp>
        <p:nvSpPr>
          <p:cNvPr id="24" name="Text 20"/>
          <p:cNvSpPr txBox="1"/>
          <p:nvPr/>
        </p:nvSpPr>
        <p:spPr>
          <a:xfrm>
            <a:off x="3657600" y="5468112"/>
            <a:ext cx="1234440" cy="411480"/>
          </a:xfrm>
          <a:prstGeom prst="rect">
            <a:avLst/>
          </a:prstGeom>
          <a:noFill/>
          <a:ln/>
        </p:spPr>
        <p:txBody>
          <a:bodyPr wrap="square" lIns="0" tIns="0" rIns="0" bIns="0" rtlCol="0" anchor="ctr"/>
          <a:lstStyle/>
          <a:p>
            <a:pPr algn="ctr" indent="0" marL="0">
              <a:buNone/>
            </a:pPr>
            <a:r>
              <a:rPr lang="en-US" sz="1900" b="1" dirty="0">
                <a:solidFill>
                  <a:srgbClr val="F39C34"/>
                </a:solidFill>
                <a:latin typeface="Calibri" pitchFamily="34" charset="0"/>
                <a:ea typeface="Calibri" pitchFamily="34" charset="-122"/>
                <a:cs typeface="Calibri" pitchFamily="34" charset="-120"/>
              </a:rPr>
              <a:t>0 / 30</a:t>
            </a:r>
            <a:endParaRPr lang="en-US" sz="1900" dirty="0"/>
          </a:p>
        </p:txBody>
      </p:sp>
      <p:sp>
        <p:nvSpPr>
          <p:cNvPr id="25" name="Text 21"/>
          <p:cNvSpPr txBox="1"/>
          <p:nvPr/>
        </p:nvSpPr>
        <p:spPr>
          <a:xfrm>
            <a:off x="3611880" y="5870448"/>
            <a:ext cx="1325880" cy="274320"/>
          </a:xfrm>
          <a:prstGeom prst="rect">
            <a:avLst/>
          </a:prstGeom>
          <a:noFill/>
          <a:ln/>
        </p:spPr>
        <p:txBody>
          <a:bodyPr wrap="square" lIns="0" tIns="0" rIns="0" bIns="0" rtlCol="0" anchor="ctr"/>
          <a:lstStyle/>
          <a:p>
            <a:pPr algn="ctr" indent="0" marL="0">
              <a:buNone/>
            </a:pPr>
            <a:r>
              <a:rPr lang="en-US" sz="950" dirty="0">
                <a:solidFill>
                  <a:srgbClr val="8A96AD"/>
                </a:solidFill>
                <a:latin typeface="Calibri" pitchFamily="34" charset="0"/>
                <a:ea typeface="Calibri" pitchFamily="34" charset="-122"/>
                <a:cs typeface="Calibri" pitchFamily="34" charset="-120"/>
              </a:rPr>
              <a:t>worse than greedy</a:t>
            </a:r>
            <a:endParaRPr lang="en-US" sz="950" dirty="0"/>
          </a:p>
        </p:txBody>
      </p:sp>
      <p:sp>
        <p:nvSpPr>
          <p:cNvPr id="26" name="Shape 22"/>
          <p:cNvSpPr/>
          <p:nvPr/>
        </p:nvSpPr>
        <p:spPr>
          <a:xfrm>
            <a:off x="5166360" y="1600200"/>
            <a:ext cx="6537960" cy="3716138"/>
          </a:xfrm>
          <a:prstGeom prst="roundRect">
            <a:avLst>
              <a:gd name="adj" fmla="val 1230"/>
            </a:avLst>
          </a:prstGeom>
          <a:solidFill>
            <a:srgbClr val="2A3550"/>
          </a:solidFill>
          <a:ln w="9525">
            <a:solidFill>
              <a:srgbClr val="2A3550"/>
            </a:solidFill>
            <a:prstDash val="solid"/>
          </a:ln>
        </p:spPr>
      </p:sp>
      <p:pic>
        <p:nvPicPr>
          <p:cNvPr id="27" name="Image 1" descr="ACO TSP Solver during a run">    </p:cNvPr>
          <p:cNvPicPr>
            <a:picLocks noChangeAspect="1"/>
          </p:cNvPicPr>
          <p:nvPr/>
        </p:nvPicPr>
        <p:blipFill>
          <a:blip r:embed="rId2"/>
          <a:stretch>
            <a:fillRect/>
          </a:stretch>
        </p:blipFill>
        <p:spPr>
          <a:xfrm>
            <a:off x="5212080" y="1645920"/>
            <a:ext cx="6446520" cy="3624698"/>
          </a:xfrm>
          <a:prstGeom prst="rect">
            <a:avLst/>
          </a:prstGeom>
        </p:spPr>
      </p:pic>
      <p:sp>
        <p:nvSpPr>
          <p:cNvPr id="28" name="Shape 23"/>
          <p:cNvSpPr/>
          <p:nvPr/>
        </p:nvSpPr>
        <p:spPr>
          <a:xfrm>
            <a:off x="6707673" y="2798574"/>
            <a:ext cx="91" cy="434385"/>
          </a:xfrm>
          <a:prstGeom prst="line">
            <a:avLst/>
          </a:prstGeom>
          <a:noFill/>
          <a:ln w="12700">
            <a:solidFill>
              <a:srgbClr val="F39C34"/>
            </a:solidFill>
            <a:prstDash val="solid"/>
          </a:ln>
        </p:spPr>
      </p:sp>
      <p:sp>
        <p:nvSpPr>
          <p:cNvPr id="29" name="Text 24"/>
          <p:cNvSpPr txBox="1"/>
          <p:nvPr/>
        </p:nvSpPr>
        <p:spPr>
          <a:xfrm>
            <a:off x="5257800" y="3095799"/>
            <a:ext cx="1746504" cy="274320"/>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100" b="1" dirty="0">
                <a:solidFill>
                  <a:srgbClr val="F39C34"/>
                </a:solidFill>
                <a:latin typeface="Calibri" pitchFamily="34" charset="0"/>
                <a:ea typeface="Calibri" pitchFamily="34" charset="-122"/>
                <a:cs typeface="Calibri" pitchFamily="34" charset="-120"/>
              </a:rPr>
              <a:t>1  </a:t>
            </a:r>
            <a:pPr algn="ctr" indent="0" marL="0">
              <a:buNone/>
            </a:pPr>
            <a:r>
              <a:rPr lang="en-US" sz="1100" dirty="0">
                <a:solidFill>
                  <a:srgbClr val="E9EDF5"/>
                </a:solidFill>
                <a:latin typeface="Calibri" pitchFamily="34" charset="0"/>
                <a:ea typeface="Calibri" pitchFamily="34" charset="-122"/>
                <a:cs typeface="Calibri" pitchFamily="34" charset="-120"/>
              </a:rPr>
              <a:t>best trip so far</a:t>
            </a:r>
            <a:endParaRPr lang="en-US" sz="1100" dirty="0"/>
          </a:p>
        </p:txBody>
      </p:sp>
      <p:sp>
        <p:nvSpPr>
          <p:cNvPr id="30" name="Text 25"/>
          <p:cNvSpPr txBox="1"/>
          <p:nvPr/>
        </p:nvSpPr>
        <p:spPr>
          <a:xfrm>
            <a:off x="6579657" y="2670558"/>
            <a:ext cx="256032" cy="256032"/>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1000" b="1" dirty="0">
                <a:solidFill>
                  <a:srgbClr val="0F1420"/>
                </a:solidFill>
                <a:latin typeface="Calibri" pitchFamily="34" charset="0"/>
                <a:ea typeface="Calibri" pitchFamily="34" charset="-122"/>
                <a:cs typeface="Calibri" pitchFamily="34" charset="-120"/>
              </a:rPr>
              <a:t>1</a:t>
            </a:r>
            <a:endParaRPr lang="en-US" sz="1000" dirty="0"/>
          </a:p>
        </p:txBody>
      </p:sp>
      <p:sp>
        <p:nvSpPr>
          <p:cNvPr id="31" name="Shape 26"/>
          <p:cNvSpPr/>
          <p:nvPr/>
        </p:nvSpPr>
        <p:spPr>
          <a:xfrm>
            <a:off x="7397450" y="2961685"/>
            <a:ext cx="91" cy="742485"/>
          </a:xfrm>
          <a:prstGeom prst="line">
            <a:avLst/>
          </a:prstGeom>
          <a:noFill/>
          <a:ln w="12700">
            <a:solidFill>
              <a:srgbClr val="F39C34"/>
            </a:solidFill>
            <a:prstDash val="solid"/>
          </a:ln>
        </p:spPr>
      </p:sp>
      <p:sp>
        <p:nvSpPr>
          <p:cNvPr id="32" name="Text 27"/>
          <p:cNvSpPr txBox="1"/>
          <p:nvPr/>
        </p:nvSpPr>
        <p:spPr>
          <a:xfrm>
            <a:off x="7278624" y="3567010"/>
            <a:ext cx="1668780" cy="274320"/>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100" b="1" dirty="0">
                <a:solidFill>
                  <a:srgbClr val="F39C34"/>
                </a:solidFill>
                <a:latin typeface="Calibri" pitchFamily="34" charset="0"/>
                <a:ea typeface="Calibri" pitchFamily="34" charset="-122"/>
                <a:cs typeface="Calibri" pitchFamily="34" charset="-120"/>
              </a:rPr>
              <a:t>2  </a:t>
            </a:r>
            <a:pPr algn="ctr" indent="0" marL="0">
              <a:buNone/>
            </a:pPr>
            <a:r>
              <a:rPr lang="en-US" sz="1100" dirty="0">
                <a:solidFill>
                  <a:srgbClr val="E9EDF5"/>
                </a:solidFill>
                <a:latin typeface="Calibri" pitchFamily="34" charset="0"/>
                <a:ea typeface="Calibri" pitchFamily="34" charset="-122"/>
                <a:cs typeface="Calibri" pitchFamily="34" charset="-120"/>
              </a:rPr>
              <a:t>pheromone trail</a:t>
            </a:r>
            <a:endParaRPr lang="en-US" sz="1100" dirty="0"/>
          </a:p>
        </p:txBody>
      </p:sp>
      <p:sp>
        <p:nvSpPr>
          <p:cNvPr id="33" name="Text 28"/>
          <p:cNvSpPr txBox="1"/>
          <p:nvPr/>
        </p:nvSpPr>
        <p:spPr>
          <a:xfrm>
            <a:off x="7269434" y="2833669"/>
            <a:ext cx="256032" cy="256032"/>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1000" b="1" dirty="0">
                <a:solidFill>
                  <a:srgbClr val="0F1420"/>
                </a:solidFill>
                <a:latin typeface="Calibri" pitchFamily="34" charset="0"/>
                <a:ea typeface="Calibri" pitchFamily="34" charset="-122"/>
                <a:cs typeface="Calibri" pitchFamily="34" charset="-120"/>
              </a:rPr>
              <a:t>2</a:t>
            </a:r>
            <a:endParaRPr lang="en-US" sz="1000" dirty="0"/>
          </a:p>
        </p:txBody>
      </p:sp>
      <p:sp>
        <p:nvSpPr>
          <p:cNvPr id="34" name="Shape 29"/>
          <p:cNvSpPr/>
          <p:nvPr/>
        </p:nvSpPr>
        <p:spPr>
          <a:xfrm>
            <a:off x="10885018" y="2352736"/>
            <a:ext cx="91" cy="771482"/>
          </a:xfrm>
          <a:prstGeom prst="line">
            <a:avLst/>
          </a:prstGeom>
          <a:noFill/>
          <a:ln w="12700">
            <a:solidFill>
              <a:srgbClr val="F39C34"/>
            </a:solidFill>
            <a:prstDash val="solid"/>
          </a:ln>
        </p:spPr>
      </p:sp>
      <p:sp>
        <p:nvSpPr>
          <p:cNvPr id="35" name="Text 30"/>
          <p:cNvSpPr txBox="1"/>
          <p:nvPr/>
        </p:nvSpPr>
        <p:spPr>
          <a:xfrm>
            <a:off x="9857232" y="2987058"/>
            <a:ext cx="1668780" cy="274320"/>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100" b="1" dirty="0">
                <a:solidFill>
                  <a:srgbClr val="F39C34"/>
                </a:solidFill>
                <a:latin typeface="Calibri" pitchFamily="34" charset="0"/>
                <a:ea typeface="Calibri" pitchFamily="34" charset="-122"/>
                <a:cs typeface="Calibri" pitchFamily="34" charset="-120"/>
              </a:rPr>
              <a:t>3  </a:t>
            </a:r>
            <a:pPr algn="ctr" indent="0" marL="0">
              <a:buNone/>
            </a:pPr>
            <a:r>
              <a:rPr lang="en-US" sz="1100" dirty="0">
                <a:solidFill>
                  <a:srgbClr val="E9EDF5"/>
                </a:solidFill>
                <a:latin typeface="Calibri" pitchFamily="34" charset="0"/>
                <a:ea typeface="Calibri" pitchFamily="34" charset="-122"/>
                <a:cs typeface="Calibri" pitchFamily="34" charset="-120"/>
              </a:rPr>
              <a:t>live statistics</a:t>
            </a:r>
            <a:endParaRPr lang="en-US" sz="1100" dirty="0"/>
          </a:p>
        </p:txBody>
      </p:sp>
      <p:sp>
        <p:nvSpPr>
          <p:cNvPr id="36" name="Text 31"/>
          <p:cNvSpPr txBox="1"/>
          <p:nvPr/>
        </p:nvSpPr>
        <p:spPr>
          <a:xfrm>
            <a:off x="10757002" y="2224720"/>
            <a:ext cx="256032" cy="256032"/>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1000" b="1" dirty="0">
                <a:solidFill>
                  <a:srgbClr val="0F1420"/>
                </a:solidFill>
                <a:latin typeface="Calibri" pitchFamily="34" charset="0"/>
                <a:ea typeface="Calibri" pitchFamily="34" charset="-122"/>
                <a:cs typeface="Calibri" pitchFamily="34" charset="-120"/>
              </a:rPr>
              <a:t>3</a:t>
            </a:r>
            <a:endParaRPr lang="en-US" sz="1000" dirty="0"/>
          </a:p>
        </p:txBody>
      </p:sp>
      <p:sp>
        <p:nvSpPr>
          <p:cNvPr id="37" name="Shape 32"/>
          <p:cNvSpPr/>
          <p:nvPr/>
        </p:nvSpPr>
        <p:spPr>
          <a:xfrm flipV="1">
            <a:off x="10253259" y="4392862"/>
            <a:ext cx="91" cy="377547"/>
          </a:xfrm>
          <a:prstGeom prst="line">
            <a:avLst/>
          </a:prstGeom>
          <a:noFill/>
          <a:ln w="12700">
            <a:solidFill>
              <a:srgbClr val="F39C34"/>
            </a:solidFill>
            <a:prstDash val="solid"/>
          </a:ln>
        </p:spPr>
      </p:sp>
      <p:sp>
        <p:nvSpPr>
          <p:cNvPr id="38" name="Text 33"/>
          <p:cNvSpPr txBox="1"/>
          <p:nvPr/>
        </p:nvSpPr>
        <p:spPr>
          <a:xfrm>
            <a:off x="8812530" y="4255702"/>
            <a:ext cx="1824228" cy="274320"/>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100" b="1" dirty="0">
                <a:solidFill>
                  <a:srgbClr val="F39C34"/>
                </a:solidFill>
                <a:latin typeface="Calibri" pitchFamily="34" charset="0"/>
                <a:ea typeface="Calibri" pitchFamily="34" charset="-122"/>
                <a:cs typeface="Calibri" pitchFamily="34" charset="-120"/>
              </a:rPr>
              <a:t>4  </a:t>
            </a:r>
            <a:pPr algn="ctr" indent="0" marL="0">
              <a:buNone/>
            </a:pPr>
            <a:r>
              <a:rPr lang="en-US" sz="1100" dirty="0">
                <a:solidFill>
                  <a:srgbClr val="E9EDF5"/>
                </a:solidFill>
                <a:latin typeface="Calibri" pitchFamily="34" charset="0"/>
                <a:ea typeface="Calibri" pitchFamily="34" charset="-122"/>
                <a:cs typeface="Calibri" pitchFamily="34" charset="-120"/>
              </a:rPr>
              <a:t>convergence chart</a:t>
            </a:r>
            <a:endParaRPr lang="en-US" sz="1100" dirty="0"/>
          </a:p>
        </p:txBody>
      </p:sp>
      <p:sp>
        <p:nvSpPr>
          <p:cNvPr id="39" name="Text 34"/>
          <p:cNvSpPr txBox="1"/>
          <p:nvPr/>
        </p:nvSpPr>
        <p:spPr>
          <a:xfrm>
            <a:off x="10125243" y="4642394"/>
            <a:ext cx="256032" cy="256032"/>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1000" b="1" dirty="0">
                <a:solidFill>
                  <a:srgbClr val="0F1420"/>
                </a:solidFill>
                <a:latin typeface="Calibri" pitchFamily="34" charset="0"/>
                <a:ea typeface="Calibri" pitchFamily="34" charset="-122"/>
                <a:cs typeface="Calibri" pitchFamily="34" charset="-120"/>
              </a:rPr>
              <a:t>4</a:t>
            </a:r>
            <a:endParaRPr lang="en-US" sz="1000" dirty="0"/>
          </a:p>
        </p:txBody>
      </p:sp>
      <p:sp>
        <p:nvSpPr>
          <p:cNvPr id="40" name="Text 35"/>
          <p:cNvSpPr txBox="1"/>
          <p:nvPr/>
        </p:nvSpPr>
        <p:spPr>
          <a:xfrm>
            <a:off x="5212080" y="5407778"/>
            <a:ext cx="6446520" cy="411480"/>
          </a:xfrm>
          <a:prstGeom prst="rect">
            <a:avLst/>
          </a:prstGeom>
          <a:noFill/>
          <a:ln/>
        </p:spPr>
        <p:txBody>
          <a:bodyPr wrap="square" lIns="0" tIns="0" rIns="0" bIns="0" rtlCol="0" anchor="t"/>
          <a:lstStyle/>
          <a:p>
            <a:pPr indent="0" marL="0">
              <a:buNone/>
            </a:pPr>
            <a:r>
              <a:rPr lang="en-US" sz="1100" i="1" dirty="0">
                <a:solidFill>
                  <a:srgbClr val="8A96AD"/>
                </a:solidFill>
                <a:latin typeface="Calibri" pitchFamily="34" charset="0"/>
                <a:ea typeface="Calibri" pitchFamily="34" charset="-122"/>
                <a:cs typeface="Calibri" pitchFamily="34" charset="-120"/>
              </a:rPr>
              <a:t>Live run: 16 towns, iteration 25 of 40. Best trip 888.3 km, 3.7% shorter than the greedy route (922.6 km).</a:t>
            </a:r>
            <a:endParaRPr lang="en-US" sz="1100" dirty="0"/>
          </a:p>
        </p:txBody>
      </p:sp>
      <p:sp>
        <p:nvSpPr>
          <p:cNvPr id="41" name="Text 36"/>
          <p:cNvSpPr txBox="1"/>
          <p:nvPr/>
        </p:nvSpPr>
        <p:spPr>
          <a:xfrm>
            <a:off x="5212080" y="5727818"/>
            <a:ext cx="6446520" cy="274320"/>
          </a:xfrm>
          <a:prstGeom prst="rect">
            <a:avLst/>
          </a:prstGeom>
          <a:noFill/>
          <a:ln/>
        </p:spPr>
        <p:txBody>
          <a:bodyPr wrap="square" lIns="0" tIns="0" rIns="0" bIns="0" rtlCol="0" anchor="ctr"/>
          <a:lstStyle/>
          <a:p>
            <a:pPr indent="0" marL="0">
              <a:buNone/>
            </a:pPr>
            <a:r>
              <a:rPr lang="en-US" sz="950" dirty="0">
                <a:solidFill>
                  <a:srgbClr val="8A96AD"/>
                </a:solidFill>
                <a:latin typeface="Calibri" pitchFamily="34" charset="0"/>
                <a:ea typeface="Calibri" pitchFamily="34" charset="-122"/>
                <a:cs typeface="Calibri" pitchFamily="34" charset="-120"/>
              </a:rPr>
              <a:t>Test figures: reference re-implementation, 30 instances; optimum computed exactly for the 18 with ≤ 20 towns.</a:t>
            </a:r>
            <a:endParaRPr lang="en-US" sz="950" dirty="0"/>
          </a:p>
        </p:txBody>
      </p:sp>
      <p:sp>
        <p:nvSpPr>
          <p:cNvPr id="42" name="Text 37"/>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43" name="Text 38"/>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How It Works</a:t>
            </a:r>
            <a:endParaRPr lang="en-US" sz="900" dirty="0"/>
          </a:p>
        </p:txBody>
      </p:sp>
      <p:sp>
        <p:nvSpPr>
          <p:cNvPr id="44" name="Text 39"/>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02 / 03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WHAT'S IMPLEMENTED</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Features &amp; Controls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Everything from the proposal, plus tools to experiment and compare.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Shape 4"/>
          <p:cNvSpPr/>
          <p:nvPr/>
        </p:nvSpPr>
        <p:spPr>
          <a:xfrm>
            <a:off x="548640" y="1600200"/>
            <a:ext cx="6492240" cy="4636008"/>
          </a:xfrm>
          <a:prstGeom prst="roundRect">
            <a:avLst>
              <a:gd name="adj" fmla="val 1578"/>
            </a:avLst>
          </a:prstGeom>
          <a:solidFill>
            <a:srgbClr val="182033"/>
          </a:solidFill>
          <a:ln w="9525">
            <a:solidFill>
              <a:srgbClr val="2A3550"/>
            </a:solidFill>
            <a:prstDash val="solid"/>
          </a:ln>
        </p:spPr>
      </p:sp>
      <p:sp>
        <p:nvSpPr>
          <p:cNvPr id="9" name="Text 5"/>
          <p:cNvSpPr txBox="1"/>
          <p:nvPr/>
        </p:nvSpPr>
        <p:spPr>
          <a:xfrm>
            <a:off x="777240" y="1764792"/>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10" name="Text 6"/>
          <p:cNvSpPr txBox="1"/>
          <p:nvPr/>
        </p:nvSpPr>
        <p:spPr>
          <a:xfrm>
            <a:off x="1097280" y="1764792"/>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Real maps:  </a:t>
            </a:r>
            <a:pPr indent="0" marL="0">
              <a:buNone/>
            </a:pPr>
            <a:r>
              <a:rPr lang="en-US" sz="1350" dirty="0">
                <a:solidFill>
                  <a:srgbClr val="E9EDF5"/>
                </a:solidFill>
                <a:latin typeface="Calibri" pitchFamily="34" charset="0"/>
                <a:ea typeface="Calibri" pitchFamily="34" charset="-122"/>
                <a:cs typeface="Calibri" pitchFamily="34" charset="-120"/>
              </a:rPr>
              <a:t>15–25 towns drawn from 99 real Bosnian towns</a:t>
            </a:r>
            <a:endParaRPr lang="en-US" sz="1350" dirty="0"/>
          </a:p>
        </p:txBody>
      </p:sp>
      <p:sp>
        <p:nvSpPr>
          <p:cNvPr id="11" name="Text 7"/>
          <p:cNvSpPr txBox="1"/>
          <p:nvPr/>
        </p:nvSpPr>
        <p:spPr>
          <a:xfrm>
            <a:off x="777240" y="2249424"/>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12" name="Text 8"/>
          <p:cNvSpPr txBox="1"/>
          <p:nvPr/>
        </p:nvSpPr>
        <p:spPr>
          <a:xfrm>
            <a:off x="1097280" y="2249424"/>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Ant System:  </a:t>
            </a:r>
            <a:pPr indent="0" marL="0">
              <a:buNone/>
            </a:pPr>
            <a:r>
              <a:rPr lang="en-US" sz="1350" dirty="0">
                <a:solidFill>
                  <a:srgbClr val="E9EDF5"/>
                </a:solidFill>
                <a:latin typeface="Calibri" pitchFamily="34" charset="0"/>
                <a:ea typeface="Calibri" pitchFamily="34" charset="-122"/>
                <a:cs typeface="Calibri" pitchFamily="34" charset="-120"/>
              </a:rPr>
              <a:t>basic Ant Colony Optimization, no shortcuts or local search</a:t>
            </a:r>
            <a:endParaRPr lang="en-US" sz="1350" dirty="0"/>
          </a:p>
        </p:txBody>
      </p:sp>
      <p:sp>
        <p:nvSpPr>
          <p:cNvPr id="13" name="Text 9"/>
          <p:cNvSpPr txBox="1"/>
          <p:nvPr/>
        </p:nvSpPr>
        <p:spPr>
          <a:xfrm>
            <a:off x="777240" y="2734056"/>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14" name="Text 10"/>
          <p:cNvSpPr txBox="1"/>
          <p:nvPr/>
        </p:nvSpPr>
        <p:spPr>
          <a:xfrm>
            <a:off x="1097280" y="2734056"/>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Parameters:  </a:t>
            </a:r>
            <a:pPr indent="0" marL="0">
              <a:buNone/>
            </a:pPr>
            <a:r>
              <a:rPr lang="en-US" sz="1350" dirty="0">
                <a:solidFill>
                  <a:srgbClr val="E9EDF5"/>
                </a:solidFill>
                <a:latin typeface="Calibri" pitchFamily="34" charset="0"/>
                <a:ea typeface="Calibri" pitchFamily="34" charset="-122"/>
                <a:cs typeface="Calibri" pitchFamily="34" charset="-120"/>
              </a:rPr>
              <a:t>ants, iterations, α, β, evaporation, seed</a:t>
            </a:r>
            <a:endParaRPr lang="en-US" sz="1350" dirty="0"/>
          </a:p>
        </p:txBody>
      </p:sp>
      <p:sp>
        <p:nvSpPr>
          <p:cNvPr id="15" name="Text 11"/>
          <p:cNvSpPr txBox="1"/>
          <p:nvPr/>
        </p:nvSpPr>
        <p:spPr>
          <a:xfrm>
            <a:off x="777240" y="3218688"/>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16" name="Text 12"/>
          <p:cNvSpPr txBox="1"/>
          <p:nvPr/>
        </p:nvSpPr>
        <p:spPr>
          <a:xfrm>
            <a:off x="1097280" y="3218688"/>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Live map:  </a:t>
            </a:r>
            <a:pPr indent="0" marL="0">
              <a:buNone/>
            </a:pPr>
            <a:r>
              <a:rPr lang="en-US" sz="1350" dirty="0">
                <a:solidFill>
                  <a:srgbClr val="E9EDF5"/>
                </a:solidFill>
                <a:latin typeface="Calibri" pitchFamily="34" charset="0"/>
                <a:ea typeface="Calibri" pitchFamily="34" charset="-122"/>
                <a:cs typeface="Calibri" pitchFamily="34" charset="-120"/>
              </a:rPr>
              <a:t>best trip + pheromone trail as line thickness</a:t>
            </a:r>
            <a:endParaRPr lang="en-US" sz="1350" dirty="0"/>
          </a:p>
        </p:txBody>
      </p:sp>
      <p:sp>
        <p:nvSpPr>
          <p:cNvPr id="17" name="Text 13"/>
          <p:cNvSpPr txBox="1"/>
          <p:nvPr/>
        </p:nvSpPr>
        <p:spPr>
          <a:xfrm>
            <a:off x="777240" y="3703320"/>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18" name="Text 14"/>
          <p:cNvSpPr txBox="1"/>
          <p:nvPr/>
        </p:nvSpPr>
        <p:spPr>
          <a:xfrm>
            <a:off x="1097280" y="3703320"/>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Convergence chart:  </a:t>
            </a:r>
            <a:pPr indent="0" marL="0">
              <a:buNone/>
            </a:pPr>
            <a:r>
              <a:rPr lang="en-US" sz="1350" dirty="0">
                <a:solidFill>
                  <a:srgbClr val="E9EDF5"/>
                </a:solidFill>
                <a:latin typeface="Calibri" pitchFamily="34" charset="0"/>
                <a:ea typeface="Calibri" pitchFamily="34" charset="-122"/>
                <a:cs typeface="Calibri" pitchFamily="34" charset="-120"/>
              </a:rPr>
              <a:t>best so far, per-iteration best, greedy reference</a:t>
            </a:r>
            <a:endParaRPr lang="en-US" sz="1350" dirty="0"/>
          </a:p>
        </p:txBody>
      </p:sp>
      <p:sp>
        <p:nvSpPr>
          <p:cNvPr id="19" name="Text 15"/>
          <p:cNvSpPr txBox="1"/>
          <p:nvPr/>
        </p:nvSpPr>
        <p:spPr>
          <a:xfrm>
            <a:off x="777240" y="4187952"/>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20" name="Text 16"/>
          <p:cNvSpPr txBox="1"/>
          <p:nvPr/>
        </p:nvSpPr>
        <p:spPr>
          <a:xfrm>
            <a:off x="1097280" y="4187952"/>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Statistics:  </a:t>
            </a:r>
            <a:pPr indent="0" marL="0">
              <a:buNone/>
            </a:pPr>
            <a:r>
              <a:rPr lang="en-US" sz="1350" dirty="0">
                <a:solidFill>
                  <a:srgbClr val="E9EDF5"/>
                </a:solidFill>
                <a:latin typeface="Calibri" pitchFamily="34" charset="0"/>
                <a:ea typeface="Calibri" pitchFamily="34" charset="-122"/>
                <a:cs typeface="Calibri" pitchFamily="34" charset="-120"/>
              </a:rPr>
              <a:t>iteration, best cost, improvement, runtime</a:t>
            </a:r>
            <a:endParaRPr lang="en-US" sz="1350" dirty="0"/>
          </a:p>
        </p:txBody>
      </p:sp>
      <p:sp>
        <p:nvSpPr>
          <p:cNvPr id="21" name="Text 17"/>
          <p:cNvSpPr txBox="1"/>
          <p:nvPr/>
        </p:nvSpPr>
        <p:spPr>
          <a:xfrm>
            <a:off x="777240" y="4672584"/>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22" name="Text 18"/>
          <p:cNvSpPr txBox="1"/>
          <p:nvPr/>
        </p:nvSpPr>
        <p:spPr>
          <a:xfrm>
            <a:off x="1097280" y="4672584"/>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Reproducible runs:  </a:t>
            </a:r>
            <a:pPr indent="0" marL="0">
              <a:buNone/>
            </a:pPr>
            <a:r>
              <a:rPr lang="en-US" sz="1350" dirty="0">
                <a:solidFill>
                  <a:srgbClr val="E9EDF5"/>
                </a:solidFill>
                <a:latin typeface="Calibri" pitchFamily="34" charset="0"/>
                <a:ea typeface="Calibri" pitchFamily="34" charset="-122"/>
                <a:cs typeface="Calibri" pitchFamily="34" charset="-120"/>
              </a:rPr>
              <a:t>fixed seed replays a run on the same platform</a:t>
            </a:r>
            <a:endParaRPr lang="en-US" sz="1350" dirty="0"/>
          </a:p>
        </p:txBody>
      </p:sp>
      <p:sp>
        <p:nvSpPr>
          <p:cNvPr id="23" name="Text 19"/>
          <p:cNvSpPr txBox="1"/>
          <p:nvPr/>
        </p:nvSpPr>
        <p:spPr>
          <a:xfrm>
            <a:off x="777240" y="5157216"/>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24" name="Text 20"/>
          <p:cNvSpPr txBox="1"/>
          <p:nvPr/>
        </p:nvSpPr>
        <p:spPr>
          <a:xfrm>
            <a:off x="1097280" y="5157216"/>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Languages:  </a:t>
            </a:r>
            <a:pPr indent="0" marL="0">
              <a:buNone/>
            </a:pPr>
            <a:r>
              <a:rPr lang="en-US" sz="1350" dirty="0">
                <a:solidFill>
                  <a:srgbClr val="E9EDF5"/>
                </a:solidFill>
                <a:latin typeface="Calibri" pitchFamily="34" charset="0"/>
                <a:ea typeface="Calibri" pitchFamily="34" charset="-122"/>
                <a:cs typeface="Calibri" pitchFamily="34" charset="-120"/>
              </a:rPr>
              <a:t>English and Bosnian</a:t>
            </a:r>
            <a:endParaRPr lang="en-US" sz="1350" dirty="0"/>
          </a:p>
        </p:txBody>
      </p:sp>
      <p:sp>
        <p:nvSpPr>
          <p:cNvPr id="25" name="Text 21"/>
          <p:cNvSpPr txBox="1"/>
          <p:nvPr/>
        </p:nvSpPr>
        <p:spPr>
          <a:xfrm>
            <a:off x="777240" y="5641848"/>
            <a:ext cx="274320" cy="411480"/>
          </a:xfrm>
          <a:prstGeom prst="rect">
            <a:avLst/>
          </a:prstGeom>
          <a:noFill/>
          <a:ln/>
        </p:spPr>
        <p:txBody>
          <a:bodyPr wrap="square" lIns="0" tIns="0" rIns="0" bIns="0" rtlCol="0" anchor="ctr"/>
          <a:lstStyle/>
          <a:p>
            <a:pPr indent="0" marL="0">
              <a:buNone/>
            </a:pPr>
            <a:r>
              <a:rPr lang="en-US" sz="1600" b="1" dirty="0">
                <a:solidFill>
                  <a:srgbClr val="4CC38A"/>
                </a:solidFill>
                <a:latin typeface="Calibri" pitchFamily="34" charset="0"/>
                <a:ea typeface="Calibri" pitchFamily="34" charset="-122"/>
                <a:cs typeface="Calibri" pitchFamily="34" charset="-120"/>
              </a:rPr>
              <a:t>✓</a:t>
            </a:r>
            <a:endParaRPr lang="en-US" sz="1600" dirty="0"/>
          </a:p>
        </p:txBody>
      </p:sp>
      <p:sp>
        <p:nvSpPr>
          <p:cNvPr id="26" name="Text 22"/>
          <p:cNvSpPr txBox="1"/>
          <p:nvPr/>
        </p:nvSpPr>
        <p:spPr>
          <a:xfrm>
            <a:off x="1097280" y="5641848"/>
            <a:ext cx="5806440" cy="411480"/>
          </a:xfrm>
          <a:prstGeom prst="rect">
            <a:avLst/>
          </a:prstGeom>
          <a:noFill/>
          <a:ln/>
        </p:spPr>
        <p:txBody>
          <a:bodyPr wrap="square" lIns="0" tIns="0" rIns="0" bIns="0" rtlCol="0" anchor="ctr"/>
          <a:lstStyle/>
          <a:p>
            <a:pPr indent="0" marL="0">
              <a:buNone/>
            </a:pPr>
            <a:r>
              <a:rPr lang="en-US" sz="1350" b="1" dirty="0">
                <a:solidFill>
                  <a:srgbClr val="4CC38A"/>
                </a:solidFill>
                <a:latin typeface="Calibri" pitchFamily="34" charset="0"/>
                <a:ea typeface="Calibri" pitchFamily="34" charset="-122"/>
                <a:cs typeface="Calibri" pitchFamily="34" charset="-120"/>
              </a:rPr>
              <a:t>Platforms:  </a:t>
            </a:r>
            <a:pPr indent="0" marL="0">
              <a:buNone/>
            </a:pPr>
            <a:r>
              <a:rPr lang="en-US" sz="1350" dirty="0">
                <a:solidFill>
                  <a:srgbClr val="E9EDF5"/>
                </a:solidFill>
                <a:latin typeface="Calibri" pitchFamily="34" charset="0"/>
                <a:ea typeface="Calibri" pitchFamily="34" charset="-122"/>
                <a:cs typeface="Calibri" pitchFamily="34" charset="-120"/>
              </a:rPr>
              <a:t>Windows, macOS and Linux</a:t>
            </a:r>
            <a:endParaRPr lang="en-US" sz="1350" dirty="0"/>
          </a:p>
        </p:txBody>
      </p:sp>
      <p:sp>
        <p:nvSpPr>
          <p:cNvPr id="27" name="Shape 23"/>
          <p:cNvSpPr/>
          <p:nvPr/>
        </p:nvSpPr>
        <p:spPr>
          <a:xfrm>
            <a:off x="7315200" y="1600200"/>
            <a:ext cx="4343400" cy="3017520"/>
          </a:xfrm>
          <a:prstGeom prst="roundRect">
            <a:avLst>
              <a:gd name="adj" fmla="val 2424"/>
            </a:avLst>
          </a:prstGeom>
          <a:solidFill>
            <a:srgbClr val="182033"/>
          </a:solidFill>
          <a:ln w="9525">
            <a:solidFill>
              <a:srgbClr val="2A3550"/>
            </a:solidFill>
            <a:prstDash val="solid"/>
          </a:ln>
        </p:spPr>
      </p:sp>
      <p:sp>
        <p:nvSpPr>
          <p:cNvPr id="28" name="Text 24"/>
          <p:cNvSpPr txBox="1"/>
          <p:nvPr/>
        </p:nvSpPr>
        <p:spPr>
          <a:xfrm>
            <a:off x="7516368" y="1737360"/>
            <a:ext cx="274320" cy="411480"/>
          </a:xfrm>
          <a:prstGeom prst="rect">
            <a:avLst/>
          </a:prstGeom>
          <a:noFill/>
          <a:ln/>
        </p:spPr>
        <p:txBody>
          <a:bodyPr wrap="square" lIns="0" tIns="0" rIns="0" bIns="0" rtlCol="0" anchor="ctr"/>
          <a:lstStyle/>
          <a:p>
            <a:pPr indent="0" marL="0">
              <a:buNone/>
            </a:pPr>
            <a:r>
              <a:rPr lang="en-US" sz="1600" b="1" dirty="0">
                <a:solidFill>
                  <a:srgbClr val="F39C34"/>
                </a:solidFill>
                <a:latin typeface="Calibri" pitchFamily="34" charset="0"/>
                <a:ea typeface="Calibri" pitchFamily="34" charset="-122"/>
                <a:cs typeface="Calibri" pitchFamily="34" charset="-120"/>
              </a:rPr>
              <a:t>✓</a:t>
            </a:r>
            <a:endParaRPr lang="en-US" sz="1600" dirty="0"/>
          </a:p>
        </p:txBody>
      </p:sp>
      <p:sp>
        <p:nvSpPr>
          <p:cNvPr id="29" name="Text 25"/>
          <p:cNvSpPr txBox="1"/>
          <p:nvPr/>
        </p:nvSpPr>
        <p:spPr>
          <a:xfrm>
            <a:off x="7818120" y="1737360"/>
            <a:ext cx="3749040" cy="41148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Start / Stop / Reset</a:t>
            </a:r>
            <a:pPr indent="0" marL="0">
              <a:buNone/>
            </a:pPr>
            <a:r>
              <a:rPr lang="en-US" sz="1250" dirty="0">
                <a:solidFill>
                  <a:srgbClr val="C3CCDC"/>
                </a:solidFill>
                <a:latin typeface="Calibri" pitchFamily="34" charset="0"/>
                <a:ea typeface="Calibri" pitchFamily="34" charset="-122"/>
                <a:cs typeface="Calibri" pitchFamily="34" charset="-120"/>
              </a:rPr>
              <a:t>  run control</a:t>
            </a:r>
            <a:endParaRPr lang="en-US" sz="1250" dirty="0"/>
          </a:p>
        </p:txBody>
      </p:sp>
      <p:sp>
        <p:nvSpPr>
          <p:cNvPr id="30" name="Text 26"/>
          <p:cNvSpPr txBox="1"/>
          <p:nvPr/>
        </p:nvSpPr>
        <p:spPr>
          <a:xfrm>
            <a:off x="7516368" y="2194560"/>
            <a:ext cx="274320" cy="411480"/>
          </a:xfrm>
          <a:prstGeom prst="rect">
            <a:avLst/>
          </a:prstGeom>
          <a:noFill/>
          <a:ln/>
        </p:spPr>
        <p:txBody>
          <a:bodyPr wrap="square" lIns="0" tIns="0" rIns="0" bIns="0" rtlCol="0" anchor="ctr"/>
          <a:lstStyle/>
          <a:p>
            <a:pPr indent="0" marL="0">
              <a:buNone/>
            </a:pPr>
            <a:r>
              <a:rPr lang="en-US" sz="1600" b="1" dirty="0">
                <a:solidFill>
                  <a:srgbClr val="F39C34"/>
                </a:solidFill>
                <a:latin typeface="Calibri" pitchFamily="34" charset="0"/>
                <a:ea typeface="Calibri" pitchFamily="34" charset="-122"/>
                <a:cs typeface="Calibri" pitchFamily="34" charset="-120"/>
              </a:rPr>
              <a:t>✓</a:t>
            </a:r>
            <a:endParaRPr lang="en-US" sz="1600" dirty="0"/>
          </a:p>
        </p:txBody>
      </p:sp>
      <p:sp>
        <p:nvSpPr>
          <p:cNvPr id="31" name="Text 27"/>
          <p:cNvSpPr txBox="1"/>
          <p:nvPr/>
        </p:nvSpPr>
        <p:spPr>
          <a:xfrm>
            <a:off x="7818120" y="2194560"/>
            <a:ext cx="3749040" cy="41148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New cities</a:t>
            </a:r>
            <a:pPr indent="0" marL="0">
              <a:buNone/>
            </a:pPr>
            <a:r>
              <a:rPr lang="en-US" sz="1250" dirty="0">
                <a:solidFill>
                  <a:srgbClr val="C3CCDC"/>
                </a:solidFill>
                <a:latin typeface="Calibri" pitchFamily="34" charset="0"/>
                <a:ea typeface="Calibri" pitchFamily="34" charset="-122"/>
                <a:cs typeface="Calibri" pitchFamily="34" charset="-120"/>
              </a:rPr>
              <a:t>  fresh instance anytime</a:t>
            </a:r>
            <a:endParaRPr lang="en-US" sz="1250" dirty="0"/>
          </a:p>
        </p:txBody>
      </p:sp>
      <p:sp>
        <p:nvSpPr>
          <p:cNvPr id="32" name="Text 28"/>
          <p:cNvSpPr txBox="1"/>
          <p:nvPr/>
        </p:nvSpPr>
        <p:spPr>
          <a:xfrm>
            <a:off x="7516368" y="2651760"/>
            <a:ext cx="274320" cy="411480"/>
          </a:xfrm>
          <a:prstGeom prst="rect">
            <a:avLst/>
          </a:prstGeom>
          <a:noFill/>
          <a:ln/>
        </p:spPr>
        <p:txBody>
          <a:bodyPr wrap="square" lIns="0" tIns="0" rIns="0" bIns="0" rtlCol="0" anchor="ctr"/>
          <a:lstStyle/>
          <a:p>
            <a:pPr indent="0" marL="0">
              <a:buNone/>
            </a:pPr>
            <a:r>
              <a:rPr lang="en-US" sz="1600" b="1" dirty="0">
                <a:solidFill>
                  <a:srgbClr val="F39C34"/>
                </a:solidFill>
                <a:latin typeface="Calibri" pitchFamily="34" charset="0"/>
                <a:ea typeface="Calibri" pitchFamily="34" charset="-122"/>
                <a:cs typeface="Calibri" pitchFamily="34" charset="-120"/>
              </a:rPr>
              <a:t>✓</a:t>
            </a:r>
            <a:endParaRPr lang="en-US" sz="1600" dirty="0"/>
          </a:p>
        </p:txBody>
      </p:sp>
      <p:sp>
        <p:nvSpPr>
          <p:cNvPr id="33" name="Text 29"/>
          <p:cNvSpPr txBox="1"/>
          <p:nvPr/>
        </p:nvSpPr>
        <p:spPr>
          <a:xfrm>
            <a:off x="7818120" y="2651760"/>
            <a:ext cx="3749040" cy="41148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Speed slider</a:t>
            </a:r>
            <a:pPr indent="0" marL="0">
              <a:buNone/>
            </a:pPr>
            <a:r>
              <a:rPr lang="en-US" sz="1250" dirty="0">
                <a:solidFill>
                  <a:srgbClr val="C3CCDC"/>
                </a:solidFill>
                <a:latin typeface="Calibri" pitchFamily="34" charset="0"/>
                <a:ea typeface="Calibri" pitchFamily="34" charset="-122"/>
                <a:cs typeface="Calibri" pitchFamily="34" charset="-120"/>
              </a:rPr>
              <a:t>  watch slow or instantly</a:t>
            </a:r>
            <a:endParaRPr lang="en-US" sz="1250" dirty="0"/>
          </a:p>
        </p:txBody>
      </p:sp>
      <p:sp>
        <p:nvSpPr>
          <p:cNvPr id="34" name="Text 30"/>
          <p:cNvSpPr txBox="1"/>
          <p:nvPr/>
        </p:nvSpPr>
        <p:spPr>
          <a:xfrm>
            <a:off x="7516368" y="3108960"/>
            <a:ext cx="274320" cy="411480"/>
          </a:xfrm>
          <a:prstGeom prst="rect">
            <a:avLst/>
          </a:prstGeom>
          <a:noFill/>
          <a:ln/>
        </p:spPr>
        <p:txBody>
          <a:bodyPr wrap="square" lIns="0" tIns="0" rIns="0" bIns="0" rtlCol="0" anchor="ctr"/>
          <a:lstStyle/>
          <a:p>
            <a:pPr indent="0" marL="0">
              <a:buNone/>
            </a:pPr>
            <a:r>
              <a:rPr lang="en-US" sz="1600" b="1" dirty="0">
                <a:solidFill>
                  <a:srgbClr val="F39C34"/>
                </a:solidFill>
                <a:latin typeface="Calibri" pitchFamily="34" charset="0"/>
                <a:ea typeface="Calibri" pitchFamily="34" charset="-122"/>
                <a:cs typeface="Calibri" pitchFamily="34" charset="-120"/>
              </a:rPr>
              <a:t>✓</a:t>
            </a:r>
            <a:endParaRPr lang="en-US" sz="1600" dirty="0"/>
          </a:p>
        </p:txBody>
      </p:sp>
      <p:sp>
        <p:nvSpPr>
          <p:cNvPr id="35" name="Text 31"/>
          <p:cNvSpPr txBox="1"/>
          <p:nvPr/>
        </p:nvSpPr>
        <p:spPr>
          <a:xfrm>
            <a:off x="7818120" y="3108960"/>
            <a:ext cx="3749040" cy="41148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Compare</a:t>
            </a:r>
            <a:pPr indent="0" marL="0">
              <a:buNone/>
            </a:pPr>
            <a:r>
              <a:rPr lang="en-US" sz="1250" dirty="0">
                <a:solidFill>
                  <a:srgbClr val="C3CCDC"/>
                </a:solidFill>
                <a:latin typeface="Calibri" pitchFamily="34" charset="0"/>
                <a:ea typeface="Calibri" pitchFamily="34" charset="-122"/>
                <a:cs typeface="Calibri" pitchFamily="34" charset="-120"/>
              </a:rPr>
              <a:t>  last two completed runs</a:t>
            </a:r>
            <a:endParaRPr lang="en-US" sz="1250" dirty="0"/>
          </a:p>
        </p:txBody>
      </p:sp>
      <p:sp>
        <p:nvSpPr>
          <p:cNvPr id="36" name="Text 32"/>
          <p:cNvSpPr txBox="1"/>
          <p:nvPr/>
        </p:nvSpPr>
        <p:spPr>
          <a:xfrm>
            <a:off x="7516368" y="3566160"/>
            <a:ext cx="274320" cy="411480"/>
          </a:xfrm>
          <a:prstGeom prst="rect">
            <a:avLst/>
          </a:prstGeom>
          <a:noFill/>
          <a:ln/>
        </p:spPr>
        <p:txBody>
          <a:bodyPr wrap="square" lIns="0" tIns="0" rIns="0" bIns="0" rtlCol="0" anchor="ctr"/>
          <a:lstStyle/>
          <a:p>
            <a:pPr indent="0" marL="0">
              <a:buNone/>
            </a:pPr>
            <a:r>
              <a:rPr lang="en-US" sz="1600" b="1" dirty="0">
                <a:solidFill>
                  <a:srgbClr val="F39C34"/>
                </a:solidFill>
                <a:latin typeface="Calibri" pitchFamily="34" charset="0"/>
                <a:ea typeface="Calibri" pitchFamily="34" charset="-122"/>
                <a:cs typeface="Calibri" pitchFamily="34" charset="-120"/>
              </a:rPr>
              <a:t>✓</a:t>
            </a:r>
            <a:endParaRPr lang="en-US" sz="1600" dirty="0"/>
          </a:p>
        </p:txBody>
      </p:sp>
      <p:sp>
        <p:nvSpPr>
          <p:cNvPr id="37" name="Text 33"/>
          <p:cNvSpPr txBox="1"/>
          <p:nvPr/>
        </p:nvSpPr>
        <p:spPr>
          <a:xfrm>
            <a:off x="7818120" y="3566160"/>
            <a:ext cx="3749040" cy="41148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Export (CSV)</a:t>
            </a:r>
            <a:pPr indent="0" marL="0">
              <a:buNone/>
            </a:pPr>
            <a:r>
              <a:rPr lang="en-US" sz="1250" dirty="0">
                <a:solidFill>
                  <a:srgbClr val="C3CCDC"/>
                </a:solidFill>
                <a:latin typeface="Calibri" pitchFamily="34" charset="0"/>
                <a:ea typeface="Calibri" pitchFamily="34" charset="-122"/>
                <a:cs typeface="Calibri" pitchFamily="34" charset="-120"/>
              </a:rPr>
              <a:t>  run data + full instance</a:t>
            </a:r>
            <a:endParaRPr lang="en-US" sz="1250" dirty="0"/>
          </a:p>
        </p:txBody>
      </p:sp>
      <p:sp>
        <p:nvSpPr>
          <p:cNvPr id="38" name="Text 34"/>
          <p:cNvSpPr txBox="1"/>
          <p:nvPr/>
        </p:nvSpPr>
        <p:spPr>
          <a:xfrm>
            <a:off x="7516368" y="4023360"/>
            <a:ext cx="274320" cy="411480"/>
          </a:xfrm>
          <a:prstGeom prst="rect">
            <a:avLst/>
          </a:prstGeom>
          <a:noFill/>
          <a:ln/>
        </p:spPr>
        <p:txBody>
          <a:bodyPr wrap="square" lIns="0" tIns="0" rIns="0" bIns="0" rtlCol="0" anchor="ctr"/>
          <a:lstStyle/>
          <a:p>
            <a:pPr indent="0" marL="0">
              <a:buNone/>
            </a:pPr>
            <a:r>
              <a:rPr lang="en-US" sz="1600" b="1" dirty="0">
                <a:solidFill>
                  <a:srgbClr val="F39C34"/>
                </a:solidFill>
                <a:latin typeface="Calibri" pitchFamily="34" charset="0"/>
                <a:ea typeface="Calibri" pitchFamily="34" charset="-122"/>
                <a:cs typeface="Calibri" pitchFamily="34" charset="-120"/>
              </a:rPr>
              <a:t>✓</a:t>
            </a:r>
            <a:endParaRPr lang="en-US" sz="1600" dirty="0"/>
          </a:p>
        </p:txBody>
      </p:sp>
      <p:sp>
        <p:nvSpPr>
          <p:cNvPr id="39" name="Text 35"/>
          <p:cNvSpPr txBox="1"/>
          <p:nvPr/>
        </p:nvSpPr>
        <p:spPr>
          <a:xfrm>
            <a:off x="7818120" y="4023360"/>
            <a:ext cx="3749040" cy="41148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Settings</a:t>
            </a:r>
            <a:pPr indent="0" marL="0">
              <a:buNone/>
            </a:pPr>
            <a:r>
              <a:rPr lang="en-US" sz="1250" dirty="0">
                <a:solidFill>
                  <a:srgbClr val="C3CCDC"/>
                </a:solidFill>
                <a:latin typeface="Calibri" pitchFamily="34" charset="0"/>
                <a:ea typeface="Calibri" pitchFamily="34" charset="-122"/>
                <a:cs typeface="Calibri" pitchFamily="34" charset="-120"/>
              </a:rPr>
              <a:t>  language, sound, trail display</a:t>
            </a:r>
            <a:endParaRPr lang="en-US" sz="1250" dirty="0"/>
          </a:p>
        </p:txBody>
      </p:sp>
      <p:sp>
        <p:nvSpPr>
          <p:cNvPr id="40" name="Shape 36"/>
          <p:cNvSpPr/>
          <p:nvPr/>
        </p:nvSpPr>
        <p:spPr>
          <a:xfrm>
            <a:off x="7315200" y="4800600"/>
            <a:ext cx="2103120" cy="713232"/>
          </a:xfrm>
          <a:prstGeom prst="roundRect">
            <a:avLst>
              <a:gd name="adj" fmla="val 12821"/>
            </a:avLst>
          </a:prstGeom>
          <a:solidFill>
            <a:srgbClr val="F39C34"/>
          </a:solidFill>
          <a:ln w="15875">
            <a:solidFill>
              <a:srgbClr val="F39C34"/>
            </a:solidFill>
            <a:prstDash val="solid"/>
          </a:ln>
        </p:spPr>
      </p:sp>
      <p:pic>
        <p:nvPicPr>
          <p:cNvPr id="41" name="Image 1" descr="preencoded.png">    </p:cNvPr>
          <p:cNvPicPr>
            <a:picLocks noChangeAspect="1"/>
          </p:cNvPicPr>
          <p:nvPr/>
        </p:nvPicPr>
        <p:blipFill>
          <a:blip r:embed="rId2"/>
          <a:stretch>
            <a:fillRect/>
          </a:stretch>
        </p:blipFill>
        <p:spPr>
          <a:xfrm>
            <a:off x="7479792" y="5020056"/>
            <a:ext cx="274320" cy="274320"/>
          </a:xfrm>
          <a:prstGeom prst="rect">
            <a:avLst/>
          </a:prstGeom>
        </p:spPr>
      </p:pic>
      <p:sp>
        <p:nvSpPr>
          <p:cNvPr id="42" name="Text 37"/>
          <p:cNvSpPr txBox="1"/>
          <p:nvPr/>
        </p:nvSpPr>
        <p:spPr>
          <a:xfrm>
            <a:off x="7863840" y="4873752"/>
            <a:ext cx="1463040" cy="566928"/>
          </a:xfrm>
          <a:prstGeom prst="rect">
            <a:avLst/>
          </a:prstGeom>
          <a:noFill/>
          <a:ln/>
        </p:spPr>
        <p:txBody>
          <a:bodyPr wrap="square" lIns="0" tIns="0" rIns="0" bIns="0" rtlCol="0" anchor="ctr"/>
          <a:lstStyle/>
          <a:p>
            <a:pPr indent="0" marL="0">
              <a:buNone/>
            </a:pPr>
            <a:r>
              <a:rPr lang="en-US" sz="950" dirty="0">
                <a:solidFill>
                  <a:srgbClr val="3A2508"/>
                </a:solidFill>
                <a:latin typeface="Calibri" pitchFamily="34" charset="0"/>
                <a:ea typeface="Calibri" pitchFamily="34" charset="-122"/>
                <a:cs typeface="Calibri" pitchFamily="34" charset="-120"/>
              </a:rPr>
              <a:t>Download for</a:t>
            </a:r>
            <a:endParaRPr lang="en-US" sz="950" dirty="0"/>
          </a:p>
          <a:p>
            <a:pPr indent="0" marL="0">
              <a:buNone/>
            </a:pPr>
            <a:r>
              <a:rPr lang="en-US" sz="1400" b="1" dirty="0">
                <a:solidFill>
                  <a:srgbClr val="0F1420"/>
                </a:solidFill>
                <a:latin typeface="Calibri" pitchFamily="34" charset="0"/>
                <a:ea typeface="Calibri" pitchFamily="34" charset="-122"/>
                <a:cs typeface="Calibri" pitchFamily="34" charset="-120"/>
              </a:rPr>
              <a:t>Windows</a:t>
            </a:r>
            <a:endParaRPr lang="en-US" sz="950" dirty="0"/>
          </a:p>
        </p:txBody>
      </p:sp>
      <p:pic>
        <p:nvPicPr>
          <p:cNvPr id="43" name="Image 2" descr="img/clear.png">
            <a:hlinkClick r:id="rId4" tooltip="Latest release"/>
          </p:cNvPr>
          <p:cNvPicPr>
            <a:picLocks noChangeAspect="1"/>
          </p:cNvPicPr>
          <p:nvPr/>
        </p:nvPicPr>
        <p:blipFill>
          <a:blip r:embed="rId3"/>
          <a:stretch>
            <a:fillRect/>
          </a:stretch>
        </p:blipFill>
        <p:spPr>
          <a:xfrm>
            <a:off x="7315200" y="4800600"/>
            <a:ext cx="2103120" cy="713232"/>
          </a:xfrm>
          <a:prstGeom prst="rect">
            <a:avLst/>
          </a:prstGeom>
        </p:spPr>
      </p:pic>
      <p:sp>
        <p:nvSpPr>
          <p:cNvPr id="44" name="Shape 38"/>
          <p:cNvSpPr/>
          <p:nvPr/>
        </p:nvSpPr>
        <p:spPr>
          <a:xfrm>
            <a:off x="9555480" y="4800600"/>
            <a:ext cx="2103120" cy="713232"/>
          </a:xfrm>
          <a:prstGeom prst="roundRect">
            <a:avLst>
              <a:gd name="adj" fmla="val 12821"/>
            </a:avLst>
          </a:prstGeom>
          <a:solidFill>
            <a:srgbClr val="182033"/>
          </a:solidFill>
          <a:ln w="15875">
            <a:solidFill>
              <a:srgbClr val="F39C34"/>
            </a:solidFill>
            <a:prstDash val="solid"/>
          </a:ln>
        </p:spPr>
      </p:sp>
      <p:pic>
        <p:nvPicPr>
          <p:cNvPr id="45" name="Image 3" descr="preencoded.png">    </p:cNvPr>
          <p:cNvPicPr>
            <a:picLocks noChangeAspect="1"/>
          </p:cNvPicPr>
          <p:nvPr/>
        </p:nvPicPr>
        <p:blipFill>
          <a:blip r:embed="rId5"/>
          <a:stretch>
            <a:fillRect/>
          </a:stretch>
        </p:blipFill>
        <p:spPr>
          <a:xfrm>
            <a:off x="9720072" y="5020056"/>
            <a:ext cx="274320" cy="274320"/>
          </a:xfrm>
          <a:prstGeom prst="rect">
            <a:avLst/>
          </a:prstGeom>
        </p:spPr>
      </p:pic>
      <p:sp>
        <p:nvSpPr>
          <p:cNvPr id="46" name="Text 39"/>
          <p:cNvSpPr txBox="1"/>
          <p:nvPr/>
        </p:nvSpPr>
        <p:spPr>
          <a:xfrm>
            <a:off x="10104120" y="4873752"/>
            <a:ext cx="1463040" cy="566928"/>
          </a:xfrm>
          <a:prstGeom prst="rect">
            <a:avLst/>
          </a:prstGeom>
          <a:noFill/>
          <a:ln/>
        </p:spPr>
        <p:txBody>
          <a:bodyPr wrap="square" lIns="0" tIns="0" rIns="0" bIns="0" rtlCol="0" anchor="ctr"/>
          <a:lstStyle/>
          <a:p>
            <a:pPr indent="0" marL="0">
              <a:buNone/>
            </a:pPr>
            <a:r>
              <a:rPr lang="en-US" sz="950" dirty="0">
                <a:solidFill>
                  <a:srgbClr val="8A96AD"/>
                </a:solidFill>
                <a:latin typeface="Calibri" pitchFamily="34" charset="0"/>
                <a:ea typeface="Calibri" pitchFamily="34" charset="-122"/>
                <a:cs typeface="Calibri" pitchFamily="34" charset="-120"/>
              </a:rPr>
              <a:t>Download for</a:t>
            </a:r>
            <a:endParaRPr lang="en-US" sz="950" dirty="0"/>
          </a:p>
          <a:p>
            <a:pPr indent="0" marL="0">
              <a:buNone/>
            </a:pPr>
            <a:r>
              <a:rPr lang="en-US" sz="1400" b="1" dirty="0">
                <a:solidFill>
                  <a:srgbClr val="E9EDF5"/>
                </a:solidFill>
                <a:latin typeface="Calibri" pitchFamily="34" charset="0"/>
                <a:ea typeface="Calibri" pitchFamily="34" charset="-122"/>
                <a:cs typeface="Calibri" pitchFamily="34" charset="-120"/>
              </a:rPr>
              <a:t>Linux</a:t>
            </a:r>
            <a:endParaRPr lang="en-US" sz="950" dirty="0"/>
          </a:p>
        </p:txBody>
      </p:sp>
      <p:pic>
        <p:nvPicPr>
          <p:cNvPr id="47" name="Image 4" descr="img/clear.png">
            <a:hlinkClick r:id="rId7" tooltip="Latest release"/>
          </p:cNvPr>
          <p:cNvPicPr>
            <a:picLocks noChangeAspect="1"/>
          </p:cNvPicPr>
          <p:nvPr/>
        </p:nvPicPr>
        <p:blipFill>
          <a:blip r:embed="rId6"/>
          <a:stretch>
            <a:fillRect/>
          </a:stretch>
        </p:blipFill>
        <p:spPr>
          <a:xfrm>
            <a:off x="9555480" y="4800600"/>
            <a:ext cx="2103120" cy="713232"/>
          </a:xfrm>
          <a:prstGeom prst="rect">
            <a:avLst/>
          </a:prstGeom>
        </p:spPr>
      </p:pic>
      <p:sp>
        <p:nvSpPr>
          <p:cNvPr id="48" name="Shape 40"/>
          <p:cNvSpPr/>
          <p:nvPr/>
        </p:nvSpPr>
        <p:spPr>
          <a:xfrm>
            <a:off x="7315200" y="5605272"/>
            <a:ext cx="2103120" cy="713232"/>
          </a:xfrm>
          <a:prstGeom prst="roundRect">
            <a:avLst>
              <a:gd name="adj" fmla="val 12821"/>
            </a:avLst>
          </a:prstGeom>
          <a:solidFill>
            <a:srgbClr val="182033"/>
          </a:solidFill>
          <a:ln w="15875">
            <a:solidFill>
              <a:srgbClr val="F39C34"/>
            </a:solidFill>
            <a:prstDash val="solid"/>
          </a:ln>
        </p:spPr>
      </p:sp>
      <p:pic>
        <p:nvPicPr>
          <p:cNvPr id="49" name="Image 5" descr="preencoded.png">    </p:cNvPr>
          <p:cNvPicPr>
            <a:picLocks noChangeAspect="1"/>
          </p:cNvPicPr>
          <p:nvPr/>
        </p:nvPicPr>
        <p:blipFill>
          <a:blip r:embed="rId8"/>
          <a:stretch>
            <a:fillRect/>
          </a:stretch>
        </p:blipFill>
        <p:spPr>
          <a:xfrm>
            <a:off x="7479792" y="5824728"/>
            <a:ext cx="274320" cy="274320"/>
          </a:xfrm>
          <a:prstGeom prst="rect">
            <a:avLst/>
          </a:prstGeom>
        </p:spPr>
      </p:pic>
      <p:sp>
        <p:nvSpPr>
          <p:cNvPr id="50" name="Text 41"/>
          <p:cNvSpPr txBox="1"/>
          <p:nvPr/>
        </p:nvSpPr>
        <p:spPr>
          <a:xfrm>
            <a:off x="7863840" y="5678424"/>
            <a:ext cx="1463040" cy="566928"/>
          </a:xfrm>
          <a:prstGeom prst="rect">
            <a:avLst/>
          </a:prstGeom>
          <a:noFill/>
          <a:ln/>
        </p:spPr>
        <p:txBody>
          <a:bodyPr wrap="square" lIns="0" tIns="0" rIns="0" bIns="0" rtlCol="0" anchor="ctr"/>
          <a:lstStyle/>
          <a:p>
            <a:pPr indent="0" marL="0">
              <a:buNone/>
            </a:pPr>
            <a:r>
              <a:rPr lang="en-US" sz="950" dirty="0">
                <a:solidFill>
                  <a:srgbClr val="8A96AD"/>
                </a:solidFill>
                <a:latin typeface="Calibri" pitchFamily="34" charset="0"/>
                <a:ea typeface="Calibri" pitchFamily="34" charset="-122"/>
                <a:cs typeface="Calibri" pitchFamily="34" charset="-120"/>
              </a:rPr>
              <a:t>Download for</a:t>
            </a:r>
            <a:endParaRPr lang="en-US" sz="950" dirty="0"/>
          </a:p>
          <a:p>
            <a:pPr indent="0" marL="0">
              <a:buNone/>
            </a:pPr>
            <a:r>
              <a:rPr lang="en-US" sz="1400" b="1" dirty="0">
                <a:solidFill>
                  <a:srgbClr val="E9EDF5"/>
                </a:solidFill>
                <a:latin typeface="Calibri" pitchFamily="34" charset="0"/>
                <a:ea typeface="Calibri" pitchFamily="34" charset="-122"/>
                <a:cs typeface="Calibri" pitchFamily="34" charset="-120"/>
              </a:rPr>
              <a:t>macOS Intel</a:t>
            </a:r>
            <a:endParaRPr lang="en-US" sz="950" dirty="0"/>
          </a:p>
        </p:txBody>
      </p:sp>
      <p:pic>
        <p:nvPicPr>
          <p:cNvPr id="51" name="Image 6" descr="img/clear.png">
            <a:hlinkClick r:id="rId10" tooltip="Latest release"/>
          </p:cNvPr>
          <p:cNvPicPr>
            <a:picLocks noChangeAspect="1"/>
          </p:cNvPicPr>
          <p:nvPr/>
        </p:nvPicPr>
        <p:blipFill>
          <a:blip r:embed="rId9"/>
          <a:stretch>
            <a:fillRect/>
          </a:stretch>
        </p:blipFill>
        <p:spPr>
          <a:xfrm>
            <a:off x="7315200" y="5605272"/>
            <a:ext cx="2103120" cy="713232"/>
          </a:xfrm>
          <a:prstGeom prst="rect">
            <a:avLst/>
          </a:prstGeom>
        </p:spPr>
      </p:pic>
      <p:sp>
        <p:nvSpPr>
          <p:cNvPr id="52" name="Shape 42"/>
          <p:cNvSpPr/>
          <p:nvPr/>
        </p:nvSpPr>
        <p:spPr>
          <a:xfrm>
            <a:off x="9555480" y="5605272"/>
            <a:ext cx="2103120" cy="713232"/>
          </a:xfrm>
          <a:prstGeom prst="roundRect">
            <a:avLst>
              <a:gd name="adj" fmla="val 12821"/>
            </a:avLst>
          </a:prstGeom>
          <a:solidFill>
            <a:srgbClr val="182033"/>
          </a:solidFill>
          <a:ln w="15875">
            <a:solidFill>
              <a:srgbClr val="F39C34"/>
            </a:solidFill>
            <a:prstDash val="solid"/>
          </a:ln>
        </p:spPr>
      </p:sp>
      <p:pic>
        <p:nvPicPr>
          <p:cNvPr id="53" name="Image 7" descr="preencoded.png">    </p:cNvPr>
          <p:cNvPicPr>
            <a:picLocks noChangeAspect="1"/>
          </p:cNvPicPr>
          <p:nvPr/>
        </p:nvPicPr>
        <p:blipFill>
          <a:blip r:embed="rId11"/>
          <a:stretch>
            <a:fillRect/>
          </a:stretch>
        </p:blipFill>
        <p:spPr>
          <a:xfrm>
            <a:off x="9720072" y="5824728"/>
            <a:ext cx="274320" cy="274320"/>
          </a:xfrm>
          <a:prstGeom prst="rect">
            <a:avLst/>
          </a:prstGeom>
        </p:spPr>
      </p:pic>
      <p:sp>
        <p:nvSpPr>
          <p:cNvPr id="54" name="Text 43"/>
          <p:cNvSpPr txBox="1"/>
          <p:nvPr/>
        </p:nvSpPr>
        <p:spPr>
          <a:xfrm>
            <a:off x="10104120" y="5678424"/>
            <a:ext cx="1463040" cy="566928"/>
          </a:xfrm>
          <a:prstGeom prst="rect">
            <a:avLst/>
          </a:prstGeom>
          <a:noFill/>
          <a:ln/>
        </p:spPr>
        <p:txBody>
          <a:bodyPr wrap="square" lIns="0" tIns="0" rIns="0" bIns="0" rtlCol="0" anchor="ctr"/>
          <a:lstStyle/>
          <a:p>
            <a:pPr indent="0" marL="0">
              <a:buNone/>
            </a:pPr>
            <a:r>
              <a:rPr lang="en-US" sz="950" dirty="0">
                <a:solidFill>
                  <a:srgbClr val="8A96AD"/>
                </a:solidFill>
                <a:latin typeface="Calibri" pitchFamily="34" charset="0"/>
                <a:ea typeface="Calibri" pitchFamily="34" charset="-122"/>
                <a:cs typeface="Calibri" pitchFamily="34" charset="-120"/>
              </a:rPr>
              <a:t>Download for</a:t>
            </a:r>
            <a:endParaRPr lang="en-US" sz="950" dirty="0"/>
          </a:p>
          <a:p>
            <a:pPr indent="0" marL="0">
              <a:buNone/>
            </a:pPr>
            <a:r>
              <a:rPr lang="en-US" sz="1400" b="1" dirty="0">
                <a:solidFill>
                  <a:srgbClr val="E9EDF5"/>
                </a:solidFill>
                <a:latin typeface="Calibri" pitchFamily="34" charset="0"/>
                <a:ea typeface="Calibri" pitchFamily="34" charset="-122"/>
                <a:cs typeface="Calibri" pitchFamily="34" charset="-120"/>
              </a:rPr>
              <a:t>macOS Silicon</a:t>
            </a:r>
            <a:endParaRPr lang="en-US" sz="950" dirty="0"/>
          </a:p>
        </p:txBody>
      </p:sp>
      <p:pic>
        <p:nvPicPr>
          <p:cNvPr id="55" name="Image 8" descr="img/clear.png">
            <a:hlinkClick r:id="rId13" tooltip="Latest release"/>
          </p:cNvPr>
          <p:cNvPicPr>
            <a:picLocks noChangeAspect="1"/>
          </p:cNvPicPr>
          <p:nvPr/>
        </p:nvPicPr>
        <p:blipFill>
          <a:blip r:embed="rId12"/>
          <a:stretch>
            <a:fillRect/>
          </a:stretch>
        </p:blipFill>
        <p:spPr>
          <a:xfrm>
            <a:off x="9555480" y="5605272"/>
            <a:ext cx="2103120" cy="713232"/>
          </a:xfrm>
          <a:prstGeom prst="rect">
            <a:avLst/>
          </a:prstGeom>
        </p:spPr>
      </p:pic>
      <p:sp>
        <p:nvSpPr>
          <p:cNvPr id="56" name="Text 4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57" name="Text 4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Features &amp; Controls</a:t>
            </a:r>
            <a:endParaRPr lang="en-US" sz="900" dirty="0"/>
          </a:p>
        </p:txBody>
      </p:sp>
      <p:sp>
        <p:nvSpPr>
          <p:cNvPr id="58" name="Text 4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03 / 03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ACO TSP Solver</dc:title>
  <dc:subject>PptxGenJS Presentation</dc:subject>
  <dc:creator>Armin Memišević</dc:creator>
  <cp:lastModifiedBy>Armin Memišević</cp:lastModifiedBy>
  <cp:revision>1</cp:revision>
  <dcterms:created xsi:type="dcterms:W3CDTF">2026-09-16T10:42:41Z</dcterms:created>
  <dcterms:modified xsi:type="dcterms:W3CDTF">2026-09-16T10:42:41Z</dcterms:modified>
</cp:coreProperties>
</file>